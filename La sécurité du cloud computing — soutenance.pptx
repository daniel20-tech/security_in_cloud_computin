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cible : 0:30. Le cloud n'est pas seulement une infrastructure que l'on loue : c'est un ensemble de services pilotés par des interfaces. Ce déplacement a une conséquence directe : le point d'application de la sécurité devient l'API.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cible : 1:00. Le cloud n'est pas seulement une infrastructure : c'est un plan de contrôle logiciel. On agit sur le cloud en appelant des API. Le point d'application de la sécurité se déplace donc du réseau vers l'interface. Cette diapositive annonce le fil rouge.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cible : 0:30. Le module articule trois thèmes. Je les relie par un même mouvement : le contrôle quitte le matériel, devient logiciel, et s'applique finalement à l'API. C'est le plan de l'exposé.</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cible : 1:30. Rappel volontairement court, pour un public qui connaît déjà le cloud. Trois idées : un modèle de service, une responsabilité partagée, un plan de contrôle logiciel. Ce dernier point est la charnière vers l'API.</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cible : 1:00. La virtualisation crée l'isolation et la mutualisation. Mais elle ajoute une couche logicielle : l'hyperviseur, puis le plan de contrôle cloud. La sécurité ne s'arrête plus au serveur ; elle doit suivre la requête jusqu'à l'API.</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cible : 1:40. Quatre familles. Les trois premières sont connues ; la quatrième est le point où elles se rejoignent. Un identifiant volé, un droit excessif ou une mauvaise configuration s'exploitent souvent via une API.</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cible : 1:15. Plus on monte dans les modèles de service, plus le fournisseur exploite l'infrastructure, et plus le périmètre direct du client se réduit. Ce qui reste tient dans trois leviers, et dans l'interface qui les expose.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cible : 1:00. La problématique tient en une question. La méthode combine analyse documentaire, référentiels et OWASP. La suite montre comment les trois leviers se traduisent concrètement.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cible : 1:45. Trois questions, trois échecs. L'ordre n'est pas neutre : identifier, puis décider, puis vérifier l'état réel. Chaque requête traverse les trois.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cible : 1:30. C'est le point central. Un jeton valide prouve l'identité, pas le droit. BOLA exploite l'absence de contrôle de propriété sur l'objet. C'est le risque numéro un de l'OWASP.</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cible : 0:45. Passage au chapitre IV. L'API n'est pas un détail d'implémentation : c'est le point où les trois leviers s'appliquent. C'est aussi le point où les risques se concentrent.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cible : 1:45. La liste paraît longue, mais elle se lit par familles. Un risque d'authentification, trois d'autorisation, six de configuration ou de confiance. Les trois premiers sont les plus critiques.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cible : 2:10. BOLA est simple à comprendre et dévastateur. Le serveur vérifie le jeton, pas la propriété. La parade est côté serveur : comparer l'identité authentifiée à la propriété de l'objet, à chaque accès.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cible : 1:40. Aucune couche ne suffit seule. La gateway filtre, l'identité authentifie, l'autorisation décide, les données se protègent, l'observabilité détecte. Le principe reste le refus par défaut.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cible : 0:55. Trois messages. Le risque se déplace, les leviers restent, et l'API est le point d'application. La formule finale résume la posture : conception, pas défaut.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cible : 0:15. Merci. Les sources principales sont affichées ; le rapport complet contient les 33 références. Passage aux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4.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 name="Fond" descr="bg_title.jpg"/>
          <p:cNvPicPr>
            <a:picLocks noChangeAspect="1"/>
          </p:cNvPicPr>
          <p:nvPr/>
        </p:nvPicPr>
        <p:blipFill>
          <a:blip r:embed="rId2"/>
          <a:stretch>
            <a:fillRect/>
          </a:stretch>
        </p:blipFill>
        <p:spPr>
          <a:xfrm>
            <a:off x="0" y="0"/>
            <a:ext cx="12191695" cy="6858000"/>
          </a:xfrm>
          <a:prstGeom prst="rect">
            <a:avLst/>
          </a:prstGeom>
        </p:spPr>
      </p:pic>
      <p:sp>
        <p:nvSpPr>
          <p:cNvPr id="2" name="Section"/>
          <p:cNvSpPr txBox="1"/>
          <p:nvPr/>
        </p:nvSpPr>
        <p:spPr>
          <a:xfrm>
            <a:off x="640080" y="301752"/>
            <a:ext cx="3657600" cy="256032"/>
          </a:xfrm>
          <a:prstGeom prst="rect">
            <a:avLst/>
          </a:prstGeom>
          <a:noFill/>
        </p:spPr>
        <p:txBody>
          <a:bodyPr wrap="none" anchor="t" lIns="0" rIns="0" tIns="0" bIns="0">
            <a:noAutofit/>
          </a:bodyPr>
          <a:lstStyle/>
          <a:p>
            <a:pPr algn="l">
              <a:lnSpc>
                <a:spcPct val="105000"/>
              </a:lnSpc>
              <a:spcBef>
                <a:spcPts val="0"/>
              </a:spcBef>
              <a:spcAft>
                <a:spcPts val="0"/>
              </a:spcAft>
            </a:pPr>
            <a:r>
              <a:rPr sz="900" b="1" i="0" spc="140" lang="fr-FR">
                <a:solidFill>
                  <a:srgbClr val="C4B5FD"/>
                </a:solidFill>
                <a:latin typeface="Arial"/>
              </a:rPr>
              <a:t>EXPOSÉ · 2026 – 2027</a:t>
            </a:r>
          </a:p>
        </p:txBody>
      </p:sp>
      <p:sp>
        <p:nvSpPr>
          <p:cNvPr id="3" name="Monogramme"/>
          <p:cNvSpPr txBox="1"/>
          <p:nvPr/>
        </p:nvSpPr>
        <p:spPr>
          <a:xfrm>
            <a:off x="10454335" y="301752"/>
            <a:ext cx="1097280" cy="256032"/>
          </a:xfrm>
          <a:prstGeom prst="rect">
            <a:avLst/>
          </a:prstGeom>
          <a:noFill/>
        </p:spPr>
        <p:txBody>
          <a:bodyPr wrap="none" anchor="t" lIns="0" rIns="0" tIns="0" bIns="0">
            <a:noAutofit/>
          </a:bodyPr>
          <a:lstStyle/>
          <a:p>
            <a:pPr algn="r">
              <a:lnSpc>
                <a:spcPct val="105000"/>
              </a:lnSpc>
              <a:spcBef>
                <a:spcPts val="0"/>
              </a:spcBef>
              <a:spcAft>
                <a:spcPts val="0"/>
              </a:spcAft>
            </a:pPr>
            <a:r>
              <a:rPr sz="850" b="1" i="0" spc="120" lang="fr-FR">
                <a:solidFill>
                  <a:srgbClr val="C4B5FD"/>
                </a:solidFill>
                <a:latin typeface="Arial"/>
              </a:rPr>
              <a:t>SC · 2026</a:t>
            </a:r>
          </a:p>
        </p:txBody>
      </p:sp>
      <p:sp>
        <p:nvSpPr>
          <p:cNvPr id="4" name="TextBox 3"/>
          <p:cNvSpPr txBox="1"/>
          <p:nvPr/>
        </p:nvSpPr>
        <p:spPr>
          <a:xfrm>
            <a:off x="822960" y="822960"/>
            <a:ext cx="4572000" cy="274320"/>
          </a:xfrm>
          <a:prstGeom prst="rect">
            <a:avLst/>
          </a:prstGeom>
          <a:noFill/>
        </p:spPr>
        <p:txBody>
          <a:bodyPr wrap="none" anchor="t" lIns="0" rIns="0" tIns="0" bIns="0">
            <a:noAutofit/>
          </a:bodyPr>
          <a:lstStyle/>
          <a:p>
            <a:pPr algn="l">
              <a:lnSpc>
                <a:spcPct val="105000"/>
              </a:lnSpc>
              <a:spcBef>
                <a:spcPts val="0"/>
              </a:spcBef>
              <a:spcAft>
                <a:spcPts val="0"/>
              </a:spcAft>
            </a:pPr>
            <a:r>
              <a:rPr sz="1000" b="1" i="0" spc="160" lang="fr-FR">
                <a:solidFill>
                  <a:srgbClr val="F59E0B"/>
                </a:solidFill>
                <a:latin typeface="Arial"/>
              </a:rPr>
              <a:t>RAPPORT D'ÉTUDE · EXPOSÉ</a:t>
            </a:r>
          </a:p>
        </p:txBody>
      </p:sp>
      <p:sp>
        <p:nvSpPr>
          <p:cNvPr id="5" name="TextBox 4"/>
          <p:cNvSpPr txBox="1"/>
          <p:nvPr/>
        </p:nvSpPr>
        <p:spPr>
          <a:xfrm>
            <a:off x="822960" y="1371600"/>
            <a:ext cx="7680960" cy="2011680"/>
          </a:xfrm>
          <a:prstGeom prst="rect">
            <a:avLst/>
          </a:prstGeom>
          <a:noFill/>
        </p:spPr>
        <p:txBody>
          <a:bodyPr wrap="none" anchor="t" lIns="0" rIns="0" tIns="0" bIns="0">
            <a:noAutofit/>
          </a:bodyPr>
          <a:lstStyle/>
          <a:p>
            <a:pPr algn="l">
              <a:lnSpc>
                <a:spcPct val="92000"/>
              </a:lnSpc>
              <a:spcBef>
                <a:spcPts val="0"/>
              </a:spcBef>
              <a:spcAft>
                <a:spcPts val="0"/>
              </a:spcAft>
            </a:pPr>
            <a:r>
              <a:rPr sz="4800" b="1" i="0" lang="fr-FR">
                <a:solidFill>
                  <a:srgbClr val="FFFFFF"/>
                </a:solidFill>
                <a:latin typeface="Arial"/>
              </a:rPr>
              <a:t>LA SÉCURITÉ</a:t>
            </a:r>
          </a:p>
          <a:p>
            <a:pPr algn="l">
              <a:lnSpc>
                <a:spcPct val="92000"/>
              </a:lnSpc>
              <a:spcBef>
                <a:spcPts val="0"/>
              </a:spcBef>
              <a:spcAft>
                <a:spcPts val="0"/>
              </a:spcAft>
            </a:pPr>
            <a:r>
              <a:rPr sz="4800" b="1" i="0" lang="fr-FR">
                <a:solidFill>
                  <a:srgbClr val="FFFFFF"/>
                </a:solidFill>
                <a:latin typeface="Arial"/>
              </a:rPr>
              <a:t>DU CLOUD COMPUTING</a:t>
            </a:r>
          </a:p>
        </p:txBody>
      </p:sp>
      <p:sp>
        <p:nvSpPr>
          <p:cNvPr id="6" name="Rectangle 5"/>
          <p:cNvSpPr/>
          <p:nvPr/>
        </p:nvSpPr>
        <p:spPr>
          <a:xfrm>
            <a:off x="822960" y="3639312"/>
            <a:ext cx="1280160" cy="5029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3822191"/>
            <a:ext cx="6858000" cy="960120"/>
          </a:xfrm>
          <a:prstGeom prst="rect">
            <a:avLst/>
          </a:prstGeom>
          <a:noFill/>
        </p:spPr>
        <p:txBody>
          <a:bodyPr wrap="none" anchor="t" lIns="0" rIns="0" tIns="0" bIns="0">
            <a:noAutofit/>
          </a:bodyPr>
          <a:lstStyle/>
          <a:p>
            <a:pPr algn="l">
              <a:lnSpc>
                <a:spcPct val="105000"/>
              </a:lnSpc>
              <a:spcBef>
                <a:spcPts val="0"/>
              </a:spcBef>
              <a:spcAft>
                <a:spcPts val="0"/>
              </a:spcAft>
            </a:pPr>
            <a:r>
              <a:rPr sz="2200" b="0" i="0" lang="fr-FR">
                <a:solidFill>
                  <a:srgbClr val="C4B5FD"/>
                </a:solidFill>
                <a:latin typeface="Arial"/>
              </a:rPr>
              <a:t>De la maîtrise des accès</a:t>
            </a:r>
          </a:p>
          <a:p>
            <a:pPr algn="l">
              <a:lnSpc>
                <a:spcPct val="105000"/>
              </a:lnSpc>
              <a:spcBef>
                <a:spcPts val="0"/>
              </a:spcBef>
              <a:spcAft>
                <a:spcPts val="0"/>
              </a:spcAft>
            </a:pPr>
            <a:r>
              <a:rPr sz="2200" b="0" i="0" lang="fr-FR">
                <a:solidFill>
                  <a:srgbClr val="C4B5FD"/>
                </a:solidFill>
                <a:latin typeface="Arial"/>
              </a:rPr>
              <a:t>à la sécurisation des API</a:t>
            </a:r>
          </a:p>
        </p:txBody>
      </p:sp>
      <p:sp>
        <p:nvSpPr>
          <p:cNvPr id="8" name="TextBox 7"/>
          <p:cNvSpPr txBox="1"/>
          <p:nvPr/>
        </p:nvSpPr>
        <p:spPr>
          <a:xfrm>
            <a:off x="822960" y="5074920"/>
            <a:ext cx="5852160" cy="274320"/>
          </a:xfrm>
          <a:prstGeom prst="rect">
            <a:avLst/>
          </a:prstGeom>
          <a:noFill/>
        </p:spPr>
        <p:txBody>
          <a:bodyPr wrap="none" anchor="t" lIns="0" rIns="0" tIns="0" bIns="0">
            <a:noAutofit/>
          </a:bodyPr>
          <a:lstStyle/>
          <a:p>
            <a:pPr algn="l">
              <a:lnSpc>
                <a:spcPct val="105000"/>
              </a:lnSpc>
              <a:spcBef>
                <a:spcPts val="0"/>
              </a:spcBef>
              <a:spcAft>
                <a:spcPts val="0"/>
              </a:spcAft>
            </a:pPr>
            <a:r>
              <a:rPr sz="1300" b="0" i="0" lang="fr-FR">
                <a:solidFill>
                  <a:srgbClr val="FFFFFF"/>
                </a:solidFill>
                <a:latin typeface="Arial"/>
              </a:rPr>
              <a:t>Présenté par : ……………………………………</a:t>
            </a:r>
          </a:p>
        </p:txBody>
      </p:sp>
      <p:sp>
        <p:nvSpPr>
          <p:cNvPr id="9" name="TextBox 8"/>
          <p:cNvSpPr txBox="1"/>
          <p:nvPr/>
        </p:nvSpPr>
        <p:spPr>
          <a:xfrm>
            <a:off x="822960" y="5440680"/>
            <a:ext cx="5852160" cy="274320"/>
          </a:xfrm>
          <a:prstGeom prst="rect">
            <a:avLst/>
          </a:prstGeom>
          <a:noFill/>
        </p:spPr>
        <p:txBody>
          <a:bodyPr wrap="none" anchor="t" lIns="0" rIns="0" tIns="0" bIns="0">
            <a:noAutofit/>
          </a:bodyPr>
          <a:lstStyle/>
          <a:p>
            <a:pPr algn="l">
              <a:lnSpc>
                <a:spcPct val="105000"/>
              </a:lnSpc>
              <a:spcBef>
                <a:spcPts val="0"/>
              </a:spcBef>
              <a:spcAft>
                <a:spcPts val="0"/>
              </a:spcAft>
            </a:pPr>
            <a:r>
              <a:rPr sz="1100" b="0" i="0" lang="fr-FR">
                <a:solidFill>
                  <a:srgbClr val="C4B5FD"/>
                </a:solidFill>
                <a:latin typeface="Arial"/>
              </a:rPr>
              <a:t>Année universitaire 2026 – 2027</a:t>
            </a:r>
          </a:p>
        </p:txBody>
      </p:sp>
      <p:sp>
        <p:nvSpPr>
          <p:cNvPr id="10" name="Oval 9"/>
          <p:cNvSpPr/>
          <p:nvPr/>
        </p:nvSpPr>
        <p:spPr>
          <a:xfrm>
            <a:off x="8183879" y="2377440"/>
            <a:ext cx="1828800" cy="1828800"/>
          </a:xfrm>
          <a:prstGeom prst="ellipse">
            <a:avLst/>
          </a:prstGeom>
          <a:noFill/>
          <a:ln w="11430">
            <a:solidFill>
              <a:srgbClr val="C4B5FD">
                <a:alpha val="7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26679" y="1920240"/>
            <a:ext cx="2743200" cy="2743200"/>
          </a:xfrm>
          <a:prstGeom prst="ellipse">
            <a:avLst/>
          </a:prstGeom>
          <a:noFill/>
          <a:ln w="11430">
            <a:solidFill>
              <a:srgbClr val="C4B5FD">
                <a:alpha val="7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269479" y="1463040"/>
            <a:ext cx="3657600" cy="3657600"/>
          </a:xfrm>
          <a:prstGeom prst="ellipse">
            <a:avLst/>
          </a:prstGeom>
          <a:noFill/>
          <a:ln w="11430">
            <a:solidFill>
              <a:srgbClr val="C4B5FD">
                <a:alpha val="72000"/>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 name="Connector 12"/>
          <p:cNvCxnSpPr/>
          <p:nvPr/>
        </p:nvCxnSpPr>
        <p:spPr>
          <a:xfrm flipH="1" flipV="1">
            <a:off x="7818120" y="2148840"/>
            <a:ext cx="1280160" cy="1143000"/>
          </a:xfrm>
          <a:prstGeom prst="line">
            <a:avLst/>
          </a:prstGeom>
          <a:ln w="10160">
            <a:solidFill>
              <a:srgbClr val="A78BFA"/>
            </a:solidFill>
            <a:prstDash val="dash"/>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7735824" y="2066544"/>
            <a:ext cx="164592" cy="164592"/>
          </a:xfrm>
          <a:prstGeom prst="ellipse">
            <a:avLst/>
          </a:prstGeom>
          <a:solidFill>
            <a:srgbClr val="C4B5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 name="Connector 14"/>
          <p:cNvCxnSpPr/>
          <p:nvPr/>
        </p:nvCxnSpPr>
        <p:spPr>
          <a:xfrm flipV="1">
            <a:off x="9098280" y="2286000"/>
            <a:ext cx="1234440" cy="1005840"/>
          </a:xfrm>
          <a:prstGeom prst="line">
            <a:avLst/>
          </a:prstGeom>
          <a:ln w="10160">
            <a:solidFill>
              <a:srgbClr val="A78BFA"/>
            </a:solidFill>
            <a:prstDash val="dash"/>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10250424" y="2203704"/>
            <a:ext cx="164592" cy="164592"/>
          </a:xfrm>
          <a:prstGeom prst="ellipse">
            <a:avLst/>
          </a:prstGeom>
          <a:solidFill>
            <a:srgbClr val="C4B5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a:off x="9098280" y="3291840"/>
            <a:ext cx="1554480" cy="685799"/>
          </a:xfrm>
          <a:prstGeom prst="line">
            <a:avLst/>
          </a:prstGeom>
          <a:ln w="10160">
            <a:solidFill>
              <a:srgbClr val="A78BFA"/>
            </a:solidFill>
            <a:prstDash val="dash"/>
          </a:ln>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10570464" y="3895344"/>
            <a:ext cx="164592" cy="164592"/>
          </a:xfrm>
          <a:prstGeom prst="ellipse">
            <a:avLst/>
          </a:prstGeom>
          <a:solidFill>
            <a:srgbClr val="C4B5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9" name="Connector 18"/>
          <p:cNvCxnSpPr/>
          <p:nvPr/>
        </p:nvCxnSpPr>
        <p:spPr>
          <a:xfrm flipH="1">
            <a:off x="8549640" y="3291840"/>
            <a:ext cx="548640" cy="1417320"/>
          </a:xfrm>
          <a:prstGeom prst="line">
            <a:avLst/>
          </a:prstGeom>
          <a:ln w="10160">
            <a:solidFill>
              <a:srgbClr val="A78BFA"/>
            </a:solidFill>
            <a:prstDash val="dash"/>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8467344" y="4626864"/>
            <a:ext cx="164592" cy="164592"/>
          </a:xfrm>
          <a:prstGeom prst="ellipse">
            <a:avLst/>
          </a:prstGeom>
          <a:solidFill>
            <a:srgbClr val="C4B5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686800" y="2880360"/>
            <a:ext cx="822960" cy="822960"/>
          </a:xfrm>
          <a:prstGeom prst="ellipse">
            <a:avLst/>
          </a:prstGeom>
          <a:solidFill>
            <a:srgbClr val="F59E0B"/>
          </a:solidFill>
          <a:ln>
            <a:noFill/>
          </a:ln>
          <a:effectLst>
            <a:outerShdw blurRad="177800" dist="38100" dir="5400000" algn="ctr" rotWithShape="0">
              <a:srgbClr val="1B0F33">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36576" rIns="36576" tIns="0" bIns="0">
            <a:noAutofit/>
          </a:bodyPr>
          <a:lstStyle/>
          <a:p>
            <a:pPr algn="ctr">
              <a:lnSpc>
                <a:spcPct val="100000"/>
              </a:lnSpc>
              <a:spcBef>
                <a:spcPts val="0"/>
              </a:spcBef>
              <a:spcAft>
                <a:spcPts val="0"/>
              </a:spcAft>
            </a:pPr>
            <a:r>
              <a:rPr sz="1400" b="1" i="0" lang="fr-FR">
                <a:solidFill>
                  <a:srgbClr val="1B0F33"/>
                </a:solidFill>
                <a:latin typeface="Arial"/>
              </a:rPr>
              <a:t>API</a:t>
            </a:r>
          </a:p>
        </p:txBody>
      </p:sp>
      <p:sp>
        <p:nvSpPr>
          <p:cNvPr id="22" name="Numero"/>
          <p:cNvSpPr txBox="1"/>
          <p:nvPr/>
        </p:nvSpPr>
        <p:spPr>
          <a:xfrm>
            <a:off x="10728655" y="6419088"/>
            <a:ext cx="822960" cy="201168"/>
          </a:xfrm>
          <a:prstGeom prst="rect">
            <a:avLst/>
          </a:prstGeom>
          <a:noFill/>
        </p:spPr>
        <p:txBody>
          <a:bodyPr wrap="none" anchor="t" lIns="0" rIns="0" tIns="0" bIns="0">
            <a:noAutofit/>
          </a:bodyPr>
          <a:lstStyle/>
          <a:p>
            <a:pPr algn="r">
              <a:lnSpc>
                <a:spcPct val="105000"/>
              </a:lnSpc>
              <a:spcBef>
                <a:spcPts val="0"/>
              </a:spcBef>
              <a:spcAft>
                <a:spcPts val="0"/>
              </a:spcAft>
            </a:pPr>
            <a:r>
              <a:rPr sz="850" b="1" i="0" lang="fr-FR">
                <a:solidFill>
                  <a:srgbClr val="6B7280"/>
                </a:solidFill>
                <a:latin typeface="Arial"/>
              </a:rPr>
              <a:t>01 / 16</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 name="Fond" descr="bg_light.jpg"/>
          <p:cNvPicPr>
            <a:picLocks noChangeAspect="1"/>
          </p:cNvPicPr>
          <p:nvPr/>
        </p:nvPicPr>
        <p:blipFill>
          <a:blip r:embed="rId2"/>
          <a:stretch>
            <a:fillRect/>
          </a:stretch>
        </p:blipFill>
        <p:spPr>
          <a:xfrm>
            <a:off x="0" y="0"/>
            <a:ext cx="12191695" cy="6858000"/>
          </a:xfrm>
          <a:prstGeom prst="rect">
            <a:avLst/>
          </a:prstGeom>
        </p:spPr>
      </p:pic>
      <p:sp>
        <p:nvSpPr>
          <p:cNvPr id="2" name="Section"/>
          <p:cNvSpPr txBox="1"/>
          <p:nvPr/>
        </p:nvSpPr>
        <p:spPr>
          <a:xfrm>
            <a:off x="640080" y="301752"/>
            <a:ext cx="3657600" cy="256032"/>
          </a:xfrm>
          <a:prstGeom prst="rect">
            <a:avLst/>
          </a:prstGeom>
          <a:noFill/>
        </p:spPr>
        <p:txBody>
          <a:bodyPr wrap="none" anchor="t" lIns="0" rIns="0" tIns="0" bIns="0">
            <a:noAutofit/>
          </a:bodyPr>
          <a:lstStyle/>
          <a:p>
            <a:pPr algn="l">
              <a:lnSpc>
                <a:spcPct val="105000"/>
              </a:lnSpc>
              <a:spcBef>
                <a:spcPts val="0"/>
              </a:spcBef>
              <a:spcAft>
                <a:spcPts val="0"/>
              </a:spcAft>
            </a:pPr>
            <a:r>
              <a:rPr sz="900" b="1" i="0" spc="140" lang="fr-FR">
                <a:solidFill>
                  <a:srgbClr val="6D28D9"/>
                </a:solidFill>
                <a:latin typeface="Arial"/>
              </a:rPr>
              <a:t>OUVERTURE</a:t>
            </a:r>
          </a:p>
        </p:txBody>
      </p:sp>
      <p:sp>
        <p:nvSpPr>
          <p:cNvPr id="3" name="Monogramme"/>
          <p:cNvSpPr txBox="1"/>
          <p:nvPr/>
        </p:nvSpPr>
        <p:spPr>
          <a:xfrm>
            <a:off x="10454335" y="301752"/>
            <a:ext cx="1097280" cy="256032"/>
          </a:xfrm>
          <a:prstGeom prst="rect">
            <a:avLst/>
          </a:prstGeom>
          <a:noFill/>
        </p:spPr>
        <p:txBody>
          <a:bodyPr wrap="none" anchor="t" lIns="0" rIns="0" tIns="0" bIns="0">
            <a:noAutofit/>
          </a:bodyPr>
          <a:lstStyle/>
          <a:p>
            <a:pPr algn="r">
              <a:lnSpc>
                <a:spcPct val="105000"/>
              </a:lnSpc>
              <a:spcBef>
                <a:spcPts val="0"/>
              </a:spcBef>
              <a:spcAft>
                <a:spcPts val="0"/>
              </a:spcAft>
            </a:pPr>
            <a:r>
              <a:rPr sz="850" b="1" i="0" spc="120" lang="fr-FR">
                <a:solidFill>
                  <a:srgbClr val="7C6F8F"/>
                </a:solidFill>
                <a:latin typeface="Arial"/>
              </a:rPr>
              <a:t>SC · 2026</a:t>
            </a:r>
          </a:p>
        </p:txBody>
      </p:sp>
      <p:sp>
        <p:nvSpPr>
          <p:cNvPr id="4" name="TextBox 3"/>
          <p:cNvSpPr txBox="1"/>
          <p:nvPr/>
        </p:nvSpPr>
        <p:spPr>
          <a:xfrm>
            <a:off x="640080" y="841248"/>
            <a:ext cx="3657600" cy="274320"/>
          </a:xfrm>
          <a:prstGeom prst="rect">
            <a:avLst/>
          </a:prstGeom>
          <a:noFill/>
        </p:spPr>
        <p:txBody>
          <a:bodyPr wrap="none" anchor="t" lIns="0" rIns="0" tIns="0" bIns="0">
            <a:noAutofit/>
          </a:bodyPr>
          <a:lstStyle/>
          <a:p>
            <a:pPr algn="l">
              <a:lnSpc>
                <a:spcPct val="105000"/>
              </a:lnSpc>
              <a:spcBef>
                <a:spcPts val="0"/>
              </a:spcBef>
              <a:spcAft>
                <a:spcPts val="0"/>
              </a:spcAft>
            </a:pPr>
            <a:r>
              <a:rPr sz="1000" b="1" i="0" spc="160" lang="fr-FR">
                <a:solidFill>
                  <a:srgbClr val="B45309"/>
                </a:solidFill>
                <a:latin typeface="Arial"/>
              </a:rPr>
              <a:t>LE CONSTAT</a:t>
            </a:r>
          </a:p>
        </p:txBody>
      </p:sp>
      <p:sp>
        <p:nvSpPr>
          <p:cNvPr id="5" name="TextBox 4"/>
          <p:cNvSpPr txBox="1"/>
          <p:nvPr/>
        </p:nvSpPr>
        <p:spPr>
          <a:xfrm>
            <a:off x="640080" y="1143000"/>
            <a:ext cx="6675120" cy="1783080"/>
          </a:xfrm>
          <a:prstGeom prst="rect">
            <a:avLst/>
          </a:prstGeom>
          <a:noFill/>
        </p:spPr>
        <p:txBody>
          <a:bodyPr wrap="none" anchor="t" lIns="0" rIns="0" tIns="0" bIns="0">
            <a:noAutofit/>
          </a:bodyPr>
          <a:lstStyle/>
          <a:p>
            <a:pPr algn="l">
              <a:lnSpc>
                <a:spcPct val="96000"/>
              </a:lnSpc>
              <a:spcBef>
                <a:spcPts val="0"/>
              </a:spcBef>
              <a:spcAft>
                <a:spcPts val="0"/>
              </a:spcAft>
            </a:pPr>
            <a:r>
              <a:rPr sz="3800" b="1" i="0" lang="fr-FR">
                <a:solidFill>
                  <a:srgbClr val="2E1065"/>
                </a:solidFill>
                <a:latin typeface="Arial"/>
              </a:rPr>
              <a:t>Le cloud a fait de l'API</a:t>
            </a:r>
          </a:p>
          <a:p>
            <a:pPr algn="l">
              <a:lnSpc>
                <a:spcPct val="96000"/>
              </a:lnSpc>
              <a:spcBef>
                <a:spcPts val="0"/>
              </a:spcBef>
              <a:spcAft>
                <a:spcPts val="0"/>
              </a:spcAft>
            </a:pPr>
            <a:r>
              <a:rPr sz="3800" b="1" i="0" lang="fr-FR">
                <a:solidFill>
                  <a:srgbClr val="2E1065"/>
                </a:solidFill>
                <a:latin typeface="Arial"/>
              </a:rPr>
              <a:t>son plan de contrôle.</a:t>
            </a:r>
          </a:p>
        </p:txBody>
      </p:sp>
      <p:sp>
        <p:nvSpPr>
          <p:cNvPr id="6" name="TextBox 5"/>
          <p:cNvSpPr txBox="1"/>
          <p:nvPr/>
        </p:nvSpPr>
        <p:spPr>
          <a:xfrm>
            <a:off x="640080" y="3154680"/>
            <a:ext cx="6309360" cy="868680"/>
          </a:xfrm>
          <a:prstGeom prst="rect">
            <a:avLst/>
          </a:prstGeom>
          <a:noFill/>
        </p:spPr>
        <p:txBody>
          <a:bodyPr wrap="none" anchor="t" lIns="0" rIns="0" tIns="0" bIns="0">
            <a:noAutofit/>
          </a:bodyPr>
          <a:lstStyle/>
          <a:p>
            <a:pPr algn="l">
              <a:lnSpc>
                <a:spcPct val="105000"/>
              </a:lnSpc>
              <a:spcBef>
                <a:spcPts val="0"/>
              </a:spcBef>
              <a:spcAft>
                <a:spcPts val="0"/>
              </a:spcAft>
            </a:pPr>
            <a:r>
              <a:rPr sz="1900" b="0" i="0" lang="fr-FR">
                <a:solidFill>
                  <a:srgbClr val="6B7280"/>
                </a:solidFill>
                <a:latin typeface="Arial"/>
              </a:rPr>
              <a:t>Le périmètre de sécurité n'est plus le réseau : il est</a:t>
            </a:r>
          </a:p>
          <a:p>
            <a:pPr algn="l">
              <a:lnSpc>
                <a:spcPct val="105000"/>
              </a:lnSpc>
              <a:spcBef>
                <a:spcPts val="0"/>
              </a:spcBef>
              <a:spcAft>
                <a:spcPts val="0"/>
              </a:spcAft>
            </a:pPr>
            <a:r>
              <a:rPr sz="1900" b="0" i="0" lang="fr-FR">
                <a:solidFill>
                  <a:srgbClr val="6B7280"/>
                </a:solidFill>
                <a:latin typeface="Arial"/>
              </a:rPr>
              <a:t>logiciel.</a:t>
            </a:r>
          </a:p>
        </p:txBody>
      </p:sp>
      <p:sp>
        <p:nvSpPr>
          <p:cNvPr id="7" name="TextBox 6"/>
          <p:cNvSpPr txBox="1"/>
          <p:nvPr/>
        </p:nvSpPr>
        <p:spPr>
          <a:xfrm>
            <a:off x="640080" y="4846320"/>
            <a:ext cx="6583680" cy="320040"/>
          </a:xfrm>
          <a:prstGeom prst="rect">
            <a:avLst/>
          </a:prstGeom>
          <a:noFill/>
        </p:spPr>
        <p:txBody>
          <a:bodyPr wrap="none" anchor="t" lIns="0" rIns="0" tIns="0" bIns="0">
            <a:noAutofit/>
          </a:bodyPr>
          <a:lstStyle/>
          <a:p>
            <a:pPr algn="l">
              <a:lnSpc>
                <a:spcPct val="105000"/>
              </a:lnSpc>
              <a:spcBef>
                <a:spcPts val="0"/>
              </a:spcBef>
              <a:spcAft>
                <a:spcPts val="0"/>
              </a:spcAft>
            </a:pPr>
            <a:r>
              <a:rPr sz="1250" b="0" i="0" lang="fr-FR">
                <a:solidFill>
                  <a:srgbClr val="6D28D9"/>
                </a:solidFill>
                <a:latin typeface="Arial"/>
              </a:rPr>
              <a:t>Exposée par nature   ·   Automatisable   ·   Porteuse de données</a:t>
            </a:r>
          </a:p>
        </p:txBody>
      </p:sp>
      <p:sp>
        <p:nvSpPr>
          <p:cNvPr id="200" name="CloudHero"/>
          <p:cNvSpPr/>
          <p:nvPr/>
        </p:nvSpPr>
        <p:spPr>
          <a:xfrm>
            <a:off x="8458200" y="1554480"/>
            <a:ext cx="1371600" cy="1005840"/>
          </a:xfrm>
          <a:prstGeom prst="cloud">
            <a:avLst/>
          </a:prstGeom>
          <a:solidFill>
            <a:srgbClr val="EDE9FE"/>
          </a:solidFill>
          <a:ln w="15240">
            <a:solidFill>
              <a:srgbClr val="6D28D9"/>
            </a:solidFill>
          </a:ln>
          <a:effectLst>
            <a:outerShdw blurRad="177800" dist="38100" dir="5400000" algn="ctr" rotWithShape="0">
              <a:srgbClr val="1B0F33">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1" name="Connector 200"/>
          <p:cNvCxnSpPr/>
          <p:nvPr/>
        </p:nvCxnSpPr>
        <p:spPr>
          <a:xfrm>
            <a:off x="9829800" y="2057400"/>
            <a:ext cx="457200" cy="594360"/>
          </a:xfrm>
          <a:prstGeom prst="line">
            <a:avLst/>
          </a:prstGeom>
          <a:ln w="2794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2" name="ApiHook"/>
          <p:cNvSpPr/>
          <p:nvPr/>
        </p:nvSpPr>
        <p:spPr>
          <a:xfrm>
            <a:off x="9235440" y="2651760"/>
            <a:ext cx="2103120" cy="914400"/>
          </a:xfrm>
          <a:prstGeom prst="roundRect">
            <a:avLst>
              <a:gd name="adj" fmla="val 12000"/>
            </a:avLst>
          </a:prstGeom>
          <a:solidFill>
            <a:srgbClr val="F59E0B"/>
          </a:solidFill>
          <a:ln>
            <a:noFill/>
          </a:ln>
          <a:effectLst>
            <a:outerShdw blurRad="177800" dist="38100" dir="5400000" algn="ctr" rotWithShape="0">
              <a:srgbClr val="1B0F33">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36576" rIns="36576" tIns="0" bIns="0">
            <a:noAutofit/>
          </a:bodyPr>
          <a:lstStyle/>
          <a:p>
            <a:pPr algn="ctr">
              <a:lnSpc>
                <a:spcPct val="100000"/>
              </a:lnSpc>
              <a:spcBef>
                <a:spcPts val="0"/>
              </a:spcBef>
              <a:spcAft>
                <a:spcPts val="0"/>
              </a:spcAft>
            </a:pPr>
            <a:r>
              <a:rPr sz="2600" b="1" i="0" lang="fr-FR">
                <a:solidFill>
                  <a:srgbClr val="1B0F33"/>
                </a:solidFill>
                <a:latin typeface="Arial"/>
              </a:rPr>
              <a:t>API</a:t>
            </a:r>
          </a:p>
        </p:txBody>
      </p:sp>
      <p:sp>
        <p:nvSpPr>
          <p:cNvPr id="203" name="Rounded Rectangle 202"/>
          <p:cNvSpPr/>
          <p:nvPr/>
        </p:nvSpPr>
        <p:spPr>
          <a:xfrm>
            <a:off x="9098280" y="3794760"/>
            <a:ext cx="658368" cy="292608"/>
          </a:xfrm>
          <a:prstGeom prst="roundRect">
            <a:avLst>
              <a:gd name="adj" fmla="val 50000"/>
            </a:avLst>
          </a:prstGeom>
          <a:solidFill>
            <a:srgbClr val="FFFFFF"/>
          </a:solidFill>
          <a:ln w="1143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wrap="none" lIns="18288" rIns="18288" tIns="0" bIns="0">
            <a:noAutofit/>
          </a:bodyPr>
          <a:lstStyle/>
          <a:p>
            <a:pPr algn="ctr">
              <a:lnSpc>
                <a:spcPct val="100000"/>
              </a:lnSpc>
              <a:spcBef>
                <a:spcPts val="0"/>
              </a:spcBef>
              <a:spcAft>
                <a:spcPts val="0"/>
              </a:spcAft>
            </a:pPr>
            <a:r>
              <a:rPr sz="800" b="1" i="0" spc="60" lang="fr-FR">
                <a:solidFill>
                  <a:srgbClr val="6D28D9"/>
                </a:solidFill>
                <a:latin typeface="Arial"/>
              </a:rPr>
              <a:t>AUTHN</a:t>
            </a:r>
          </a:p>
        </p:txBody>
      </p:sp>
      <p:sp>
        <p:nvSpPr>
          <p:cNvPr id="204" name="Rounded Rectangle 203"/>
          <p:cNvSpPr/>
          <p:nvPr/>
        </p:nvSpPr>
        <p:spPr>
          <a:xfrm>
            <a:off x="9829800" y="3794760"/>
            <a:ext cx="658368" cy="292608"/>
          </a:xfrm>
          <a:prstGeom prst="roundRect">
            <a:avLst>
              <a:gd name="adj" fmla="val 50000"/>
            </a:avLst>
          </a:prstGeom>
          <a:solidFill>
            <a:srgbClr val="FFFFFF"/>
          </a:solidFill>
          <a:ln w="1143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wrap="none" lIns="18288" rIns="18288" tIns="0" bIns="0">
            <a:noAutofit/>
          </a:bodyPr>
          <a:lstStyle/>
          <a:p>
            <a:pPr algn="ctr">
              <a:lnSpc>
                <a:spcPct val="100000"/>
              </a:lnSpc>
              <a:spcBef>
                <a:spcPts val="0"/>
              </a:spcBef>
              <a:spcAft>
                <a:spcPts val="0"/>
              </a:spcAft>
            </a:pPr>
            <a:r>
              <a:rPr sz="800" b="1" i="0" spc="60" lang="fr-FR">
                <a:solidFill>
                  <a:srgbClr val="6D28D9"/>
                </a:solidFill>
                <a:latin typeface="Arial"/>
              </a:rPr>
              <a:t>AUTHZ</a:t>
            </a:r>
          </a:p>
        </p:txBody>
      </p:sp>
      <p:sp>
        <p:nvSpPr>
          <p:cNvPr id="205" name="Rounded Rectangle 204"/>
          <p:cNvSpPr/>
          <p:nvPr/>
        </p:nvSpPr>
        <p:spPr>
          <a:xfrm>
            <a:off x="10561319" y="3794760"/>
            <a:ext cx="658368" cy="292608"/>
          </a:xfrm>
          <a:prstGeom prst="roundRect">
            <a:avLst>
              <a:gd name="adj" fmla="val 50000"/>
            </a:avLst>
          </a:prstGeom>
          <a:solidFill>
            <a:srgbClr val="FFFFFF"/>
          </a:solidFill>
          <a:ln w="1143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wrap="none" lIns="18288" rIns="18288" tIns="0" bIns="0">
            <a:noAutofit/>
          </a:bodyPr>
          <a:lstStyle/>
          <a:p>
            <a:pPr algn="ctr">
              <a:lnSpc>
                <a:spcPct val="100000"/>
              </a:lnSpc>
              <a:spcBef>
                <a:spcPts val="0"/>
              </a:spcBef>
              <a:spcAft>
                <a:spcPts val="0"/>
              </a:spcAft>
            </a:pPr>
            <a:r>
              <a:rPr sz="800" b="1" i="0" spc="60" lang="fr-FR">
                <a:solidFill>
                  <a:srgbClr val="6D28D9"/>
                </a:solidFill>
                <a:latin typeface="Arial"/>
              </a:rPr>
              <a:t>CFG</a:t>
            </a:r>
          </a:p>
        </p:txBody>
      </p:sp>
      <p:sp>
        <p:nvSpPr>
          <p:cNvPr id="206" name="TextBox 205"/>
          <p:cNvSpPr txBox="1"/>
          <p:nvPr/>
        </p:nvSpPr>
        <p:spPr>
          <a:xfrm>
            <a:off x="8732520" y="4224528"/>
            <a:ext cx="2743200" cy="274320"/>
          </a:xfrm>
          <a:prstGeom prst="rect">
            <a:avLst/>
          </a:prstGeom>
          <a:noFill/>
        </p:spPr>
        <p:txBody>
          <a:bodyPr wrap="none" anchor="t" lIns="0" rIns="0" tIns="0" bIns="0">
            <a:noAutofit/>
          </a:bodyPr>
          <a:lstStyle/>
          <a:p>
            <a:pPr algn="ctr">
              <a:lnSpc>
                <a:spcPct val="105000"/>
              </a:lnSpc>
              <a:spcBef>
                <a:spcPts val="0"/>
              </a:spcBef>
              <a:spcAft>
                <a:spcPts val="0"/>
              </a:spcAft>
            </a:pPr>
            <a:r>
              <a:rPr sz="900" b="0" i="0" lang="fr-FR">
                <a:solidFill>
                  <a:srgbClr val="6B7280"/>
                </a:solidFill>
                <a:latin typeface="Arial"/>
              </a:rPr>
              <a:t>Les trois leviers, au même point.</a:t>
            </a:r>
          </a:p>
        </p:txBody>
      </p:sp>
      <p:sp>
        <p:nvSpPr>
          <p:cNvPr id="207" name="Source"/>
          <p:cNvSpPr txBox="1"/>
          <p:nvPr/>
        </p:nvSpPr>
        <p:spPr>
          <a:xfrm>
            <a:off x="640080" y="6382512"/>
            <a:ext cx="10271455" cy="219456"/>
          </a:xfrm>
          <a:prstGeom prst="rect">
            <a:avLst/>
          </a:prstGeom>
          <a:noFill/>
        </p:spPr>
        <p:txBody>
          <a:bodyPr wrap="none" anchor="t" lIns="0" rIns="0" tIns="0" bIns="0">
            <a:noAutofit/>
          </a:bodyPr>
          <a:lstStyle/>
          <a:p>
            <a:pPr algn="l">
              <a:lnSpc>
                <a:spcPct val="105000"/>
              </a:lnSpc>
              <a:spcBef>
                <a:spcPts val="0"/>
              </a:spcBef>
              <a:spcAft>
                <a:spcPts val="0"/>
              </a:spcAft>
            </a:pPr>
            <a:r>
              <a:rPr sz="850" b="0" i="0" lang="fr-FR">
                <a:solidFill>
                  <a:srgbClr val="5B5563"/>
                </a:solidFill>
                <a:latin typeface="Arial"/>
              </a:rPr>
              <a:t>Synthèse d'après NIST SP 800-145 ; OWASP API Security Top 10 (2023).</a:t>
            </a:r>
          </a:p>
        </p:txBody>
      </p:sp>
      <p:sp>
        <p:nvSpPr>
          <p:cNvPr id="208" name="Numero"/>
          <p:cNvSpPr txBox="1"/>
          <p:nvPr/>
        </p:nvSpPr>
        <p:spPr>
          <a:xfrm>
            <a:off x="10728655" y="6419088"/>
            <a:ext cx="822960" cy="201168"/>
          </a:xfrm>
          <a:prstGeom prst="rect">
            <a:avLst/>
          </a:prstGeom>
          <a:noFill/>
        </p:spPr>
        <p:txBody>
          <a:bodyPr wrap="none" anchor="t" lIns="0" rIns="0" tIns="0" bIns="0">
            <a:noAutofit/>
          </a:bodyPr>
          <a:lstStyle/>
          <a:p>
            <a:pPr algn="r">
              <a:lnSpc>
                <a:spcPct val="105000"/>
              </a:lnSpc>
              <a:spcBef>
                <a:spcPts val="0"/>
              </a:spcBef>
              <a:spcAft>
                <a:spcPts val="0"/>
              </a:spcAft>
            </a:pPr>
            <a:r>
              <a:rPr sz="850" b="1" i="0" lang="fr-FR">
                <a:solidFill>
                  <a:srgbClr val="6B7280"/>
                </a:solidFill>
                <a:latin typeface="Arial"/>
              </a:rPr>
              <a:t>02 / 16</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00" fill="hold">
                      <p:stCondLst>
                        <p:cond delay="indefinite"/>
                      </p:stCondLst>
                      <p:childTnLst>
                        <p:par>
                          <p:cTn id="101" fill="hold">
                            <p:stCondLst>
                              <p:cond delay="0"/>
                            </p:stCondLst>
                            <p:childTnLst>
                              <p:par>
                                <p:cTn id="110" presetID="10" presetClass="entr" presetSubtype="0" fill="hold" nodeType="clickEffect">
                                  <p:stCondLst>
                                    <p:cond delay="0"/>
                                  </p:stCondLst>
                                  <p:childTnLst>
                                    <p:set>
                                      <p:cBhvr>
                                        <p:cTn id="111" dur="1" fill="hold">
                                          <p:stCondLst>
                                            <p:cond delay="0"/>
                                          </p:stCondLst>
                                        </p:cTn>
                                        <p:tgtEl>
                                          <p:spTgt spid="200"/>
                                        </p:tgtEl>
                                        <p:attrNameLst>
                                          <p:attrName>style.visibility</p:attrName>
                                        </p:attrNameLst>
                                      </p:cBhvr>
                                      <p:to>
                                        <p:strVal val="visible"/>
                                      </p:to>
                                    </p:set>
                                    <p:animEffect transition="in" filter="fade">
                                      <p:cBhvr>
                                        <p:cTn id="112" dur="500"/>
                                        <p:tgtEl>
                                          <p:spTgt spid="200"/>
                                        </p:tgtEl>
                                      </p:cBhvr>
                                    </p:animEffect>
                                  </p:childTnLst>
                                </p:cTn>
                              </p:par>
                            </p:childTnLst>
                          </p:cTn>
                        </p:par>
                      </p:childTnLst>
                    </p:cTn>
                  </p:par>
                  <p:par>
                    <p:cTn id="115" fill="hold">
                      <p:stCondLst>
                        <p:cond delay="indefinite"/>
                      </p:stCondLst>
                      <p:childTnLst>
                        <p:par>
                          <p:cTn id="116" fill="hold">
                            <p:stCondLst>
                              <p:cond delay="0"/>
                            </p:stCondLst>
                            <p:childTnLst>
                              <p:par>
                                <p:cTn id="125" presetID="22" presetClass="entr" presetSubtype="4" fill="hold" nodeType="clickEffect">
                                  <p:stCondLst>
                                    <p:cond delay="0"/>
                                  </p:stCondLst>
                                  <p:childTnLst>
                                    <p:set>
                                      <p:cBhvr>
                                        <p:cTn id="126" dur="1" fill="hold">
                                          <p:stCondLst>
                                            <p:cond delay="0"/>
                                          </p:stCondLst>
                                        </p:cTn>
                                        <p:tgtEl>
                                          <p:spTgt spid="201"/>
                                        </p:tgtEl>
                                        <p:attrNameLst>
                                          <p:attrName>style.visibility</p:attrName>
                                        </p:attrNameLst>
                                      </p:cBhvr>
                                      <p:to>
                                        <p:strVal val="visible"/>
                                      </p:to>
                                    </p:set>
                                    <p:animEffect transition="in" filter="wipe(right)">
                                      <p:cBhvr>
                                        <p:cTn id="127" dur="400"/>
                                        <p:tgtEl>
                                          <p:spTgt spid="201"/>
                                        </p:tgtEl>
                                      </p:cBhvr>
                                    </p:animEffect>
                                  </p:childTnLst>
                                </p:cTn>
                              </p:par>
                            </p:childTnLst>
                          </p:cTn>
                        </p:par>
                      </p:childTnLst>
                    </p:cTn>
                  </p:par>
                  <p:par>
                    <p:cTn id="130" fill="hold">
                      <p:stCondLst>
                        <p:cond delay="indefinite"/>
                      </p:stCondLst>
                      <p:childTnLst>
                        <p:par>
                          <p:cTn id="131" fill="hold">
                            <p:stCondLst>
                              <p:cond delay="0"/>
                            </p:stCondLst>
                            <p:childTnLst>
                              <p:par>
                                <p:cTn id="140" presetID="23" presetClass="entr" presetSubtype="0" fill="hold" nodeType="clickEffect">
                                  <p:stCondLst>
                                    <p:cond delay="0"/>
                                  </p:stCondLst>
                                  <p:childTnLst>
                                    <p:set>
                                      <p:cBhvr>
                                        <p:cTn id="141" dur="1" fill="hold">
                                          <p:stCondLst>
                                            <p:cond delay="0"/>
                                          </p:stCondLst>
                                        </p:cTn>
                                        <p:tgtEl>
                                          <p:spTgt spid="202"/>
                                        </p:tgtEl>
                                        <p:attrNameLst>
                                          <p:attrName>style.visibility</p:attrName>
                                        </p:attrNameLst>
                                      </p:cBhvr>
                                      <p:to>
                                        <p:strVal val="visible"/>
                                      </p:to>
                                    </p:set>
                                    <p:animEffect transition="in" filter="zoom">
                                      <p:cBhvr>
                                        <p:cTn id="142" dur="600"/>
                                        <p:tgtEl>
                                          <p:spTgt spid="202"/>
                                        </p:tgtEl>
                                      </p:cBhvr>
                                    </p:animEffect>
                                  </p:childTnLst>
                                </p:cTn>
                              </p:par>
                            </p:childTnLst>
                          </p:cTn>
                        </p:par>
                      </p:childTnLst>
                    </p:cTn>
                  </p:par>
                  <p:par>
                    <p:cTn id="145" fill="hold">
                      <p:stCondLst>
                        <p:cond delay="indefinite"/>
                      </p:stCondLst>
                      <p:childTnLst>
                        <p:par>
                          <p:cTn id="146" fill="hold">
                            <p:stCondLst>
                              <p:cond delay="0"/>
                            </p:stCondLst>
                            <p:childTnLst>
                              <p:par>
                                <p:cTn id="155" presetID="10" presetClass="entr" presetSubtype="0" fill="hold" nodeType="clickEffect">
                                  <p:stCondLst>
                                    <p:cond delay="0"/>
                                  </p:stCondLst>
                                  <p:childTnLst>
                                    <p:set>
                                      <p:cBhvr>
                                        <p:cTn id="156" dur="1" fill="hold">
                                          <p:stCondLst>
                                            <p:cond delay="0"/>
                                          </p:stCondLst>
                                        </p:cTn>
                                        <p:tgtEl>
                                          <p:spTgt spid="203"/>
                                        </p:tgtEl>
                                        <p:attrNameLst>
                                          <p:attrName>style.visibility</p:attrName>
                                        </p:attrNameLst>
                                      </p:cBhvr>
                                      <p:to>
                                        <p:strVal val="visible"/>
                                      </p:to>
                                    </p:set>
                                    <p:animEffect transition="in" filter="fade">
                                      <p:cBhvr>
                                        <p:cTn id="157" dur="400"/>
                                        <p:tgtEl>
                                          <p:spTgt spid="203"/>
                                        </p:tgtEl>
                                      </p:cBhvr>
                                    </p:animEffect>
                                  </p:childTnLst>
                                </p:cTn>
                              </p:par>
                              <p:par>
                                <p:cTn id="160" presetID="10" presetClass="entr" presetSubtype="0" fill="hold" nodeType="clickEffect">
                                  <p:stCondLst>
                                    <p:cond delay="100"/>
                                  </p:stCondLst>
                                  <p:childTnLst>
                                    <p:set>
                                      <p:cBhvr>
                                        <p:cTn id="161" dur="1" fill="hold">
                                          <p:stCondLst>
                                            <p:cond delay="0"/>
                                          </p:stCondLst>
                                        </p:cTn>
                                        <p:tgtEl>
                                          <p:spTgt spid="204"/>
                                        </p:tgtEl>
                                        <p:attrNameLst>
                                          <p:attrName>style.visibility</p:attrName>
                                        </p:attrNameLst>
                                      </p:cBhvr>
                                      <p:to>
                                        <p:strVal val="visible"/>
                                      </p:to>
                                    </p:set>
                                    <p:animEffect transition="in" filter="fade">
                                      <p:cBhvr>
                                        <p:cTn id="162" dur="400"/>
                                        <p:tgtEl>
                                          <p:spTgt spid="204"/>
                                        </p:tgtEl>
                                      </p:cBhvr>
                                    </p:animEffect>
                                  </p:childTnLst>
                                </p:cTn>
                              </p:par>
                              <p:par>
                                <p:cTn id="165" presetID="10" presetClass="entr" presetSubtype="0" fill="hold" nodeType="clickEffect">
                                  <p:stCondLst>
                                    <p:cond delay="200"/>
                                  </p:stCondLst>
                                  <p:childTnLst>
                                    <p:set>
                                      <p:cBhvr>
                                        <p:cTn id="166" dur="1" fill="hold">
                                          <p:stCondLst>
                                            <p:cond delay="0"/>
                                          </p:stCondLst>
                                        </p:cTn>
                                        <p:tgtEl>
                                          <p:spTgt spid="205"/>
                                        </p:tgtEl>
                                        <p:attrNameLst>
                                          <p:attrName>style.visibility</p:attrName>
                                        </p:attrNameLst>
                                      </p:cBhvr>
                                      <p:to>
                                        <p:strVal val="visible"/>
                                      </p:to>
                                    </p:set>
                                    <p:animEffect transition="in" filter="fade">
                                      <p:cBhvr>
                                        <p:cTn id="167" dur="400"/>
                                        <p:tgtEl>
                                          <p:spTgt spid="2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xmlns:ns0="http://schemas.openxmlformats.org/markup-compatibility/2006" xmlns:p14="http://schemas.microsoft.com/office/powerpoint/2010/main" ns0:Ignorable="p14">
  <p:cSld>
    <p:spTree>
      <p:nvGrpSpPr>
        <p:cNvPr id="1" name=""/>
        <p:cNvGrpSpPr/>
        <p:nvPr/>
      </p:nvGrpSpPr>
      <p:grpSpPr/>
      <p:pic>
        <p:nvPicPr>
          <p:cNvPr id="1" name="Fond" descr="bg_light.jpg"/>
          <p:cNvPicPr>
            <a:picLocks noChangeAspect="1"/>
          </p:cNvPicPr>
          <p:nvPr/>
        </p:nvPicPr>
        <p:blipFill>
          <a:blip r:embed="rId2"/>
          <a:stretch>
            <a:fillRect/>
          </a:stretch>
        </p:blipFill>
        <p:spPr>
          <a:xfrm>
            <a:off x="0" y="0"/>
            <a:ext cx="12191695" cy="6858000"/>
          </a:xfrm>
          <a:prstGeom prst="rect">
            <a:avLst/>
          </a:prstGeom>
        </p:spPr>
      </p:pic>
      <p:sp>
        <p:nvSpPr>
          <p:cNvPr id="2" name="Section"/>
          <p:cNvSpPr txBox="1"/>
          <p:nvPr/>
        </p:nvSpPr>
        <p:spPr>
          <a:xfrm>
            <a:off x="640080" y="301752"/>
            <a:ext cx="3657600" cy="256032"/>
          </a:xfrm>
          <a:prstGeom prst="rect">
            <a:avLst/>
          </a:prstGeom>
          <a:noFill/>
        </p:spPr>
        <p:txBody>
          <a:bodyPr wrap="none" anchor="t" lIns="0" rIns="0" tIns="0" bIns="0">
            <a:noAutofit/>
          </a:bodyPr>
          <a:lstStyle/>
          <a:p>
            <a:pPr algn="l">
              <a:lnSpc>
                <a:spcPct val="105000"/>
              </a:lnSpc>
              <a:spcBef>
                <a:spcPts val="0"/>
              </a:spcBef>
              <a:spcAft>
                <a:spcPts val="0"/>
              </a:spcAft>
            </a:pPr>
            <a:r>
              <a:rPr sz="900" b="1" i="0" spc="140" lang="fr-FR">
                <a:solidFill>
                  <a:srgbClr val="6D28D9"/>
                </a:solidFill>
                <a:latin typeface="Arial"/>
              </a:rPr>
              <a:t>PLAN</a:t>
            </a:r>
          </a:p>
        </p:txBody>
      </p:sp>
      <p:sp>
        <p:nvSpPr>
          <p:cNvPr id="3" name="Monogramme"/>
          <p:cNvSpPr txBox="1"/>
          <p:nvPr/>
        </p:nvSpPr>
        <p:spPr>
          <a:xfrm>
            <a:off x="10454335" y="301752"/>
            <a:ext cx="1097280" cy="256032"/>
          </a:xfrm>
          <a:prstGeom prst="rect">
            <a:avLst/>
          </a:prstGeom>
          <a:noFill/>
        </p:spPr>
        <p:txBody>
          <a:bodyPr wrap="none" anchor="t" lIns="0" rIns="0" tIns="0" bIns="0">
            <a:noAutofit/>
          </a:bodyPr>
          <a:lstStyle/>
          <a:p>
            <a:pPr algn="r">
              <a:lnSpc>
                <a:spcPct val="105000"/>
              </a:lnSpc>
              <a:spcBef>
                <a:spcPts val="0"/>
              </a:spcBef>
              <a:spcAft>
                <a:spcPts val="0"/>
              </a:spcAft>
            </a:pPr>
            <a:r>
              <a:rPr sz="850" b="1" i="0" spc="120" lang="fr-FR">
                <a:solidFill>
                  <a:srgbClr val="7C6F8F"/>
                </a:solidFill>
                <a:latin typeface="Arial"/>
              </a:rPr>
              <a:t>SC · 2026</a:t>
            </a:r>
          </a:p>
        </p:txBody>
      </p:sp>
      <p:sp>
        <p:nvSpPr>
          <p:cNvPr id="4" name="AccentTitre"/>
          <p:cNvSpPr/>
          <p:nvPr/>
        </p:nvSpPr>
        <p:spPr>
          <a:xfrm>
            <a:off x="640080" y="877824"/>
            <a:ext cx="50292" cy="45720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itre"/>
          <p:cNvSpPr txBox="1"/>
          <p:nvPr/>
        </p:nvSpPr>
        <p:spPr>
          <a:xfrm>
            <a:off x="841247" y="822960"/>
            <a:ext cx="10710367" cy="914400"/>
          </a:xfrm>
          <a:prstGeom prst="rect">
            <a:avLst/>
          </a:prstGeom>
          <a:noFill/>
        </p:spPr>
        <p:txBody>
          <a:bodyPr wrap="none" anchor="t" lIns="0" rIns="0" tIns="0" bIns="0">
            <a:noAutofit/>
          </a:bodyPr>
          <a:lstStyle/>
          <a:p>
            <a:pPr algn="l">
              <a:lnSpc>
                <a:spcPct val="98000"/>
              </a:lnSpc>
              <a:spcBef>
                <a:spcPts val="0"/>
              </a:spcBef>
              <a:spcAft>
                <a:spcPts val="0"/>
              </a:spcAft>
            </a:pPr>
            <a:r>
              <a:rPr sz="3000" b="1" i="0" lang="fr-FR">
                <a:solidFill>
                  <a:srgbClr val="2E1065"/>
                </a:solidFill>
                <a:latin typeface="Arial"/>
              </a:rPr>
              <a:t>Trois thèmes, un même déplacement</a:t>
            </a:r>
          </a:p>
        </p:txBody>
      </p:sp>
      <p:sp>
        <p:nvSpPr>
          <p:cNvPr id="6" name="TextBox 5"/>
          <p:cNvSpPr txBox="1"/>
          <p:nvPr/>
        </p:nvSpPr>
        <p:spPr>
          <a:xfrm>
            <a:off x="640080" y="1417320"/>
            <a:ext cx="7315200" cy="320040"/>
          </a:xfrm>
          <a:prstGeom prst="rect">
            <a:avLst/>
          </a:prstGeom>
          <a:noFill/>
        </p:spPr>
        <p:txBody>
          <a:bodyPr wrap="none" anchor="t" lIns="0" rIns="0" tIns="0" bIns="0">
            <a:noAutofit/>
          </a:bodyPr>
          <a:lstStyle/>
          <a:p>
            <a:pPr algn="l">
              <a:lnSpc>
                <a:spcPct val="105000"/>
              </a:lnSpc>
              <a:spcBef>
                <a:spcPts val="0"/>
              </a:spcBef>
              <a:spcAft>
                <a:spcPts val="0"/>
              </a:spcAft>
            </a:pPr>
            <a:r>
              <a:rPr sz="1500" b="0" i="0" lang="fr-FR">
                <a:solidFill>
                  <a:srgbClr val="6B7280"/>
                </a:solidFill>
                <a:latin typeface="Arial"/>
              </a:rPr>
              <a:t>Du cloud à l'API : suivre le déplacement du risque.</a:t>
            </a:r>
          </a:p>
        </p:txBody>
      </p:sp>
      <p:sp>
        <p:nvSpPr>
          <p:cNvPr id="7" name="Carte1"/>
          <p:cNvSpPr/>
          <p:nvPr/>
        </p:nvSpPr>
        <p:spPr>
          <a:xfrm>
            <a:off x="640080" y="2148840"/>
            <a:ext cx="2514600" cy="3017520"/>
          </a:xfrm>
          <a:prstGeom prst="roundRect">
            <a:avLst>
              <a:gd name="adj" fmla="val 6000"/>
            </a:avLst>
          </a:prstGeom>
          <a:solidFill>
            <a:srgbClr val="FFFFFF"/>
          </a:solidFill>
          <a:ln w="12700">
            <a:solidFill>
              <a:srgbClr val="C4B5FD"/>
            </a:solidFill>
          </a:ln>
          <a:effectLst>
            <a:outerShdw blurRad="177800" dist="38100" dir="5400000" algn="ctr" rotWithShape="0">
              <a:srgbClr val="1B0F33">
                <a:alpha val="18000"/>
              </a:srgbClr>
            </a:outerShdw>
          </a:effectLst>
        </p:spPr>
        <p:style>
          <a:lnRef idx="1">
            <a:schemeClr val="accent1"/>
          </a:lnRef>
          <a:fillRef idx="3">
            <a:schemeClr val="accent1"/>
          </a:fillRef>
          <a:effectRef idx="2">
            <a:schemeClr val="accent1"/>
          </a:effectRef>
          <a:fontRef idx="minor">
            <a:schemeClr val="lt1"/>
          </a:fontRef>
        </p:style>
        <p:txBody>
          <a:bodyPr rtlCol="0" anchor="t" wrap="none" lIns="182880" rIns="182880" tIns="146304" bIns="146304">
            <a:noAutofit/>
          </a:bodyPr>
          <a:lstStyle/>
          <a:p>
            <a:pPr>
              <a:lnSpc>
                <a:spcPct val="106000"/>
              </a:lnSpc>
              <a:spcBef>
                <a:spcPts val="0"/>
              </a:spcBef>
              <a:spcAft>
                <a:spcPts val="600"/>
              </a:spcAft>
            </a:pPr>
            <a:r>
              <a:rPr sz="1100" b="1" i="0" spc="120" lang="fr-FR">
                <a:solidFill>
                  <a:srgbClr val="A78BFA"/>
                </a:solidFill>
                <a:latin typeface="Arial"/>
              </a:rPr>
              <a:t>01</a:t>
            </a:r>
          </a:p>
          <a:p>
            <a:pPr>
              <a:lnSpc>
                <a:spcPct val="106000"/>
              </a:lnSpc>
              <a:spcBef>
                <a:spcPts val="0"/>
              </a:spcBef>
              <a:spcAft>
                <a:spcPts val="200"/>
              </a:spcAft>
            </a:pPr>
            <a:r>
              <a:rPr sz="2200" b="1" i="0" lang="fr-FR">
                <a:solidFill>
                  <a:srgbClr val="2E1065"/>
                </a:solidFill>
                <a:latin typeface="Arial"/>
              </a:rPr>
              <a:t>Cloud</a:t>
            </a:r>
          </a:p>
          <a:p>
            <a:pPr>
              <a:lnSpc>
                <a:spcPct val="106000"/>
              </a:lnSpc>
              <a:spcBef>
                <a:spcPts val="0"/>
              </a:spcBef>
              <a:spcAft>
                <a:spcPts val="800"/>
              </a:spcAft>
            </a:pPr>
            <a:r>
              <a:rPr sz="1300" b="1" i="0" lang="fr-FR">
                <a:solidFill>
                  <a:srgbClr val="6D28D9"/>
                </a:solidFill>
                <a:latin typeface="Arial"/>
              </a:rPr>
              <a:t>Le terrain</a:t>
            </a:r>
          </a:p>
          <a:p>
            <a:pPr>
              <a:lnSpc>
                <a:spcPct val="106000"/>
              </a:lnSpc>
              <a:spcBef>
                <a:spcPts val="0"/>
              </a:spcBef>
              <a:spcAft>
                <a:spcPts val="0"/>
              </a:spcAft>
            </a:pPr>
            <a:r>
              <a:rPr sz="1150" b="0" i="0" lang="fr-FR">
                <a:solidFill>
                  <a:srgbClr val="6B7280"/>
                </a:solidFill>
                <a:latin typeface="Arial"/>
              </a:rPr>
              <a:t>Un modèle de service et de</a:t>
            </a:r>
          </a:p>
          <a:p>
            <a:pPr>
              <a:lnSpc>
                <a:spcPct val="106000"/>
              </a:lnSpc>
              <a:spcBef>
                <a:spcPts val="0"/>
              </a:spcBef>
              <a:spcAft>
                <a:spcPts val="0"/>
              </a:spcAft>
            </a:pPr>
            <a:r>
              <a:rPr sz="1150" b="0" i="0" lang="fr-FR">
                <a:solidFill>
                  <a:srgbClr val="6B7280"/>
                </a:solidFill>
                <a:latin typeface="Arial"/>
              </a:rPr>
              <a:t>responsabilité.</a:t>
            </a:r>
          </a:p>
        </p:txBody>
      </p:sp>
      <p:sp>
        <p:nvSpPr>
          <p:cNvPr id="200" name="CloudHero"/>
          <p:cNvSpPr/>
          <p:nvPr/>
        </p:nvSpPr>
        <p:spPr>
          <a:xfrm>
            <a:off x="2395728" y="2331720"/>
            <a:ext cx="640080" cy="457200"/>
          </a:xfrm>
          <a:prstGeom prst="cloud">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 name="Carte2"/>
          <p:cNvSpPr/>
          <p:nvPr/>
        </p:nvSpPr>
        <p:spPr>
          <a:xfrm>
            <a:off x="3429000" y="2148840"/>
            <a:ext cx="2514600" cy="3017520"/>
          </a:xfrm>
          <a:prstGeom prst="roundRect">
            <a:avLst>
              <a:gd name="adj" fmla="val 6000"/>
            </a:avLst>
          </a:prstGeom>
          <a:solidFill>
            <a:srgbClr val="FFFFFF"/>
          </a:solidFill>
          <a:ln w="12700">
            <a:solidFill>
              <a:srgbClr val="C4B5FD"/>
            </a:solidFill>
          </a:ln>
          <a:effectLst>
            <a:outerShdw blurRad="177800" dist="38100" dir="5400000" algn="ctr" rotWithShape="0">
              <a:srgbClr val="1B0F33">
                <a:alpha val="18000"/>
              </a:srgbClr>
            </a:outerShdw>
          </a:effectLst>
        </p:spPr>
        <p:style>
          <a:lnRef idx="1">
            <a:schemeClr val="accent1"/>
          </a:lnRef>
          <a:fillRef idx="3">
            <a:schemeClr val="accent1"/>
          </a:fillRef>
          <a:effectRef idx="2">
            <a:schemeClr val="accent1"/>
          </a:effectRef>
          <a:fontRef idx="minor">
            <a:schemeClr val="lt1"/>
          </a:fontRef>
        </p:style>
        <p:txBody>
          <a:bodyPr rtlCol="0" anchor="t" wrap="none" lIns="182880" rIns="182880" tIns="146304" bIns="146304">
            <a:noAutofit/>
          </a:bodyPr>
          <a:lstStyle/>
          <a:p>
            <a:pPr>
              <a:lnSpc>
                <a:spcPct val="106000"/>
              </a:lnSpc>
              <a:spcBef>
                <a:spcPts val="0"/>
              </a:spcBef>
              <a:spcAft>
                <a:spcPts val="600"/>
              </a:spcAft>
            </a:pPr>
            <a:r>
              <a:rPr sz="1100" b="1" i="0" spc="120" lang="fr-FR">
                <a:solidFill>
                  <a:srgbClr val="A78BFA"/>
                </a:solidFill>
                <a:latin typeface="Arial"/>
              </a:rPr>
              <a:t>02</a:t>
            </a:r>
          </a:p>
          <a:p>
            <a:pPr>
              <a:lnSpc>
                <a:spcPct val="106000"/>
              </a:lnSpc>
              <a:spcBef>
                <a:spcPts val="0"/>
              </a:spcBef>
              <a:spcAft>
                <a:spcPts val="200"/>
              </a:spcAft>
            </a:pPr>
            <a:r>
              <a:rPr sz="2200" b="1" i="0" lang="fr-FR">
                <a:solidFill>
                  <a:srgbClr val="2E1065"/>
                </a:solidFill>
                <a:latin typeface="Arial"/>
              </a:rPr>
              <a:t>Virtualisation</a:t>
            </a:r>
          </a:p>
          <a:p>
            <a:pPr>
              <a:lnSpc>
                <a:spcPct val="106000"/>
              </a:lnSpc>
              <a:spcBef>
                <a:spcPts val="0"/>
              </a:spcBef>
              <a:spcAft>
                <a:spcPts val="800"/>
              </a:spcAft>
            </a:pPr>
            <a:r>
              <a:rPr sz="1300" b="1" i="0" lang="fr-FR">
                <a:solidFill>
                  <a:srgbClr val="6D28D9"/>
                </a:solidFill>
                <a:latin typeface="Arial"/>
              </a:rPr>
              <a:t>Le mécanisme</a:t>
            </a:r>
          </a:p>
          <a:p>
            <a:pPr>
              <a:lnSpc>
                <a:spcPct val="106000"/>
              </a:lnSpc>
              <a:spcBef>
                <a:spcPts val="0"/>
              </a:spcBef>
              <a:spcAft>
                <a:spcPts val="0"/>
              </a:spcAft>
            </a:pPr>
            <a:r>
              <a:rPr sz="1150" b="0" i="0" lang="fr-FR">
                <a:solidFill>
                  <a:srgbClr val="6B7280"/>
                </a:solidFill>
                <a:latin typeface="Arial"/>
              </a:rPr>
              <a:t>Le contrôle devient logiciel.</a:t>
            </a:r>
          </a:p>
        </p:txBody>
      </p:sp>
      <p:sp>
        <p:nvSpPr>
          <p:cNvPr id="202" name="Carte3"/>
          <p:cNvSpPr/>
          <p:nvPr/>
        </p:nvSpPr>
        <p:spPr>
          <a:xfrm>
            <a:off x="6217920" y="2148840"/>
            <a:ext cx="2514600" cy="3017520"/>
          </a:xfrm>
          <a:prstGeom prst="roundRect">
            <a:avLst>
              <a:gd name="adj" fmla="val 6000"/>
            </a:avLst>
          </a:prstGeom>
          <a:solidFill>
            <a:srgbClr val="FFFFFF"/>
          </a:solidFill>
          <a:ln w="12700">
            <a:solidFill>
              <a:srgbClr val="C4B5FD"/>
            </a:solidFill>
          </a:ln>
          <a:effectLst>
            <a:outerShdw blurRad="177800" dist="38100" dir="5400000" algn="ctr" rotWithShape="0">
              <a:srgbClr val="1B0F33">
                <a:alpha val="18000"/>
              </a:srgbClr>
            </a:outerShdw>
          </a:effectLst>
        </p:spPr>
        <p:style>
          <a:lnRef idx="1">
            <a:schemeClr val="accent1"/>
          </a:lnRef>
          <a:fillRef idx="3">
            <a:schemeClr val="accent1"/>
          </a:fillRef>
          <a:effectRef idx="2">
            <a:schemeClr val="accent1"/>
          </a:effectRef>
          <a:fontRef idx="minor">
            <a:schemeClr val="lt1"/>
          </a:fontRef>
        </p:style>
        <p:txBody>
          <a:bodyPr rtlCol="0" anchor="t" wrap="none" lIns="182880" rIns="182880" tIns="146304" bIns="146304">
            <a:noAutofit/>
          </a:bodyPr>
          <a:lstStyle/>
          <a:p>
            <a:pPr>
              <a:lnSpc>
                <a:spcPct val="106000"/>
              </a:lnSpc>
              <a:spcBef>
                <a:spcPts val="0"/>
              </a:spcBef>
              <a:spcAft>
                <a:spcPts val="600"/>
              </a:spcAft>
            </a:pPr>
            <a:r>
              <a:rPr sz="1100" b="1" i="0" spc="120" lang="fr-FR">
                <a:solidFill>
                  <a:srgbClr val="A78BFA"/>
                </a:solidFill>
                <a:latin typeface="Arial"/>
              </a:rPr>
              <a:t>03</a:t>
            </a:r>
          </a:p>
          <a:p>
            <a:pPr>
              <a:lnSpc>
                <a:spcPct val="106000"/>
              </a:lnSpc>
              <a:spcBef>
                <a:spcPts val="0"/>
              </a:spcBef>
              <a:spcAft>
                <a:spcPts val="200"/>
              </a:spcAft>
            </a:pPr>
            <a:r>
              <a:rPr sz="2200" b="1" i="0" lang="fr-FR">
                <a:solidFill>
                  <a:srgbClr val="2E1065"/>
                </a:solidFill>
                <a:latin typeface="Arial"/>
              </a:rPr>
              <a:t>Sécurité</a:t>
            </a:r>
          </a:p>
          <a:p>
            <a:pPr>
              <a:lnSpc>
                <a:spcPct val="106000"/>
              </a:lnSpc>
              <a:spcBef>
                <a:spcPts val="0"/>
              </a:spcBef>
              <a:spcAft>
                <a:spcPts val="800"/>
              </a:spcAft>
            </a:pPr>
            <a:r>
              <a:rPr sz="1300" b="1" i="0" lang="fr-FR">
                <a:solidFill>
                  <a:srgbClr val="6D28D9"/>
                </a:solidFill>
                <a:latin typeface="Arial"/>
              </a:rPr>
              <a:t>L'objectif</a:t>
            </a:r>
          </a:p>
          <a:p>
            <a:pPr>
              <a:lnSpc>
                <a:spcPct val="106000"/>
              </a:lnSpc>
              <a:spcBef>
                <a:spcPts val="0"/>
              </a:spcBef>
              <a:spcAft>
                <a:spcPts val="0"/>
              </a:spcAft>
            </a:pPr>
            <a:r>
              <a:rPr sz="1150" b="0" i="0" lang="fr-FR">
                <a:solidFill>
                  <a:srgbClr val="6B7280"/>
                </a:solidFill>
                <a:latin typeface="Arial"/>
              </a:rPr>
              <a:t>Identité, droits, configuration.</a:t>
            </a:r>
          </a:p>
        </p:txBody>
      </p:sp>
      <p:sp>
        <p:nvSpPr>
          <p:cNvPr id="203" name="Carte4"/>
          <p:cNvSpPr/>
          <p:nvPr/>
        </p:nvSpPr>
        <p:spPr>
          <a:xfrm>
            <a:off x="9006840" y="2148840"/>
            <a:ext cx="2514600" cy="3017520"/>
          </a:xfrm>
          <a:prstGeom prst="roundRect">
            <a:avLst>
              <a:gd name="adj" fmla="val 6000"/>
            </a:avLst>
          </a:prstGeom>
          <a:solidFill>
            <a:srgbClr val="2E1065"/>
          </a:solidFill>
          <a:ln w="12700">
            <a:solidFill>
              <a:srgbClr val="F59E0B"/>
            </a:solidFill>
          </a:ln>
          <a:effectLst>
            <a:outerShdw blurRad="177800" dist="38100" dir="5400000" algn="ctr" rotWithShape="0">
              <a:srgbClr val="1B0F33">
                <a:alpha val="18000"/>
              </a:srgbClr>
            </a:outerShdw>
          </a:effectLst>
        </p:spPr>
        <p:style>
          <a:lnRef idx="1">
            <a:schemeClr val="accent1"/>
          </a:lnRef>
          <a:fillRef idx="3">
            <a:schemeClr val="accent1"/>
          </a:fillRef>
          <a:effectRef idx="2">
            <a:schemeClr val="accent1"/>
          </a:effectRef>
          <a:fontRef idx="minor">
            <a:schemeClr val="lt1"/>
          </a:fontRef>
        </p:style>
        <p:txBody>
          <a:bodyPr rtlCol="0" anchor="t" wrap="none" lIns="182880" rIns="182880" tIns="146304" bIns="146304">
            <a:noAutofit/>
          </a:bodyPr>
          <a:lstStyle/>
          <a:p>
            <a:pPr>
              <a:lnSpc>
                <a:spcPct val="106000"/>
              </a:lnSpc>
              <a:spcBef>
                <a:spcPts val="0"/>
              </a:spcBef>
              <a:spcAft>
                <a:spcPts val="600"/>
              </a:spcAft>
            </a:pPr>
            <a:r>
              <a:rPr sz="1100" b="1" i="0" spc="120" lang="fr-FR">
                <a:solidFill>
                  <a:srgbClr val="F59E0B"/>
                </a:solidFill>
                <a:latin typeface="Arial"/>
              </a:rPr>
              <a:t>04</a:t>
            </a:r>
          </a:p>
          <a:p>
            <a:pPr>
              <a:lnSpc>
                <a:spcPct val="106000"/>
              </a:lnSpc>
              <a:spcBef>
                <a:spcPts val="0"/>
              </a:spcBef>
              <a:spcAft>
                <a:spcPts val="200"/>
              </a:spcAft>
            </a:pPr>
            <a:r>
              <a:rPr sz="2200" b="1" i="0" lang="fr-FR">
                <a:solidFill>
                  <a:srgbClr val="FFFFFF"/>
                </a:solidFill>
                <a:latin typeface="Arial"/>
              </a:rPr>
              <a:t>API</a:t>
            </a:r>
          </a:p>
          <a:p>
            <a:pPr>
              <a:lnSpc>
                <a:spcPct val="106000"/>
              </a:lnSpc>
              <a:spcBef>
                <a:spcPts val="0"/>
              </a:spcBef>
              <a:spcAft>
                <a:spcPts val="800"/>
              </a:spcAft>
            </a:pPr>
            <a:r>
              <a:rPr sz="1300" b="1" i="0" lang="fr-FR">
                <a:solidFill>
                  <a:srgbClr val="C4B5FD"/>
                </a:solidFill>
                <a:latin typeface="Arial"/>
              </a:rPr>
              <a:t>Le point de convergence</a:t>
            </a:r>
          </a:p>
          <a:p>
            <a:pPr>
              <a:lnSpc>
                <a:spcPct val="106000"/>
              </a:lnSpc>
              <a:spcBef>
                <a:spcPts val="0"/>
              </a:spcBef>
              <a:spcAft>
                <a:spcPts val="0"/>
              </a:spcAft>
            </a:pPr>
            <a:r>
              <a:rPr sz="1150" b="0" i="0" lang="fr-FR">
                <a:solidFill>
                  <a:srgbClr val="EDE9FE"/>
                </a:solidFill>
                <a:latin typeface="Arial"/>
              </a:rPr>
              <a:t>Là où les trois leviers</a:t>
            </a:r>
          </a:p>
          <a:p>
            <a:pPr>
              <a:lnSpc>
                <a:spcPct val="106000"/>
              </a:lnSpc>
              <a:spcBef>
                <a:spcPts val="0"/>
              </a:spcBef>
              <a:spcAft>
                <a:spcPts val="0"/>
              </a:spcAft>
            </a:pPr>
            <a:r>
              <a:rPr sz="1150" b="0" i="0" lang="fr-FR">
                <a:solidFill>
                  <a:srgbClr val="EDE9FE"/>
                </a:solidFill>
                <a:latin typeface="Arial"/>
              </a:rPr>
              <a:t>s'appliquent.</a:t>
            </a:r>
          </a:p>
        </p:txBody>
      </p:sp>
      <p:cxnSp>
        <p:nvCxnSpPr>
          <p:cNvPr id="204" name="Connector 203"/>
          <p:cNvCxnSpPr/>
          <p:nvPr/>
        </p:nvCxnSpPr>
        <p:spPr>
          <a:xfrm>
            <a:off x="3172968" y="3611880"/>
            <a:ext cx="210312" cy="0"/>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a:off x="5961888" y="3611880"/>
            <a:ext cx="210312" cy="0"/>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a:off x="8750808" y="3611880"/>
            <a:ext cx="210312" cy="0"/>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7" name="TextBox 206"/>
          <p:cNvSpPr txBox="1"/>
          <p:nvPr/>
        </p:nvSpPr>
        <p:spPr>
          <a:xfrm>
            <a:off x="640080" y="5440680"/>
            <a:ext cx="10881360" cy="365760"/>
          </a:xfrm>
          <a:prstGeom prst="rect">
            <a:avLst/>
          </a:prstGeom>
          <a:noFill/>
        </p:spPr>
        <p:txBody>
          <a:bodyPr wrap="none" anchor="t" lIns="0" rIns="0" tIns="0" bIns="0">
            <a:noAutofit/>
          </a:bodyPr>
          <a:lstStyle/>
          <a:p>
            <a:pPr algn="l">
              <a:lnSpc>
                <a:spcPct val="105000"/>
              </a:lnSpc>
              <a:spcBef>
                <a:spcPts val="0"/>
              </a:spcBef>
              <a:spcAft>
                <a:spcPts val="0"/>
              </a:spcAft>
            </a:pPr>
            <a:r>
              <a:rPr sz="1400" b="1" i="0" lang="fr-FR">
                <a:solidFill>
                  <a:srgbClr val="6D28D9"/>
                </a:solidFill>
                <a:latin typeface="Arial"/>
              </a:rPr>
              <a:t>Un même fil : le contrôle passe du matériel à l'interface.</a:t>
            </a:r>
          </a:p>
        </p:txBody>
      </p:sp>
      <p:sp>
        <p:nvSpPr>
          <p:cNvPr id="208" name="Numero"/>
          <p:cNvSpPr txBox="1"/>
          <p:nvPr/>
        </p:nvSpPr>
        <p:spPr>
          <a:xfrm>
            <a:off x="10728655" y="6419088"/>
            <a:ext cx="822960" cy="201168"/>
          </a:xfrm>
          <a:prstGeom prst="rect">
            <a:avLst/>
          </a:prstGeom>
          <a:noFill/>
        </p:spPr>
        <p:txBody>
          <a:bodyPr wrap="none" anchor="t" lIns="0" rIns="0" tIns="0" bIns="0">
            <a:noAutofit/>
          </a:bodyPr>
          <a:lstStyle/>
          <a:p>
            <a:pPr algn="r">
              <a:lnSpc>
                <a:spcPct val="105000"/>
              </a:lnSpc>
              <a:spcBef>
                <a:spcPts val="0"/>
              </a:spcBef>
              <a:spcAft>
                <a:spcPts val="0"/>
              </a:spcAft>
            </a:pPr>
            <a:r>
              <a:rPr sz="850" b="1" i="0" lang="fr-FR">
                <a:solidFill>
                  <a:srgbClr val="6B7280"/>
                </a:solidFill>
                <a:latin typeface="Arial"/>
              </a:rPr>
              <a:t>03 / 16</a:t>
            </a:r>
          </a:p>
        </p:txBody>
      </p:sp>
    </p:spTree>
  </p:cSld>
  <p:clrMapOvr>
    <a:masterClrMapping/>
  </p:clrMapOvr>
  <p:transition spd="slow">
    <p14:morph option="byObject"/>
  </p:transition>
  <p:timing>
    <p:tnLst>
      <p:par>
        <p:cTn id="1" dur="indefinite" restart="never" nodeType="tmRoot">
          <p:childTnLst>
            <p:seq concurrent="1" nextAc="seek">
              <p:cTn id="2" dur="indefinite" nodeType="mainSeq">
                <p:childTnLst>
                  <p:par>
                    <p:cTn id="100" fill="hold">
                      <p:stCondLst>
                        <p:cond delay="indefinite"/>
                      </p:stCondLst>
                      <p:childTnLst>
                        <p:par>
                          <p:cTn id="101" fill="hold">
                            <p:stCondLst>
                              <p:cond delay="0"/>
                            </p:stCondLst>
                            <p:childTnLst>
                              <p:par>
                                <p:cTn id="110" presetID="10" presetClass="entr" presetSubtype="0" fill="hold" nodeType="clickEffect">
                                  <p:stCondLst>
                                    <p:cond delay="0"/>
                                  </p:stCondLst>
                                  <p:childTnLst>
                                    <p:set>
                                      <p:cBhvr>
                                        <p:cTn id="111" dur="1" fill="hold">
                                          <p:stCondLst>
                                            <p:cond delay="0"/>
                                          </p:stCondLst>
                                        </p:cTn>
                                        <p:tgtEl>
                                          <p:spTgt spid="201"/>
                                        </p:tgtEl>
                                        <p:attrNameLst>
                                          <p:attrName>style.visibility</p:attrName>
                                        </p:attrNameLst>
                                      </p:cBhvr>
                                      <p:to>
                                        <p:strVal val="visible"/>
                                      </p:to>
                                    </p:set>
                                    <p:animEffect transition="in" filter="fade">
                                      <p:cBhvr>
                                        <p:cTn id="112" dur="450"/>
                                        <p:tgtEl>
                                          <p:spTgt spid="201"/>
                                        </p:tgtEl>
                                      </p:cBhvr>
                                    </p:animEffect>
                                  </p:childTnLst>
                                </p:cTn>
                              </p:par>
                              <p:par>
                                <p:cTn id="115" presetID="10" presetClass="entr" presetSubtype="0" fill="hold" nodeType="clickEffect">
                                  <p:stCondLst>
                                    <p:cond delay="80"/>
                                  </p:stCondLst>
                                  <p:childTnLst>
                                    <p:set>
                                      <p:cBhvr>
                                        <p:cTn id="116" dur="1" fill="hold">
                                          <p:stCondLst>
                                            <p:cond delay="0"/>
                                          </p:stCondLst>
                                        </p:cTn>
                                        <p:tgtEl>
                                          <p:spTgt spid="202"/>
                                        </p:tgtEl>
                                        <p:attrNameLst>
                                          <p:attrName>style.visibility</p:attrName>
                                        </p:attrNameLst>
                                      </p:cBhvr>
                                      <p:to>
                                        <p:strVal val="visible"/>
                                      </p:to>
                                    </p:set>
                                    <p:animEffect transition="in" filter="fade">
                                      <p:cBhvr>
                                        <p:cTn id="117" dur="450"/>
                                        <p:tgtEl>
                                          <p:spTgt spid="202"/>
                                        </p:tgtEl>
                                      </p:cBhvr>
                                    </p:animEffect>
                                  </p:childTnLst>
                                </p:cTn>
                              </p:par>
                              <p:par>
                                <p:cTn id="120" presetID="10" presetClass="entr" presetSubtype="0" fill="hold" nodeType="clickEffect">
                                  <p:stCondLst>
                                    <p:cond delay="160"/>
                                  </p:stCondLst>
                                  <p:childTnLst>
                                    <p:set>
                                      <p:cBhvr>
                                        <p:cTn id="121" dur="1" fill="hold">
                                          <p:stCondLst>
                                            <p:cond delay="0"/>
                                          </p:stCondLst>
                                        </p:cTn>
                                        <p:tgtEl>
                                          <p:spTgt spid="203"/>
                                        </p:tgtEl>
                                        <p:attrNameLst>
                                          <p:attrName>style.visibility</p:attrName>
                                        </p:attrNameLst>
                                      </p:cBhvr>
                                      <p:to>
                                        <p:strVal val="visible"/>
                                      </p:to>
                                    </p:set>
                                    <p:animEffect transition="in" filter="fade">
                                      <p:cBhvr>
                                        <p:cTn id="122" dur="450"/>
                                        <p:tgtEl>
                                          <p:spTgt spid="203"/>
                                        </p:tgtEl>
                                      </p:cBhvr>
                                    </p:animEffect>
                                  </p:childTnLst>
                                </p:cTn>
                              </p:par>
                              <p:par>
                                <p:cTn id="125" presetID="10" presetClass="entr" presetSubtype="0" fill="hold" nodeType="clickEffect">
                                  <p:stCondLst>
                                    <p:cond delay="0"/>
                                  </p:stCondLst>
                                  <p:childTnLst>
                                    <p:set>
                                      <p:cBhvr>
                                        <p:cTn id="126" dur="1" fill="hold">
                                          <p:stCondLst>
                                            <p:cond delay="0"/>
                                          </p:stCondLst>
                                        </p:cTn>
                                        <p:tgtEl>
                                          <p:spTgt spid="204"/>
                                        </p:tgtEl>
                                        <p:attrNameLst>
                                          <p:attrName>style.visibility</p:attrName>
                                        </p:attrNameLst>
                                      </p:cBhvr>
                                      <p:to>
                                        <p:strVal val="visible"/>
                                      </p:to>
                                    </p:set>
                                    <p:animEffect transition="in" filter="fade">
                                      <p:cBhvr>
                                        <p:cTn id="127" dur="450"/>
                                        <p:tgtEl>
                                          <p:spTgt spid="204"/>
                                        </p:tgtEl>
                                      </p:cBhvr>
                                    </p:animEffect>
                                  </p:childTnLst>
                                </p:cTn>
                              </p:par>
                              <p:par>
                                <p:cTn id="130" presetID="10" presetClass="entr" presetSubtype="0" fill="hold" nodeType="clickEffect">
                                  <p:stCondLst>
                                    <p:cond delay="80"/>
                                  </p:stCondLst>
                                  <p:childTnLst>
                                    <p:set>
                                      <p:cBhvr>
                                        <p:cTn id="131" dur="1" fill="hold">
                                          <p:stCondLst>
                                            <p:cond delay="0"/>
                                          </p:stCondLst>
                                        </p:cTn>
                                        <p:tgtEl>
                                          <p:spTgt spid="205"/>
                                        </p:tgtEl>
                                        <p:attrNameLst>
                                          <p:attrName>style.visibility</p:attrName>
                                        </p:attrNameLst>
                                      </p:cBhvr>
                                      <p:to>
                                        <p:strVal val="visible"/>
                                      </p:to>
                                    </p:set>
                                    <p:animEffect transition="in" filter="fade">
                                      <p:cBhvr>
                                        <p:cTn id="132" dur="450"/>
                                        <p:tgtEl>
                                          <p:spTgt spid="205"/>
                                        </p:tgtEl>
                                      </p:cBhvr>
                                    </p:animEffect>
                                  </p:childTnLst>
                                </p:cTn>
                              </p:par>
                              <p:par>
                                <p:cTn id="135" presetID="10" presetClass="entr" presetSubtype="0" fill="hold" nodeType="clickEffect">
                                  <p:stCondLst>
                                    <p:cond delay="160"/>
                                  </p:stCondLst>
                                  <p:childTnLst>
                                    <p:set>
                                      <p:cBhvr>
                                        <p:cTn id="136" dur="1" fill="hold">
                                          <p:stCondLst>
                                            <p:cond delay="0"/>
                                          </p:stCondLst>
                                        </p:cTn>
                                        <p:tgtEl>
                                          <p:spTgt spid="206"/>
                                        </p:tgtEl>
                                        <p:attrNameLst>
                                          <p:attrName>style.visibility</p:attrName>
                                        </p:attrNameLst>
                                      </p:cBhvr>
                                      <p:to>
                                        <p:strVal val="visible"/>
                                      </p:to>
                                    </p:set>
                                    <p:animEffect transition="in" filter="fade">
                                      <p:cBhvr>
                                        <p:cTn id="137" dur="450"/>
                                        <p:tgtEl>
                                          <p:spTgt spid="206"/>
                                        </p:tgtEl>
                                      </p:cBhvr>
                                    </p:animEffect>
                                  </p:childTnLst>
                                </p:cTn>
                              </p:par>
                            </p:childTnLst>
                          </p:cTn>
                        </p:par>
                      </p:childTnLst>
                    </p:cTn>
                  </p:par>
                  <p:par>
                    <p:cTn id="140" fill="hold">
                      <p:stCondLst>
                        <p:cond delay="indefinite"/>
                      </p:stCondLst>
                      <p:childTnLst>
                        <p:par>
                          <p:cTn id="141" fill="hold">
                            <p:stCondLst>
                              <p:cond delay="0"/>
                            </p:stCondLst>
                            <p:childTnLst>
                              <p:par>
                                <p:cTn id="150" presetID="10" presetClass="entr" presetSubtype="0" fill="hold" nodeType="clickEffect">
                                  <p:stCondLst>
                                    <p:cond delay="0"/>
                                  </p:stCondLst>
                                  <p:childTnLst>
                                    <p:set>
                                      <p:cBhvr>
                                        <p:cTn id="151" dur="1" fill="hold">
                                          <p:stCondLst>
                                            <p:cond delay="0"/>
                                          </p:stCondLst>
                                        </p:cTn>
                                        <p:tgtEl>
                                          <p:spTgt spid="207"/>
                                        </p:tgtEl>
                                        <p:attrNameLst>
                                          <p:attrName>style.visibility</p:attrName>
                                        </p:attrNameLst>
                                      </p:cBhvr>
                                      <p:to>
                                        <p:strVal val="visible"/>
                                      </p:to>
                                    </p:set>
                                    <p:animEffect transition="in" filter="fade">
                                      <p:cBhvr>
                                        <p:cTn id="152" dur="400"/>
                                        <p:tgtEl>
                                          <p:spTgt spid="2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 name="Fond" descr="bg_light.jpg"/>
          <p:cNvPicPr>
            <a:picLocks noChangeAspect="1"/>
          </p:cNvPicPr>
          <p:nvPr/>
        </p:nvPicPr>
        <p:blipFill>
          <a:blip r:embed="rId2"/>
          <a:stretch>
            <a:fillRect/>
          </a:stretch>
        </p:blipFill>
        <p:spPr>
          <a:xfrm>
            <a:off x="0" y="0"/>
            <a:ext cx="12191695" cy="6858000"/>
          </a:xfrm>
          <a:prstGeom prst="rect">
            <a:avLst/>
          </a:prstGeom>
        </p:spPr>
      </p:pic>
      <p:sp>
        <p:nvSpPr>
          <p:cNvPr id="2" name="Section"/>
          <p:cNvSpPr txBox="1"/>
          <p:nvPr/>
        </p:nvSpPr>
        <p:spPr>
          <a:xfrm>
            <a:off x="640080" y="301752"/>
            <a:ext cx="3657600" cy="256032"/>
          </a:xfrm>
          <a:prstGeom prst="rect">
            <a:avLst/>
          </a:prstGeom>
          <a:noFill/>
        </p:spPr>
        <p:txBody>
          <a:bodyPr wrap="none" anchor="t" lIns="0" rIns="0" tIns="0" bIns="0">
            <a:noAutofit/>
          </a:bodyPr>
          <a:lstStyle/>
          <a:p>
            <a:pPr algn="l">
              <a:lnSpc>
                <a:spcPct val="105000"/>
              </a:lnSpc>
              <a:spcBef>
                <a:spcPts val="0"/>
              </a:spcBef>
              <a:spcAft>
                <a:spcPts val="0"/>
              </a:spcAft>
            </a:pPr>
            <a:r>
              <a:rPr sz="900" b="1" i="0" spc="140" lang="fr-FR">
                <a:solidFill>
                  <a:srgbClr val="6D28D9"/>
                </a:solidFill>
                <a:latin typeface="Arial"/>
              </a:rPr>
              <a:t>01 · CLOUD</a:t>
            </a:r>
          </a:p>
        </p:txBody>
      </p:sp>
      <p:sp>
        <p:nvSpPr>
          <p:cNvPr id="3" name="Monogramme"/>
          <p:cNvSpPr txBox="1"/>
          <p:nvPr/>
        </p:nvSpPr>
        <p:spPr>
          <a:xfrm>
            <a:off x="10454335" y="301752"/>
            <a:ext cx="1097280" cy="256032"/>
          </a:xfrm>
          <a:prstGeom prst="rect">
            <a:avLst/>
          </a:prstGeom>
          <a:noFill/>
        </p:spPr>
        <p:txBody>
          <a:bodyPr wrap="none" anchor="t" lIns="0" rIns="0" tIns="0" bIns="0">
            <a:noAutofit/>
          </a:bodyPr>
          <a:lstStyle/>
          <a:p>
            <a:pPr algn="r">
              <a:lnSpc>
                <a:spcPct val="105000"/>
              </a:lnSpc>
              <a:spcBef>
                <a:spcPts val="0"/>
              </a:spcBef>
              <a:spcAft>
                <a:spcPts val="0"/>
              </a:spcAft>
            </a:pPr>
            <a:r>
              <a:rPr sz="850" b="1" i="0" spc="120" lang="fr-FR">
                <a:solidFill>
                  <a:srgbClr val="7C6F8F"/>
                </a:solidFill>
                <a:latin typeface="Arial"/>
              </a:rPr>
              <a:t>SC · 2026</a:t>
            </a:r>
          </a:p>
        </p:txBody>
      </p:sp>
      <p:sp>
        <p:nvSpPr>
          <p:cNvPr id="4" name="AccentTitre"/>
          <p:cNvSpPr/>
          <p:nvPr/>
        </p:nvSpPr>
        <p:spPr>
          <a:xfrm>
            <a:off x="640080" y="877824"/>
            <a:ext cx="50292" cy="45720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itre"/>
          <p:cNvSpPr txBox="1"/>
          <p:nvPr/>
        </p:nvSpPr>
        <p:spPr>
          <a:xfrm>
            <a:off x="841247" y="822960"/>
            <a:ext cx="10710367" cy="914400"/>
          </a:xfrm>
          <a:prstGeom prst="rect">
            <a:avLst/>
          </a:prstGeom>
          <a:noFill/>
        </p:spPr>
        <p:txBody>
          <a:bodyPr wrap="none" anchor="t" lIns="0" rIns="0" tIns="0" bIns="0">
            <a:noAutofit/>
          </a:bodyPr>
          <a:lstStyle/>
          <a:p>
            <a:pPr algn="l">
              <a:lnSpc>
                <a:spcPct val="98000"/>
              </a:lnSpc>
              <a:spcBef>
                <a:spcPts val="0"/>
              </a:spcBef>
              <a:spcAft>
                <a:spcPts val="0"/>
              </a:spcAft>
            </a:pPr>
            <a:r>
              <a:rPr sz="3000" b="1" i="0" lang="fr-FR">
                <a:solidFill>
                  <a:srgbClr val="2E1065"/>
                </a:solidFill>
                <a:latin typeface="Arial"/>
              </a:rPr>
              <a:t>Rappel : le cloud en trois idées</a:t>
            </a:r>
          </a:p>
        </p:txBody>
      </p:sp>
      <p:sp>
        <p:nvSpPr>
          <p:cNvPr id="6" name="Rappel1"/>
          <p:cNvSpPr/>
          <p:nvPr/>
        </p:nvSpPr>
        <p:spPr>
          <a:xfrm>
            <a:off x="640080" y="1920240"/>
            <a:ext cx="3383280" cy="3108960"/>
          </a:xfrm>
          <a:prstGeom prst="roundRect">
            <a:avLst>
              <a:gd name="adj" fmla="val 6000"/>
            </a:avLst>
          </a:prstGeom>
          <a:solidFill>
            <a:srgbClr val="FFFFFF"/>
          </a:solidFill>
          <a:ln w="12700">
            <a:solidFill>
              <a:srgbClr val="C4B5FD"/>
            </a:solidFill>
          </a:ln>
          <a:effectLst>
            <a:outerShdw blurRad="177800" dist="38100" dir="5400000" algn="ctr" rotWithShape="0">
              <a:srgbClr val="1B0F33">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182880" rIns="182880" tIns="146304" bIns="146304">
            <a:noAutofit/>
          </a:bodyPr>
          <a:lstStyle/>
          <a:p>
            <a:pPr>
              <a:lnSpc>
                <a:spcPct val="106000"/>
              </a:lnSpc>
              <a:spcBef>
                <a:spcPts val="0"/>
              </a:spcBef>
              <a:spcAft>
                <a:spcPts val="600"/>
              </a:spcAft>
            </a:pPr>
            <a:r>
              <a:rPr sz="900" b="1" i="0" spc="140" lang="fr-FR">
                <a:solidFill>
                  <a:srgbClr val="B45309"/>
                </a:solidFill>
                <a:latin typeface="Arial"/>
              </a:rPr>
              <a:t>MODÈLE</a:t>
            </a:r>
          </a:p>
          <a:p>
            <a:pPr>
              <a:lnSpc>
                <a:spcPct val="106000"/>
              </a:lnSpc>
              <a:spcBef>
                <a:spcPts val="0"/>
              </a:spcBef>
              <a:spcAft>
                <a:spcPts val="800"/>
              </a:spcAft>
            </a:pPr>
            <a:r>
              <a:rPr sz="1900" b="1" i="0" lang="fr-FR">
                <a:solidFill>
                  <a:srgbClr val="2E1065"/>
                </a:solidFill>
                <a:latin typeface="Arial"/>
              </a:rPr>
              <a:t>Un modèle de service</a:t>
            </a:r>
          </a:p>
          <a:p>
            <a:pPr>
              <a:lnSpc>
                <a:spcPct val="106000"/>
              </a:lnSpc>
              <a:spcBef>
                <a:spcPts val="0"/>
              </a:spcBef>
              <a:spcAft>
                <a:spcPts val="800"/>
              </a:spcAft>
            </a:pPr>
            <a:r>
              <a:rPr sz="1300" b="1" i="0" lang="fr-FR">
                <a:solidFill>
                  <a:srgbClr val="6D28D9"/>
                </a:solidFill>
                <a:latin typeface="Arial"/>
              </a:rPr>
              <a:t>IaaS · PaaS · FaaS · SaaS</a:t>
            </a:r>
          </a:p>
          <a:p>
            <a:pPr>
              <a:lnSpc>
                <a:spcPct val="106000"/>
              </a:lnSpc>
              <a:spcBef>
                <a:spcPts val="0"/>
              </a:spcBef>
              <a:spcAft>
                <a:spcPts val="0"/>
              </a:spcAft>
            </a:pPr>
            <a:r>
              <a:rPr sz="1150" b="0" i="0" lang="fr-FR">
                <a:solidFill>
                  <a:srgbClr val="6B7280"/>
                </a:solidFill>
                <a:latin typeface="Arial"/>
              </a:rPr>
              <a:t>La frontière de responsabilité change à</a:t>
            </a:r>
          </a:p>
          <a:p>
            <a:pPr>
              <a:lnSpc>
                <a:spcPct val="106000"/>
              </a:lnSpc>
              <a:spcBef>
                <a:spcPts val="0"/>
              </a:spcBef>
              <a:spcAft>
                <a:spcPts val="0"/>
              </a:spcAft>
            </a:pPr>
            <a:r>
              <a:rPr sz="1150" b="0" i="0" lang="fr-FR">
                <a:solidFill>
                  <a:srgbClr val="6B7280"/>
                </a:solidFill>
                <a:latin typeface="Arial"/>
              </a:rPr>
              <a:t>chaque niveau.</a:t>
            </a:r>
          </a:p>
        </p:txBody>
      </p:sp>
      <p:sp>
        <p:nvSpPr>
          <p:cNvPr id="7" name="Rappel2"/>
          <p:cNvSpPr/>
          <p:nvPr/>
        </p:nvSpPr>
        <p:spPr>
          <a:xfrm>
            <a:off x="4389120" y="1920240"/>
            <a:ext cx="3383280" cy="3108960"/>
          </a:xfrm>
          <a:prstGeom prst="roundRect">
            <a:avLst>
              <a:gd name="adj" fmla="val 6000"/>
            </a:avLst>
          </a:prstGeom>
          <a:solidFill>
            <a:srgbClr val="FFFFFF"/>
          </a:solidFill>
          <a:ln w="12700">
            <a:solidFill>
              <a:srgbClr val="C4B5FD"/>
            </a:solidFill>
          </a:ln>
          <a:effectLst>
            <a:outerShdw blurRad="177800" dist="38100" dir="5400000" algn="ctr" rotWithShape="0">
              <a:srgbClr val="1B0F33">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182880" rIns="182880" tIns="146304" bIns="146304">
            <a:noAutofit/>
          </a:bodyPr>
          <a:lstStyle/>
          <a:p>
            <a:pPr>
              <a:lnSpc>
                <a:spcPct val="106000"/>
              </a:lnSpc>
              <a:spcBef>
                <a:spcPts val="0"/>
              </a:spcBef>
              <a:spcAft>
                <a:spcPts val="600"/>
              </a:spcAft>
            </a:pPr>
            <a:r>
              <a:rPr sz="900" b="1" i="0" spc="140" lang="fr-FR">
                <a:solidFill>
                  <a:srgbClr val="B45309"/>
                </a:solidFill>
                <a:latin typeface="Arial"/>
              </a:rPr>
              <a:t>RESPONSABILITÉ</a:t>
            </a:r>
          </a:p>
          <a:p>
            <a:pPr>
              <a:lnSpc>
                <a:spcPct val="106000"/>
              </a:lnSpc>
              <a:spcBef>
                <a:spcPts val="0"/>
              </a:spcBef>
              <a:spcAft>
                <a:spcPts val="0"/>
              </a:spcAft>
            </a:pPr>
            <a:r>
              <a:rPr sz="1900" b="1" i="0" lang="fr-FR">
                <a:solidFill>
                  <a:srgbClr val="2E1065"/>
                </a:solidFill>
                <a:latin typeface="Arial"/>
              </a:rPr>
              <a:t>Une responsabilité</a:t>
            </a:r>
          </a:p>
          <a:p>
            <a:pPr>
              <a:lnSpc>
                <a:spcPct val="106000"/>
              </a:lnSpc>
              <a:spcBef>
                <a:spcPts val="0"/>
              </a:spcBef>
              <a:spcAft>
                <a:spcPts val="800"/>
              </a:spcAft>
            </a:pPr>
            <a:r>
              <a:rPr sz="1900" b="1" i="0" lang="fr-FR">
                <a:solidFill>
                  <a:srgbClr val="2E1065"/>
                </a:solidFill>
                <a:latin typeface="Arial"/>
              </a:rPr>
              <a:t>partagée</a:t>
            </a:r>
          </a:p>
          <a:p>
            <a:pPr>
              <a:lnSpc>
                <a:spcPct val="106000"/>
              </a:lnSpc>
              <a:spcBef>
                <a:spcPts val="0"/>
              </a:spcBef>
              <a:spcAft>
                <a:spcPts val="400"/>
              </a:spcAft>
            </a:pPr>
            <a:r>
              <a:rPr sz="1150" b="1" i="0" lang="fr-FR">
                <a:solidFill>
                  <a:srgbClr val="B45309"/>
                </a:solidFill>
                <a:latin typeface="Arial"/>
              </a:rPr>
              <a:t>Client : données, identités, accès.</a:t>
            </a:r>
          </a:p>
          <a:p>
            <a:pPr>
              <a:lnSpc>
                <a:spcPct val="106000"/>
              </a:lnSpc>
              <a:spcBef>
                <a:spcPts val="0"/>
              </a:spcBef>
              <a:spcAft>
                <a:spcPts val="0"/>
              </a:spcAft>
            </a:pPr>
            <a:r>
              <a:rPr sz="1150" b="1" i="0" lang="fr-FR">
                <a:solidFill>
                  <a:srgbClr val="6D28D9"/>
                </a:solidFill>
                <a:latin typeface="Arial"/>
              </a:rPr>
              <a:t>Fournisseur : infrastructure, réseau,</a:t>
            </a:r>
          </a:p>
          <a:p>
            <a:pPr>
              <a:lnSpc>
                <a:spcPct val="106000"/>
              </a:lnSpc>
              <a:spcBef>
                <a:spcPts val="0"/>
              </a:spcBef>
              <a:spcAft>
                <a:spcPts val="600"/>
              </a:spcAft>
            </a:pPr>
            <a:r>
              <a:rPr sz="1150" b="1" i="0" lang="fr-FR">
                <a:solidFill>
                  <a:srgbClr val="6D28D9"/>
                </a:solidFill>
                <a:latin typeface="Arial"/>
              </a:rPr>
              <a:t>hyperviseur.</a:t>
            </a:r>
          </a:p>
          <a:p>
            <a:pPr>
              <a:lnSpc>
                <a:spcPct val="106000"/>
              </a:lnSpc>
              <a:spcBef>
                <a:spcPts val="0"/>
              </a:spcBef>
              <a:spcAft>
                <a:spcPts val="0"/>
              </a:spcAft>
            </a:pPr>
            <a:r>
              <a:rPr sz="1050" b="0" i="0" lang="fr-FR">
                <a:solidFill>
                  <a:srgbClr val="6B7280"/>
                </a:solidFill>
                <a:latin typeface="Arial"/>
              </a:rPr>
              <a:t>Le client ne délègue jamais la responsabilité de</a:t>
            </a:r>
          </a:p>
          <a:p>
            <a:pPr>
              <a:lnSpc>
                <a:spcPct val="106000"/>
              </a:lnSpc>
              <a:spcBef>
                <a:spcPts val="0"/>
              </a:spcBef>
              <a:spcAft>
                <a:spcPts val="0"/>
              </a:spcAft>
            </a:pPr>
            <a:r>
              <a:rPr sz="1050" b="0" i="0" lang="fr-FR">
                <a:solidFill>
                  <a:srgbClr val="6B7280"/>
                </a:solidFill>
                <a:latin typeface="Arial"/>
              </a:rPr>
              <a:t>ses accès.</a:t>
            </a:r>
          </a:p>
        </p:txBody>
      </p:sp>
      <p:sp>
        <p:nvSpPr>
          <p:cNvPr id="8" name="Rappel3"/>
          <p:cNvSpPr/>
          <p:nvPr/>
        </p:nvSpPr>
        <p:spPr>
          <a:xfrm>
            <a:off x="8138160" y="1920240"/>
            <a:ext cx="3383280" cy="3108960"/>
          </a:xfrm>
          <a:prstGeom prst="roundRect">
            <a:avLst>
              <a:gd name="adj" fmla="val 6000"/>
            </a:avLst>
          </a:prstGeom>
          <a:solidFill>
            <a:srgbClr val="FFFFFF"/>
          </a:solidFill>
          <a:ln w="12700">
            <a:solidFill>
              <a:srgbClr val="C4B5FD"/>
            </a:solidFill>
          </a:ln>
          <a:effectLst>
            <a:outerShdw blurRad="177800" dist="38100" dir="5400000" algn="ctr" rotWithShape="0">
              <a:srgbClr val="1B0F33">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182880" rIns="182880" tIns="146304" bIns="146304">
            <a:noAutofit/>
          </a:bodyPr>
          <a:lstStyle/>
          <a:p>
            <a:pPr>
              <a:lnSpc>
                <a:spcPct val="106000"/>
              </a:lnSpc>
              <a:spcBef>
                <a:spcPts val="0"/>
              </a:spcBef>
              <a:spcAft>
                <a:spcPts val="600"/>
              </a:spcAft>
            </a:pPr>
            <a:r>
              <a:rPr sz="900" b="1" i="0" spc="140" lang="fr-FR">
                <a:solidFill>
                  <a:srgbClr val="B45309"/>
                </a:solidFill>
                <a:latin typeface="Arial"/>
              </a:rPr>
              <a:t>CONTRÔLE</a:t>
            </a:r>
          </a:p>
          <a:p>
            <a:pPr>
              <a:lnSpc>
                <a:spcPct val="106000"/>
              </a:lnSpc>
              <a:spcBef>
                <a:spcPts val="0"/>
              </a:spcBef>
              <a:spcAft>
                <a:spcPts val="0"/>
              </a:spcAft>
            </a:pPr>
            <a:r>
              <a:rPr sz="1900" b="1" i="0" lang="fr-FR">
                <a:solidFill>
                  <a:srgbClr val="2E1065"/>
                </a:solidFill>
                <a:latin typeface="Arial"/>
              </a:rPr>
              <a:t>Un plan de contrôle</a:t>
            </a:r>
          </a:p>
          <a:p>
            <a:pPr>
              <a:lnSpc>
                <a:spcPct val="106000"/>
              </a:lnSpc>
              <a:spcBef>
                <a:spcPts val="0"/>
              </a:spcBef>
              <a:spcAft>
                <a:spcPts val="800"/>
              </a:spcAft>
            </a:pPr>
            <a:r>
              <a:rPr sz="1900" b="1" i="0" lang="fr-FR">
                <a:solidFill>
                  <a:srgbClr val="2E1065"/>
                </a:solidFill>
                <a:latin typeface="Arial"/>
              </a:rPr>
              <a:t>logiciel</a:t>
            </a:r>
          </a:p>
          <a:p>
            <a:pPr>
              <a:lnSpc>
                <a:spcPct val="106000"/>
              </a:lnSpc>
              <a:spcBef>
                <a:spcPts val="0"/>
              </a:spcBef>
              <a:spcAft>
                <a:spcPts val="800"/>
              </a:spcAft>
            </a:pPr>
            <a:r>
              <a:rPr sz="1300" b="1" i="0" lang="fr-FR">
                <a:solidFill>
                  <a:srgbClr val="6D28D9"/>
                </a:solidFill>
                <a:latin typeface="Arial"/>
              </a:rPr>
              <a:t>Cloud  →  API</a:t>
            </a:r>
          </a:p>
          <a:p>
            <a:pPr>
              <a:lnSpc>
                <a:spcPct val="106000"/>
              </a:lnSpc>
              <a:spcBef>
                <a:spcPts val="0"/>
              </a:spcBef>
              <a:spcAft>
                <a:spcPts val="0"/>
              </a:spcAft>
            </a:pPr>
            <a:r>
              <a:rPr sz="1150" b="0" i="0" lang="fr-FR">
                <a:solidFill>
                  <a:srgbClr val="6B7280"/>
                </a:solidFill>
                <a:latin typeface="Arial"/>
              </a:rPr>
              <a:t>Agir sur le cloud, c'est appeler une API.</a:t>
            </a:r>
          </a:p>
        </p:txBody>
      </p:sp>
      <p:sp>
        <p:nvSpPr>
          <p:cNvPr id="9" name="Takeaway4"/>
          <p:cNvSpPr/>
          <p:nvPr/>
        </p:nvSpPr>
        <p:spPr>
          <a:xfrm>
            <a:off x="640080" y="5303520"/>
            <a:ext cx="10881360" cy="594360"/>
          </a:xfrm>
          <a:prstGeom prst="roundRect">
            <a:avLst>
              <a:gd name="adj" fmla="val 16000"/>
            </a:avLst>
          </a:prstGeom>
          <a:solidFill>
            <a:srgbClr val="2E1065"/>
          </a:solidFill>
          <a:ln>
            <a:noFill/>
          </a:ln>
          <a:effectLst>
            <a:outerShdw blurRad="177800" dist="38100" dir="5400000" algn="ctr" rotWithShape="0">
              <a:srgbClr val="1B0F33">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36576" rIns="36576" tIns="0" bIns="0">
            <a:noAutofit/>
          </a:bodyPr>
          <a:lstStyle/>
          <a:p>
            <a:pPr algn="ctr">
              <a:lnSpc>
                <a:spcPct val="100000"/>
              </a:lnSpc>
              <a:spcBef>
                <a:spcPts val="0"/>
              </a:spcBef>
              <a:spcAft>
                <a:spcPts val="0"/>
              </a:spcAft>
            </a:pPr>
            <a:r>
              <a:rPr sz="1550" b="1" i="0" lang="fr-FR">
                <a:solidFill>
                  <a:srgbClr val="FFFFFF"/>
                </a:solidFill>
                <a:latin typeface="Arial"/>
              </a:rPr>
              <a:t>Le cloud n'est pas qu'une infrastructure : c'est un modèle de responsabilité.</a:t>
            </a:r>
          </a:p>
        </p:txBody>
      </p:sp>
      <p:sp>
        <p:nvSpPr>
          <p:cNvPr id="10" name="Source"/>
          <p:cNvSpPr txBox="1"/>
          <p:nvPr/>
        </p:nvSpPr>
        <p:spPr>
          <a:xfrm>
            <a:off x="640080" y="6382512"/>
            <a:ext cx="10271455" cy="219456"/>
          </a:xfrm>
          <a:prstGeom prst="rect">
            <a:avLst/>
          </a:prstGeom>
          <a:noFill/>
        </p:spPr>
        <p:txBody>
          <a:bodyPr wrap="none" anchor="t" lIns="0" rIns="0" tIns="0" bIns="0">
            <a:noAutofit/>
          </a:bodyPr>
          <a:lstStyle/>
          <a:p>
            <a:pPr algn="l">
              <a:lnSpc>
                <a:spcPct val="105000"/>
              </a:lnSpc>
              <a:spcBef>
                <a:spcPts val="0"/>
              </a:spcBef>
              <a:spcAft>
                <a:spcPts val="0"/>
              </a:spcAft>
            </a:pPr>
            <a:r>
              <a:rPr sz="850" b="0" i="0" lang="fr-FR">
                <a:solidFill>
                  <a:srgbClr val="5B5563"/>
                </a:solidFill>
                <a:latin typeface="Arial"/>
              </a:rPr>
              <a:t>NIST SP 800-145 ; modèles de responsabilité partagée AWS, Azure, GCP.</a:t>
            </a:r>
          </a:p>
        </p:txBody>
      </p:sp>
      <p:sp>
        <p:nvSpPr>
          <p:cNvPr id="11" name="Numero"/>
          <p:cNvSpPr txBox="1"/>
          <p:nvPr/>
        </p:nvSpPr>
        <p:spPr>
          <a:xfrm>
            <a:off x="10728655" y="6419088"/>
            <a:ext cx="822960" cy="201168"/>
          </a:xfrm>
          <a:prstGeom prst="rect">
            <a:avLst/>
          </a:prstGeom>
          <a:noFill/>
        </p:spPr>
        <p:txBody>
          <a:bodyPr wrap="none" anchor="t" lIns="0" rIns="0" tIns="0" bIns="0">
            <a:noAutofit/>
          </a:bodyPr>
          <a:lstStyle/>
          <a:p>
            <a:pPr algn="r">
              <a:lnSpc>
                <a:spcPct val="105000"/>
              </a:lnSpc>
              <a:spcBef>
                <a:spcPts val="0"/>
              </a:spcBef>
              <a:spcAft>
                <a:spcPts val="0"/>
              </a:spcAft>
            </a:pPr>
            <a:r>
              <a:rPr sz="850" b="1" i="0" lang="fr-FR">
                <a:solidFill>
                  <a:srgbClr val="6B7280"/>
                </a:solidFill>
                <a:latin typeface="Arial"/>
              </a:rPr>
              <a:t>04 / 16</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00" fill="hold">
                      <p:stCondLst>
                        <p:cond delay="indefinite"/>
                      </p:stCondLst>
                      <p:childTnLst>
                        <p:par>
                          <p:cTn id="101" fill="hold">
                            <p:stCondLst>
                              <p:cond delay="0"/>
                            </p:stCondLst>
                            <p:childTnLst>
                              <p:par>
                                <p:cTn id="110" presetID="10" presetClass="entr" presetSubtype="0" fill="hold" nodeType="clickEffect">
                                  <p:stCondLst>
                                    <p:cond delay="0"/>
                                  </p:stCondLst>
                                  <p:childTnLst>
                                    <p:set>
                                      <p:cBhvr>
                                        <p:cTn id="111" dur="1" fill="hold">
                                          <p:stCondLst>
                                            <p:cond delay="0"/>
                                          </p:stCondLst>
                                        </p:cTn>
                                        <p:tgtEl>
                                          <p:spTgt spid="6"/>
                                        </p:tgtEl>
                                        <p:attrNameLst>
                                          <p:attrName>style.visibility</p:attrName>
                                        </p:attrNameLst>
                                      </p:cBhvr>
                                      <p:to>
                                        <p:strVal val="visible"/>
                                      </p:to>
                                    </p:set>
                                    <p:animEffect transition="in" filter="fade">
                                      <p:cBhvr>
                                        <p:cTn id="112" dur="450"/>
                                        <p:tgtEl>
                                          <p:spTgt spid="6"/>
                                        </p:tgtEl>
                                      </p:cBhvr>
                                    </p:animEffect>
                                  </p:childTnLst>
                                </p:cTn>
                              </p:par>
                            </p:childTnLst>
                          </p:cTn>
                        </p:par>
                      </p:childTnLst>
                    </p:cTn>
                  </p:par>
                  <p:par>
                    <p:cTn id="115" fill="hold">
                      <p:stCondLst>
                        <p:cond delay="indefinite"/>
                      </p:stCondLst>
                      <p:childTnLst>
                        <p:par>
                          <p:cTn id="116" fill="hold">
                            <p:stCondLst>
                              <p:cond delay="0"/>
                            </p:stCondLst>
                            <p:childTnLst>
                              <p:par>
                                <p:cTn id="125" presetID="10" presetClass="entr" presetSubtype="0" fill="hold" nodeType="clickEffect">
                                  <p:stCondLst>
                                    <p:cond delay="0"/>
                                  </p:stCondLst>
                                  <p:childTnLst>
                                    <p:set>
                                      <p:cBhvr>
                                        <p:cTn id="126" dur="1" fill="hold">
                                          <p:stCondLst>
                                            <p:cond delay="0"/>
                                          </p:stCondLst>
                                        </p:cTn>
                                        <p:tgtEl>
                                          <p:spTgt spid="7"/>
                                        </p:tgtEl>
                                        <p:attrNameLst>
                                          <p:attrName>style.visibility</p:attrName>
                                        </p:attrNameLst>
                                      </p:cBhvr>
                                      <p:to>
                                        <p:strVal val="visible"/>
                                      </p:to>
                                    </p:set>
                                    <p:animEffect transition="in" filter="fade">
                                      <p:cBhvr>
                                        <p:cTn id="127" dur="450"/>
                                        <p:tgtEl>
                                          <p:spTgt spid="7"/>
                                        </p:tgtEl>
                                      </p:cBhvr>
                                    </p:animEffect>
                                  </p:childTnLst>
                                </p:cTn>
                              </p:par>
                            </p:childTnLst>
                          </p:cTn>
                        </p:par>
                      </p:childTnLst>
                    </p:cTn>
                  </p:par>
                  <p:par>
                    <p:cTn id="130" fill="hold">
                      <p:stCondLst>
                        <p:cond delay="indefinite"/>
                      </p:stCondLst>
                      <p:childTnLst>
                        <p:par>
                          <p:cTn id="131" fill="hold">
                            <p:stCondLst>
                              <p:cond delay="0"/>
                            </p:stCondLst>
                            <p:childTnLst>
                              <p:par>
                                <p:cTn id="140" presetID="10" presetClass="entr" presetSubtype="0" fill="hold" nodeType="clickEffect">
                                  <p:stCondLst>
                                    <p:cond delay="0"/>
                                  </p:stCondLst>
                                  <p:childTnLst>
                                    <p:set>
                                      <p:cBhvr>
                                        <p:cTn id="141" dur="1" fill="hold">
                                          <p:stCondLst>
                                            <p:cond delay="0"/>
                                          </p:stCondLst>
                                        </p:cTn>
                                        <p:tgtEl>
                                          <p:spTgt spid="8"/>
                                        </p:tgtEl>
                                        <p:attrNameLst>
                                          <p:attrName>style.visibility</p:attrName>
                                        </p:attrNameLst>
                                      </p:cBhvr>
                                      <p:to>
                                        <p:strVal val="visible"/>
                                      </p:to>
                                    </p:set>
                                    <p:animEffect transition="in" filter="fade">
                                      <p:cBhvr>
                                        <p:cTn id="142" dur="450"/>
                                        <p:tgtEl>
                                          <p:spTgt spid="8"/>
                                        </p:tgtEl>
                                      </p:cBhvr>
                                    </p:animEffect>
                                  </p:childTnLst>
                                </p:cTn>
                              </p:par>
                              <p:par>
                                <p:cTn id="145" presetID="10" presetClass="entr" presetSubtype="0" fill="hold" nodeType="clickEffect">
                                  <p:stCondLst>
                                    <p:cond delay="100"/>
                                  </p:stCondLst>
                                  <p:childTnLst>
                                    <p:set>
                                      <p:cBhvr>
                                        <p:cTn id="146" dur="1" fill="hold">
                                          <p:stCondLst>
                                            <p:cond delay="0"/>
                                          </p:stCondLst>
                                        </p:cTn>
                                        <p:tgtEl>
                                          <p:spTgt spid="9"/>
                                        </p:tgtEl>
                                        <p:attrNameLst>
                                          <p:attrName>style.visibility</p:attrName>
                                        </p:attrNameLst>
                                      </p:cBhvr>
                                      <p:to>
                                        <p:strVal val="visible"/>
                                      </p:to>
                                    </p:set>
                                    <p:animEffect transition="in" filter="fade">
                                      <p:cBhvr>
                                        <p:cTn id="147" dur="45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 name="Fond" descr="bg_light.jpg"/>
          <p:cNvPicPr>
            <a:picLocks noChangeAspect="1"/>
          </p:cNvPicPr>
          <p:nvPr/>
        </p:nvPicPr>
        <p:blipFill>
          <a:blip r:embed="rId2"/>
          <a:stretch>
            <a:fillRect/>
          </a:stretch>
        </p:blipFill>
        <p:spPr>
          <a:xfrm>
            <a:off x="0" y="0"/>
            <a:ext cx="12191695" cy="6858000"/>
          </a:xfrm>
          <a:prstGeom prst="rect">
            <a:avLst/>
          </a:prstGeom>
        </p:spPr>
      </p:pic>
      <p:sp>
        <p:nvSpPr>
          <p:cNvPr id="2" name="Section"/>
          <p:cNvSpPr txBox="1"/>
          <p:nvPr/>
        </p:nvSpPr>
        <p:spPr>
          <a:xfrm>
            <a:off x="640080" y="301752"/>
            <a:ext cx="3657600" cy="256032"/>
          </a:xfrm>
          <a:prstGeom prst="rect">
            <a:avLst/>
          </a:prstGeom>
          <a:noFill/>
        </p:spPr>
        <p:txBody>
          <a:bodyPr wrap="none" anchor="t" lIns="0" rIns="0" tIns="0" bIns="0">
            <a:noAutofit/>
          </a:bodyPr>
          <a:lstStyle/>
          <a:p>
            <a:pPr algn="l">
              <a:lnSpc>
                <a:spcPct val="105000"/>
              </a:lnSpc>
              <a:spcBef>
                <a:spcPts val="0"/>
              </a:spcBef>
              <a:spcAft>
                <a:spcPts val="0"/>
              </a:spcAft>
            </a:pPr>
            <a:r>
              <a:rPr sz="900" b="1" i="0" spc="140" lang="fr-FR">
                <a:solidFill>
                  <a:srgbClr val="6D28D9"/>
                </a:solidFill>
                <a:latin typeface="Arial"/>
              </a:rPr>
              <a:t>01 · CLOUD</a:t>
            </a:r>
          </a:p>
        </p:txBody>
      </p:sp>
      <p:sp>
        <p:nvSpPr>
          <p:cNvPr id="3" name="Monogramme"/>
          <p:cNvSpPr txBox="1"/>
          <p:nvPr/>
        </p:nvSpPr>
        <p:spPr>
          <a:xfrm>
            <a:off x="10454335" y="301752"/>
            <a:ext cx="1097280" cy="256032"/>
          </a:xfrm>
          <a:prstGeom prst="rect">
            <a:avLst/>
          </a:prstGeom>
          <a:noFill/>
        </p:spPr>
        <p:txBody>
          <a:bodyPr wrap="none" anchor="t" lIns="0" rIns="0" tIns="0" bIns="0">
            <a:noAutofit/>
          </a:bodyPr>
          <a:lstStyle/>
          <a:p>
            <a:pPr algn="r">
              <a:lnSpc>
                <a:spcPct val="105000"/>
              </a:lnSpc>
              <a:spcBef>
                <a:spcPts val="0"/>
              </a:spcBef>
              <a:spcAft>
                <a:spcPts val="0"/>
              </a:spcAft>
            </a:pPr>
            <a:r>
              <a:rPr sz="850" b="1" i="0" spc="120" lang="fr-FR">
                <a:solidFill>
                  <a:srgbClr val="7C6F8F"/>
                </a:solidFill>
                <a:latin typeface="Arial"/>
              </a:rPr>
              <a:t>SC · 2026</a:t>
            </a:r>
          </a:p>
        </p:txBody>
      </p:sp>
      <p:sp>
        <p:nvSpPr>
          <p:cNvPr id="4" name="AccentTitre"/>
          <p:cNvSpPr/>
          <p:nvPr/>
        </p:nvSpPr>
        <p:spPr>
          <a:xfrm>
            <a:off x="640080" y="877824"/>
            <a:ext cx="50292" cy="45720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itre"/>
          <p:cNvSpPr txBox="1"/>
          <p:nvPr/>
        </p:nvSpPr>
        <p:spPr>
          <a:xfrm>
            <a:off x="841247" y="822960"/>
            <a:ext cx="10710367" cy="914400"/>
          </a:xfrm>
          <a:prstGeom prst="rect">
            <a:avLst/>
          </a:prstGeom>
          <a:noFill/>
        </p:spPr>
        <p:txBody>
          <a:bodyPr wrap="none" anchor="t" lIns="0" rIns="0" tIns="0" bIns="0">
            <a:noAutofit/>
          </a:bodyPr>
          <a:lstStyle/>
          <a:p>
            <a:pPr algn="l">
              <a:lnSpc>
                <a:spcPct val="98000"/>
              </a:lnSpc>
              <a:spcBef>
                <a:spcPts val="0"/>
              </a:spcBef>
              <a:spcAft>
                <a:spcPts val="0"/>
              </a:spcAft>
            </a:pPr>
            <a:r>
              <a:rPr sz="2800" b="1" i="0" lang="fr-FR">
                <a:solidFill>
                  <a:srgbClr val="2E1065"/>
                </a:solidFill>
                <a:latin typeface="Arial"/>
              </a:rPr>
              <a:t>Virtualisation et cloud : ce qui change pour la sécurité</a:t>
            </a:r>
          </a:p>
        </p:txBody>
      </p:sp>
      <p:sp>
        <p:nvSpPr>
          <p:cNvPr id="6" name="StackAPI"/>
          <p:cNvSpPr/>
          <p:nvPr/>
        </p:nvSpPr>
        <p:spPr>
          <a:xfrm>
            <a:off x="731520" y="1965960"/>
            <a:ext cx="3931920" cy="457200"/>
          </a:xfrm>
          <a:prstGeom prst="roundRect">
            <a:avLst>
              <a:gd name="adj" fmla="val 12000"/>
            </a:avLst>
          </a:prstGeom>
          <a:solidFill>
            <a:srgbClr val="F59E0B"/>
          </a:solidFill>
          <a:ln>
            <a:noFill/>
          </a:ln>
          <a:effectLst>
            <a:outerShdw blurRad="177800" dist="38100" dir="5400000" algn="ctr" rotWithShape="0">
              <a:srgbClr val="1B0F33">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36576" rIns="36576" tIns="0" bIns="0">
            <a:noAutofit/>
          </a:bodyPr>
          <a:lstStyle/>
          <a:p>
            <a:pPr algn="ctr">
              <a:lnSpc>
                <a:spcPct val="100000"/>
              </a:lnSpc>
              <a:spcBef>
                <a:spcPts val="0"/>
              </a:spcBef>
              <a:spcAft>
                <a:spcPts val="0"/>
              </a:spcAft>
            </a:pPr>
            <a:r>
              <a:rPr sz="1150" b="1" i="0" lang="fr-FR">
                <a:solidFill>
                  <a:srgbClr val="1B0F33"/>
                </a:solidFill>
                <a:latin typeface="Arial"/>
              </a:rPr>
              <a:t>API — plan de contrôle</a:t>
            </a:r>
          </a:p>
        </p:txBody>
      </p:sp>
      <p:sp>
        <p:nvSpPr>
          <p:cNvPr id="7" name="StackSvc"/>
          <p:cNvSpPr/>
          <p:nvPr/>
        </p:nvSpPr>
        <p:spPr>
          <a:xfrm>
            <a:off x="731520" y="2606040"/>
            <a:ext cx="3931920" cy="502920"/>
          </a:xfrm>
          <a:prstGeom prst="roundRect">
            <a:avLst>
              <a:gd name="adj" fmla="val 10000"/>
            </a:avLst>
          </a:prstGeom>
          <a:solidFill>
            <a:srgbClr val="6D28D9"/>
          </a:solidFill>
          <a:ln>
            <a:noFill/>
          </a:ln>
          <a:effectLst>
            <a:outerShdw blurRad="177800" dist="38100" dir="5400000" algn="ctr" rotWithShape="0">
              <a:srgbClr val="1B0F33">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36576" rIns="36576" tIns="0" bIns="0">
            <a:noAutofit/>
          </a:bodyPr>
          <a:lstStyle/>
          <a:p>
            <a:pPr algn="ctr">
              <a:lnSpc>
                <a:spcPct val="100000"/>
              </a:lnSpc>
              <a:spcBef>
                <a:spcPts val="0"/>
              </a:spcBef>
              <a:spcAft>
                <a:spcPts val="0"/>
              </a:spcAft>
            </a:pPr>
            <a:r>
              <a:rPr sz="1100" b="0" i="0" lang="fr-FR">
                <a:solidFill>
                  <a:srgbClr val="FFFFFF"/>
                </a:solidFill>
                <a:latin typeface="Arial"/>
              </a:rPr>
              <a:t>Services cloud</a:t>
            </a:r>
          </a:p>
        </p:txBody>
      </p:sp>
      <p:sp>
        <p:nvSpPr>
          <p:cNvPr id="8" name="StackVM"/>
          <p:cNvSpPr/>
          <p:nvPr/>
        </p:nvSpPr>
        <p:spPr>
          <a:xfrm>
            <a:off x="731520" y="3246120"/>
            <a:ext cx="3931920" cy="594360"/>
          </a:xfrm>
          <a:prstGeom prst="roundRect">
            <a:avLst>
              <a:gd name="adj" fmla="val 10000"/>
            </a:avLst>
          </a:prstGeom>
          <a:solidFill>
            <a:srgbClr val="C4B5FD"/>
          </a:solidFill>
          <a:ln>
            <a:noFill/>
          </a:ln>
          <a:effectLst>
            <a:outerShdw blurRad="177800" dist="38100" dir="5400000" algn="ctr" rotWithShape="0">
              <a:srgbClr val="1B0F33">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36576" rIns="36576" tIns="0" bIns="0">
            <a:noAutofit/>
          </a:bodyPr>
          <a:lstStyle/>
          <a:p>
            <a:pPr algn="ctr">
              <a:lnSpc>
                <a:spcPct val="100000"/>
              </a:lnSpc>
              <a:spcBef>
                <a:spcPts val="0"/>
              </a:spcBef>
              <a:spcAft>
                <a:spcPts val="0"/>
              </a:spcAft>
            </a:pPr>
            <a:r>
              <a:rPr sz="1050" b="1" i="0" lang="fr-FR">
                <a:solidFill>
                  <a:srgbClr val="1B0F33"/>
                </a:solidFill>
                <a:latin typeface="Arial"/>
              </a:rPr>
              <a:t>Machines virtuelles  ·  VM1 · VM2 · VM3</a:t>
            </a:r>
          </a:p>
        </p:txBody>
      </p:sp>
      <p:sp>
        <p:nvSpPr>
          <p:cNvPr id="9" name="StackHyp"/>
          <p:cNvSpPr/>
          <p:nvPr/>
        </p:nvSpPr>
        <p:spPr>
          <a:xfrm>
            <a:off x="731520" y="3977639"/>
            <a:ext cx="3931920" cy="502920"/>
          </a:xfrm>
          <a:prstGeom prst="roundRect">
            <a:avLst>
              <a:gd name="adj" fmla="val 10000"/>
            </a:avLst>
          </a:prstGeom>
          <a:solidFill>
            <a:srgbClr val="2E1065"/>
          </a:solidFill>
          <a:ln>
            <a:noFill/>
          </a:ln>
          <a:effectLst>
            <a:outerShdw blurRad="177800" dist="38100" dir="5400000" algn="ctr" rotWithShape="0">
              <a:srgbClr val="1B0F33">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36576" rIns="36576" tIns="0" bIns="0">
            <a:noAutofit/>
          </a:bodyPr>
          <a:lstStyle/>
          <a:p>
            <a:pPr algn="ctr">
              <a:lnSpc>
                <a:spcPct val="100000"/>
              </a:lnSpc>
              <a:spcBef>
                <a:spcPts val="0"/>
              </a:spcBef>
              <a:spcAft>
                <a:spcPts val="0"/>
              </a:spcAft>
            </a:pPr>
            <a:r>
              <a:rPr sz="1100" b="0" i="0" lang="fr-FR">
                <a:solidFill>
                  <a:srgbClr val="FFFFFF"/>
                </a:solidFill>
                <a:latin typeface="Arial"/>
              </a:rPr>
              <a:t>Hyperviseur</a:t>
            </a:r>
          </a:p>
        </p:txBody>
      </p:sp>
      <p:sp>
        <p:nvSpPr>
          <p:cNvPr id="10" name="StackPhys"/>
          <p:cNvSpPr/>
          <p:nvPr/>
        </p:nvSpPr>
        <p:spPr>
          <a:xfrm>
            <a:off x="731520" y="4617720"/>
            <a:ext cx="3931920" cy="502920"/>
          </a:xfrm>
          <a:prstGeom prst="roundRect">
            <a:avLst>
              <a:gd name="adj" fmla="val 10000"/>
            </a:avLst>
          </a:prstGeom>
          <a:solidFill>
            <a:srgbClr val="1B0F33"/>
          </a:solidFill>
          <a:ln>
            <a:noFill/>
          </a:ln>
          <a:effectLst>
            <a:outerShdw blurRad="177800" dist="38100" dir="5400000" algn="ctr" rotWithShape="0">
              <a:srgbClr val="1B0F33">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36576" rIns="36576" tIns="0" bIns="0">
            <a:noAutofit/>
          </a:bodyPr>
          <a:lstStyle/>
          <a:p>
            <a:pPr algn="ctr">
              <a:lnSpc>
                <a:spcPct val="100000"/>
              </a:lnSpc>
              <a:spcBef>
                <a:spcPts val="0"/>
              </a:spcBef>
              <a:spcAft>
                <a:spcPts val="0"/>
              </a:spcAft>
            </a:pPr>
            <a:r>
              <a:rPr sz="1100" b="0" i="0" lang="fr-FR">
                <a:solidFill>
                  <a:srgbClr val="FFFFFF"/>
                </a:solidFill>
                <a:latin typeface="Arial"/>
              </a:rPr>
              <a:t>Serveur physique</a:t>
            </a:r>
          </a:p>
        </p:txBody>
      </p:sp>
      <p:cxnSp>
        <p:nvCxnSpPr>
          <p:cNvPr id="11" name="Connector 10"/>
          <p:cNvCxnSpPr/>
          <p:nvPr/>
        </p:nvCxnSpPr>
        <p:spPr>
          <a:xfrm flipV="1">
            <a:off x="4892040" y="2194560"/>
            <a:ext cx="0" cy="2697480"/>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Cons1"/>
          <p:cNvSpPr/>
          <p:nvPr/>
        </p:nvSpPr>
        <p:spPr>
          <a:xfrm>
            <a:off x="5440680" y="1965960"/>
            <a:ext cx="6080760" cy="868680"/>
          </a:xfrm>
          <a:prstGeom prst="roundRect">
            <a:avLst>
              <a:gd name="adj" fmla="val 6000"/>
            </a:avLst>
          </a:prstGeom>
          <a:solidFill>
            <a:srgbClr val="FFFFFF"/>
          </a:solidFill>
          <a:ln w="12700">
            <a:solidFill>
              <a:srgbClr val="C4B5FD"/>
            </a:solidFill>
          </a:ln>
          <a:effectLst>
            <a:outerShdw blurRad="177800" dist="38100" dir="5400000" algn="ctr" rotWithShape="0">
              <a:srgbClr val="1B0F33">
                <a:alpha val="18000"/>
              </a:srgbClr>
            </a:outerShdw>
          </a:effectLst>
        </p:spPr>
        <p:style>
          <a:lnRef idx="1">
            <a:schemeClr val="accent1"/>
          </a:lnRef>
          <a:fillRef idx="3">
            <a:schemeClr val="accent1"/>
          </a:fillRef>
          <a:effectRef idx="2">
            <a:schemeClr val="accent1"/>
          </a:effectRef>
          <a:fontRef idx="minor">
            <a:schemeClr val="lt1"/>
          </a:fontRef>
        </p:style>
        <p:txBody>
          <a:bodyPr rtlCol="0" anchor="t" wrap="none" lIns="182880" rIns="182880" tIns="146304" bIns="146304">
            <a:noAutofit/>
          </a:bodyPr>
          <a:lstStyle/>
          <a:p>
            <a:pPr>
              <a:lnSpc>
                <a:spcPct val="106000"/>
              </a:lnSpc>
              <a:spcBef>
                <a:spcPts val="0"/>
              </a:spcBef>
              <a:spcAft>
                <a:spcPts val="200"/>
              </a:spcAft>
            </a:pPr>
            <a:r>
              <a:rPr sz="1500" b="1" i="0" lang="fr-FR">
                <a:solidFill>
                  <a:srgbClr val="2E1065"/>
                </a:solidFill>
                <a:latin typeface="Arial"/>
              </a:rPr>
              <a:t>Isolation</a:t>
            </a:r>
          </a:p>
          <a:p>
            <a:pPr>
              <a:lnSpc>
                <a:spcPct val="106000"/>
              </a:lnSpc>
              <a:spcBef>
                <a:spcPts val="0"/>
              </a:spcBef>
              <a:spcAft>
                <a:spcPts val="0"/>
              </a:spcAft>
            </a:pPr>
            <a:r>
              <a:rPr sz="1100" b="0" i="0" lang="fr-FR">
                <a:solidFill>
                  <a:srgbClr val="6B7280"/>
                </a:solidFill>
                <a:latin typeface="Arial"/>
              </a:rPr>
              <a:t>Une frontière logique, pas physique.</a:t>
            </a:r>
          </a:p>
        </p:txBody>
      </p:sp>
      <p:sp>
        <p:nvSpPr>
          <p:cNvPr id="13" name="Cons2"/>
          <p:cNvSpPr/>
          <p:nvPr/>
        </p:nvSpPr>
        <p:spPr>
          <a:xfrm>
            <a:off x="5440680" y="2880360"/>
            <a:ext cx="6080760" cy="868680"/>
          </a:xfrm>
          <a:prstGeom prst="roundRect">
            <a:avLst>
              <a:gd name="adj" fmla="val 6000"/>
            </a:avLst>
          </a:prstGeom>
          <a:solidFill>
            <a:srgbClr val="FFFFFF"/>
          </a:solidFill>
          <a:ln w="12700">
            <a:solidFill>
              <a:srgbClr val="C4B5FD"/>
            </a:solidFill>
          </a:ln>
          <a:effectLst>
            <a:outerShdw blurRad="177800" dist="38100" dir="5400000" algn="ctr" rotWithShape="0">
              <a:srgbClr val="1B0F33">
                <a:alpha val="18000"/>
              </a:srgbClr>
            </a:outerShdw>
          </a:effectLst>
        </p:spPr>
        <p:style>
          <a:lnRef idx="1">
            <a:schemeClr val="accent1"/>
          </a:lnRef>
          <a:fillRef idx="3">
            <a:schemeClr val="accent1"/>
          </a:fillRef>
          <a:effectRef idx="2">
            <a:schemeClr val="accent1"/>
          </a:effectRef>
          <a:fontRef idx="minor">
            <a:schemeClr val="lt1"/>
          </a:fontRef>
        </p:style>
        <p:txBody>
          <a:bodyPr rtlCol="0" anchor="t" wrap="none" lIns="182880" rIns="182880" tIns="146304" bIns="146304">
            <a:noAutofit/>
          </a:bodyPr>
          <a:lstStyle/>
          <a:p>
            <a:pPr>
              <a:lnSpc>
                <a:spcPct val="106000"/>
              </a:lnSpc>
              <a:spcBef>
                <a:spcPts val="0"/>
              </a:spcBef>
              <a:spcAft>
                <a:spcPts val="200"/>
              </a:spcAft>
            </a:pPr>
            <a:r>
              <a:rPr sz="1500" b="1" i="0" lang="fr-FR">
                <a:solidFill>
                  <a:srgbClr val="2E1065"/>
                </a:solidFill>
                <a:latin typeface="Arial"/>
              </a:rPr>
              <a:t>Mutualisation</a:t>
            </a:r>
          </a:p>
          <a:p>
            <a:pPr>
              <a:lnSpc>
                <a:spcPct val="106000"/>
              </a:lnSpc>
              <a:spcBef>
                <a:spcPts val="0"/>
              </a:spcBef>
              <a:spcAft>
                <a:spcPts val="0"/>
              </a:spcAft>
            </a:pPr>
            <a:r>
              <a:rPr sz="1100" b="0" i="0" lang="fr-FR">
                <a:solidFill>
                  <a:srgbClr val="6B7280"/>
                </a:solidFill>
                <a:latin typeface="Arial"/>
              </a:rPr>
              <a:t>Un socle partagé, donc une surface partagée.</a:t>
            </a:r>
          </a:p>
        </p:txBody>
      </p:sp>
      <p:sp>
        <p:nvSpPr>
          <p:cNvPr id="14" name="Cons3"/>
          <p:cNvSpPr/>
          <p:nvPr/>
        </p:nvSpPr>
        <p:spPr>
          <a:xfrm>
            <a:off x="5440680" y="3794760"/>
            <a:ext cx="6080760" cy="868680"/>
          </a:xfrm>
          <a:prstGeom prst="roundRect">
            <a:avLst>
              <a:gd name="adj" fmla="val 6000"/>
            </a:avLst>
          </a:prstGeom>
          <a:solidFill>
            <a:srgbClr val="FFFFFF"/>
          </a:solidFill>
          <a:ln w="12700">
            <a:solidFill>
              <a:srgbClr val="C4B5FD"/>
            </a:solidFill>
          </a:ln>
          <a:effectLst>
            <a:outerShdw blurRad="177800" dist="38100" dir="5400000" algn="ctr" rotWithShape="0">
              <a:srgbClr val="1B0F33">
                <a:alpha val="18000"/>
              </a:srgbClr>
            </a:outerShdw>
          </a:effectLst>
        </p:spPr>
        <p:style>
          <a:lnRef idx="1">
            <a:schemeClr val="accent1"/>
          </a:lnRef>
          <a:fillRef idx="3">
            <a:schemeClr val="accent1"/>
          </a:fillRef>
          <a:effectRef idx="2">
            <a:schemeClr val="accent1"/>
          </a:effectRef>
          <a:fontRef idx="minor">
            <a:schemeClr val="lt1"/>
          </a:fontRef>
        </p:style>
        <p:txBody>
          <a:bodyPr rtlCol="0" anchor="t" wrap="none" lIns="182880" rIns="182880" tIns="146304" bIns="146304">
            <a:noAutofit/>
          </a:bodyPr>
          <a:lstStyle/>
          <a:p>
            <a:pPr>
              <a:lnSpc>
                <a:spcPct val="106000"/>
              </a:lnSpc>
              <a:spcBef>
                <a:spcPts val="0"/>
              </a:spcBef>
              <a:spcAft>
                <a:spcPts val="200"/>
              </a:spcAft>
            </a:pPr>
            <a:r>
              <a:rPr sz="1500" b="1" i="0" lang="fr-FR">
                <a:solidFill>
                  <a:srgbClr val="2E1065"/>
                </a:solidFill>
                <a:latin typeface="Arial"/>
              </a:rPr>
              <a:t>Surface logicielle</a:t>
            </a:r>
          </a:p>
          <a:p>
            <a:pPr>
              <a:lnSpc>
                <a:spcPct val="106000"/>
              </a:lnSpc>
              <a:spcBef>
                <a:spcPts val="0"/>
              </a:spcBef>
              <a:spcAft>
                <a:spcPts val="0"/>
              </a:spcAft>
            </a:pPr>
            <a:r>
              <a:rPr sz="1100" b="0" i="0" lang="fr-FR">
                <a:solidFill>
                  <a:srgbClr val="6B7280"/>
                </a:solidFill>
                <a:latin typeface="Arial"/>
              </a:rPr>
              <a:t>Le contrôle s'exerce par des interfaces.</a:t>
            </a:r>
          </a:p>
        </p:txBody>
      </p:sp>
      <p:sp>
        <p:nvSpPr>
          <p:cNvPr id="15" name="TextBox 14"/>
          <p:cNvSpPr txBox="1"/>
          <p:nvPr/>
        </p:nvSpPr>
        <p:spPr>
          <a:xfrm>
            <a:off x="731520" y="5486400"/>
            <a:ext cx="10698480" cy="411480"/>
          </a:xfrm>
          <a:prstGeom prst="rect">
            <a:avLst/>
          </a:prstGeom>
          <a:noFill/>
        </p:spPr>
        <p:txBody>
          <a:bodyPr wrap="none" anchor="t" lIns="0" rIns="0" tIns="0" bIns="0">
            <a:noAutofit/>
          </a:bodyPr>
          <a:lstStyle/>
          <a:p>
            <a:pPr algn="l">
              <a:lnSpc>
                <a:spcPct val="105000"/>
              </a:lnSpc>
              <a:spcBef>
                <a:spcPts val="0"/>
              </a:spcBef>
              <a:spcAft>
                <a:spcPts val="0"/>
              </a:spcAft>
            </a:pPr>
            <a:r>
              <a:rPr sz="1650" b="1" i="0" lang="fr-FR">
                <a:solidFill>
                  <a:srgbClr val="6D28D9"/>
                </a:solidFill>
                <a:latin typeface="Arial"/>
              </a:rPr>
              <a:t>Conséquence : la sécurité se déplace de la machine vers l'identité et l'interface.</a:t>
            </a:r>
          </a:p>
        </p:txBody>
      </p:sp>
      <p:sp>
        <p:nvSpPr>
          <p:cNvPr id="16" name="Source"/>
          <p:cNvSpPr txBox="1"/>
          <p:nvPr/>
        </p:nvSpPr>
        <p:spPr>
          <a:xfrm>
            <a:off x="640080" y="6382512"/>
            <a:ext cx="10271455" cy="219456"/>
          </a:xfrm>
          <a:prstGeom prst="rect">
            <a:avLst/>
          </a:prstGeom>
          <a:noFill/>
        </p:spPr>
        <p:txBody>
          <a:bodyPr wrap="none" anchor="t" lIns="0" rIns="0" tIns="0" bIns="0">
            <a:noAutofit/>
          </a:bodyPr>
          <a:lstStyle/>
          <a:p>
            <a:pPr algn="l">
              <a:lnSpc>
                <a:spcPct val="105000"/>
              </a:lnSpc>
              <a:spcBef>
                <a:spcPts val="0"/>
              </a:spcBef>
              <a:spcAft>
                <a:spcPts val="0"/>
              </a:spcAft>
            </a:pPr>
            <a:r>
              <a:rPr sz="850" b="0" i="0" lang="fr-FR">
                <a:solidFill>
                  <a:srgbClr val="5B5563"/>
                </a:solidFill>
                <a:latin typeface="Arial"/>
              </a:rPr>
              <a:t>Synthèse d'après NIST SP 800-145 et CSA.</a:t>
            </a:r>
          </a:p>
        </p:txBody>
      </p:sp>
      <p:sp>
        <p:nvSpPr>
          <p:cNvPr id="17" name="Numero"/>
          <p:cNvSpPr txBox="1"/>
          <p:nvPr/>
        </p:nvSpPr>
        <p:spPr>
          <a:xfrm>
            <a:off x="10728655" y="6419088"/>
            <a:ext cx="822960" cy="201168"/>
          </a:xfrm>
          <a:prstGeom prst="rect">
            <a:avLst/>
          </a:prstGeom>
          <a:noFill/>
        </p:spPr>
        <p:txBody>
          <a:bodyPr wrap="none" anchor="t" lIns="0" rIns="0" tIns="0" bIns="0">
            <a:noAutofit/>
          </a:bodyPr>
          <a:lstStyle/>
          <a:p>
            <a:pPr algn="r">
              <a:lnSpc>
                <a:spcPct val="105000"/>
              </a:lnSpc>
              <a:spcBef>
                <a:spcPts val="0"/>
              </a:spcBef>
              <a:spcAft>
                <a:spcPts val="0"/>
              </a:spcAft>
            </a:pPr>
            <a:r>
              <a:rPr sz="850" b="1" i="0" lang="fr-FR">
                <a:solidFill>
                  <a:srgbClr val="6B7280"/>
                </a:solidFill>
                <a:latin typeface="Arial"/>
              </a:rPr>
              <a:t>05 / 16</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00" fill="hold">
                      <p:stCondLst>
                        <p:cond delay="indefinite"/>
                      </p:stCondLst>
                      <p:childTnLst>
                        <p:par>
                          <p:cTn id="101" fill="hold">
                            <p:stCondLst>
                              <p:cond delay="0"/>
                            </p:stCondLst>
                            <p:childTnLst>
                              <p:par>
                                <p:cTn id="110" presetID="10" presetClass="entr" presetSubtype="0" fill="hold" nodeType="clickEffect">
                                  <p:stCondLst>
                                    <p:cond delay="0"/>
                                  </p:stCondLst>
                                  <p:childTnLst>
                                    <p:set>
                                      <p:cBhvr>
                                        <p:cTn id="111" dur="1" fill="hold">
                                          <p:stCondLst>
                                            <p:cond delay="0"/>
                                          </p:stCondLst>
                                        </p:cTn>
                                        <p:tgtEl>
                                          <p:spTgt spid="10"/>
                                        </p:tgtEl>
                                        <p:attrNameLst>
                                          <p:attrName>style.visibility</p:attrName>
                                        </p:attrNameLst>
                                      </p:cBhvr>
                                      <p:to>
                                        <p:strVal val="visible"/>
                                      </p:to>
                                    </p:set>
                                    <p:animEffect transition="in" filter="fade">
                                      <p:cBhvr>
                                        <p:cTn id="112" dur="450"/>
                                        <p:tgtEl>
                                          <p:spTgt spid="10"/>
                                        </p:tgtEl>
                                      </p:cBhvr>
                                    </p:animEffect>
                                  </p:childTnLst>
                                </p:cTn>
                              </p:par>
                              <p:par>
                                <p:cTn id="115" presetID="10" presetClass="entr" presetSubtype="0" fill="hold" nodeType="clickEffect">
                                  <p:stCondLst>
                                    <p:cond delay="100"/>
                                  </p:stCondLst>
                                  <p:childTnLst>
                                    <p:set>
                                      <p:cBhvr>
                                        <p:cTn id="116" dur="1" fill="hold">
                                          <p:stCondLst>
                                            <p:cond delay="0"/>
                                          </p:stCondLst>
                                        </p:cTn>
                                        <p:tgtEl>
                                          <p:spTgt spid="9"/>
                                        </p:tgtEl>
                                        <p:attrNameLst>
                                          <p:attrName>style.visibility</p:attrName>
                                        </p:attrNameLst>
                                      </p:cBhvr>
                                      <p:to>
                                        <p:strVal val="visible"/>
                                      </p:to>
                                    </p:set>
                                    <p:animEffect transition="in" filter="fade">
                                      <p:cBhvr>
                                        <p:cTn id="117" dur="450"/>
                                        <p:tgtEl>
                                          <p:spTgt spid="9"/>
                                        </p:tgtEl>
                                      </p:cBhvr>
                                    </p:animEffect>
                                  </p:childTnLst>
                                </p:cTn>
                              </p:par>
                            </p:childTnLst>
                          </p:cTn>
                        </p:par>
                      </p:childTnLst>
                    </p:cTn>
                  </p:par>
                  <p:par>
                    <p:cTn id="120" fill="hold">
                      <p:stCondLst>
                        <p:cond delay="indefinite"/>
                      </p:stCondLst>
                      <p:childTnLst>
                        <p:par>
                          <p:cTn id="121" fill="hold">
                            <p:stCondLst>
                              <p:cond delay="0"/>
                            </p:stCondLst>
                            <p:childTnLst>
                              <p:par>
                                <p:cTn id="130" presetID="10" presetClass="entr" presetSubtype="0" fill="hold" nodeType="clickEffect">
                                  <p:stCondLst>
                                    <p:cond delay="0"/>
                                  </p:stCondLst>
                                  <p:childTnLst>
                                    <p:set>
                                      <p:cBhvr>
                                        <p:cTn id="131" dur="1" fill="hold">
                                          <p:stCondLst>
                                            <p:cond delay="0"/>
                                          </p:stCondLst>
                                        </p:cTn>
                                        <p:tgtEl>
                                          <p:spTgt spid="8"/>
                                        </p:tgtEl>
                                        <p:attrNameLst>
                                          <p:attrName>style.visibility</p:attrName>
                                        </p:attrNameLst>
                                      </p:cBhvr>
                                      <p:to>
                                        <p:strVal val="visible"/>
                                      </p:to>
                                    </p:set>
                                    <p:animEffect transition="in" filter="fade">
                                      <p:cBhvr>
                                        <p:cTn id="132" dur="450"/>
                                        <p:tgtEl>
                                          <p:spTgt spid="8"/>
                                        </p:tgtEl>
                                      </p:cBhvr>
                                    </p:animEffect>
                                  </p:childTnLst>
                                </p:cTn>
                              </p:par>
                              <p:par>
                                <p:cTn id="135" presetID="10" presetClass="entr" presetSubtype="0" fill="hold" nodeType="clickEffect">
                                  <p:stCondLst>
                                    <p:cond delay="100"/>
                                  </p:stCondLst>
                                  <p:childTnLst>
                                    <p:set>
                                      <p:cBhvr>
                                        <p:cTn id="136" dur="1" fill="hold">
                                          <p:stCondLst>
                                            <p:cond delay="0"/>
                                          </p:stCondLst>
                                        </p:cTn>
                                        <p:tgtEl>
                                          <p:spTgt spid="7"/>
                                        </p:tgtEl>
                                        <p:attrNameLst>
                                          <p:attrName>style.visibility</p:attrName>
                                        </p:attrNameLst>
                                      </p:cBhvr>
                                      <p:to>
                                        <p:strVal val="visible"/>
                                      </p:to>
                                    </p:set>
                                    <p:animEffect transition="in" filter="fade">
                                      <p:cBhvr>
                                        <p:cTn id="137" dur="450"/>
                                        <p:tgtEl>
                                          <p:spTgt spid="7"/>
                                        </p:tgtEl>
                                      </p:cBhvr>
                                    </p:animEffect>
                                  </p:childTnLst>
                                </p:cTn>
                              </p:par>
                            </p:childTnLst>
                          </p:cTn>
                        </p:par>
                      </p:childTnLst>
                    </p:cTn>
                  </p:par>
                  <p:par>
                    <p:cTn id="140" fill="hold">
                      <p:stCondLst>
                        <p:cond delay="indefinite"/>
                      </p:stCondLst>
                      <p:childTnLst>
                        <p:par>
                          <p:cTn id="141" fill="hold">
                            <p:stCondLst>
                              <p:cond delay="0"/>
                            </p:stCondLst>
                            <p:childTnLst>
                              <p:par>
                                <p:cTn id="150" presetID="10" presetClass="entr" presetSubtype="0" fill="hold" nodeType="clickEffect">
                                  <p:stCondLst>
                                    <p:cond delay="0"/>
                                  </p:stCondLst>
                                  <p:childTnLst>
                                    <p:set>
                                      <p:cBhvr>
                                        <p:cTn id="151" dur="1" fill="hold">
                                          <p:stCondLst>
                                            <p:cond delay="0"/>
                                          </p:stCondLst>
                                        </p:cTn>
                                        <p:tgtEl>
                                          <p:spTgt spid="6"/>
                                        </p:tgtEl>
                                        <p:attrNameLst>
                                          <p:attrName>style.visibility</p:attrName>
                                        </p:attrNameLst>
                                      </p:cBhvr>
                                      <p:to>
                                        <p:strVal val="visible"/>
                                      </p:to>
                                    </p:set>
                                    <p:animEffect transition="in" filter="fade">
                                      <p:cBhvr>
                                        <p:cTn id="152" dur="450"/>
                                        <p:tgtEl>
                                          <p:spTgt spid="6"/>
                                        </p:tgtEl>
                                      </p:cBhvr>
                                    </p:animEffect>
                                  </p:childTnLst>
                                </p:cTn>
                              </p:par>
                              <p:par>
                                <p:cTn id="155" presetID="10" presetClass="entr" presetSubtype="0" fill="hold" nodeType="clickEffect">
                                  <p:stCondLst>
                                    <p:cond delay="100"/>
                                  </p:stCondLst>
                                  <p:childTnLst>
                                    <p:set>
                                      <p:cBhvr>
                                        <p:cTn id="156" dur="1" fill="hold">
                                          <p:stCondLst>
                                            <p:cond delay="0"/>
                                          </p:stCondLst>
                                        </p:cTn>
                                        <p:tgtEl>
                                          <p:spTgt spid="11"/>
                                        </p:tgtEl>
                                        <p:attrNameLst>
                                          <p:attrName>style.visibility</p:attrName>
                                        </p:attrNameLst>
                                      </p:cBhvr>
                                      <p:to>
                                        <p:strVal val="visible"/>
                                      </p:to>
                                    </p:set>
                                    <p:animEffect transition="in" filter="fade">
                                      <p:cBhvr>
                                        <p:cTn id="157" dur="450"/>
                                        <p:tgtEl>
                                          <p:spTgt spid="11"/>
                                        </p:tgtEl>
                                      </p:cBhvr>
                                    </p:animEffect>
                                  </p:childTnLst>
                                </p:cTn>
                              </p:par>
                            </p:childTnLst>
                          </p:cTn>
                        </p:par>
                      </p:childTnLst>
                    </p:cTn>
                  </p:par>
                  <p:par>
                    <p:cTn id="160" fill="hold">
                      <p:stCondLst>
                        <p:cond delay="indefinite"/>
                      </p:stCondLst>
                      <p:childTnLst>
                        <p:par>
                          <p:cTn id="161" fill="hold">
                            <p:stCondLst>
                              <p:cond delay="0"/>
                            </p:stCondLst>
                            <p:childTnLst>
                              <p:par>
                                <p:cTn id="170" presetID="10" presetClass="entr" presetSubtype="0" fill="hold" nodeType="clickEffect">
                                  <p:stCondLst>
                                    <p:cond delay="0"/>
                                  </p:stCondLst>
                                  <p:childTnLst>
                                    <p:set>
                                      <p:cBhvr>
                                        <p:cTn id="171" dur="1" fill="hold">
                                          <p:stCondLst>
                                            <p:cond delay="0"/>
                                          </p:stCondLst>
                                        </p:cTn>
                                        <p:tgtEl>
                                          <p:spTgt spid="12"/>
                                        </p:tgtEl>
                                        <p:attrNameLst>
                                          <p:attrName>style.visibility</p:attrName>
                                        </p:attrNameLst>
                                      </p:cBhvr>
                                      <p:to>
                                        <p:strVal val="visible"/>
                                      </p:to>
                                    </p:set>
                                    <p:animEffect transition="in" filter="fade">
                                      <p:cBhvr>
                                        <p:cTn id="172" dur="450"/>
                                        <p:tgtEl>
                                          <p:spTgt spid="12"/>
                                        </p:tgtEl>
                                      </p:cBhvr>
                                    </p:animEffect>
                                  </p:childTnLst>
                                </p:cTn>
                              </p:par>
                              <p:par>
                                <p:cTn id="175" presetID="10" presetClass="entr" presetSubtype="0" fill="hold" nodeType="clickEffect">
                                  <p:stCondLst>
                                    <p:cond delay="100"/>
                                  </p:stCondLst>
                                  <p:childTnLst>
                                    <p:set>
                                      <p:cBhvr>
                                        <p:cTn id="176" dur="1" fill="hold">
                                          <p:stCondLst>
                                            <p:cond delay="0"/>
                                          </p:stCondLst>
                                        </p:cTn>
                                        <p:tgtEl>
                                          <p:spTgt spid="13"/>
                                        </p:tgtEl>
                                        <p:attrNameLst>
                                          <p:attrName>style.visibility</p:attrName>
                                        </p:attrNameLst>
                                      </p:cBhvr>
                                      <p:to>
                                        <p:strVal val="visible"/>
                                      </p:to>
                                    </p:set>
                                    <p:animEffect transition="in" filter="fade">
                                      <p:cBhvr>
                                        <p:cTn id="177" dur="450"/>
                                        <p:tgtEl>
                                          <p:spTgt spid="13"/>
                                        </p:tgtEl>
                                      </p:cBhvr>
                                    </p:animEffect>
                                  </p:childTnLst>
                                </p:cTn>
                              </p:par>
                              <p:par>
                                <p:cTn id="180" presetID="10" presetClass="entr" presetSubtype="0" fill="hold" nodeType="clickEffect">
                                  <p:stCondLst>
                                    <p:cond delay="200"/>
                                  </p:stCondLst>
                                  <p:childTnLst>
                                    <p:set>
                                      <p:cBhvr>
                                        <p:cTn id="181" dur="1" fill="hold">
                                          <p:stCondLst>
                                            <p:cond delay="0"/>
                                          </p:stCondLst>
                                        </p:cTn>
                                        <p:tgtEl>
                                          <p:spTgt spid="14"/>
                                        </p:tgtEl>
                                        <p:attrNameLst>
                                          <p:attrName>style.visibility</p:attrName>
                                        </p:attrNameLst>
                                      </p:cBhvr>
                                      <p:to>
                                        <p:strVal val="visible"/>
                                      </p:to>
                                    </p:set>
                                    <p:animEffect transition="in" filter="fade">
                                      <p:cBhvr>
                                        <p:cTn id="182" dur="450"/>
                                        <p:tgtEl>
                                          <p:spTgt spid="14"/>
                                        </p:tgtEl>
                                      </p:cBhvr>
                                    </p:animEffect>
                                  </p:childTnLst>
                                </p:cTn>
                              </p:par>
                              <p:par>
                                <p:cTn id="185" presetID="10" presetClass="entr" presetSubtype="0" fill="hold" nodeType="clickEffect">
                                  <p:stCondLst>
                                    <p:cond delay="300"/>
                                  </p:stCondLst>
                                  <p:childTnLst>
                                    <p:set>
                                      <p:cBhvr>
                                        <p:cTn id="186" dur="1" fill="hold">
                                          <p:stCondLst>
                                            <p:cond delay="0"/>
                                          </p:stCondLst>
                                        </p:cTn>
                                        <p:tgtEl>
                                          <p:spTgt spid="15"/>
                                        </p:tgtEl>
                                        <p:attrNameLst>
                                          <p:attrName>style.visibility</p:attrName>
                                        </p:attrNameLst>
                                      </p:cBhvr>
                                      <p:to>
                                        <p:strVal val="visible"/>
                                      </p:to>
                                    </p:set>
                                    <p:animEffect transition="in" filter="fade">
                                      <p:cBhvr>
                                        <p:cTn id="187" dur="4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 name="Fond" descr="bg_light.jpg"/>
          <p:cNvPicPr>
            <a:picLocks noChangeAspect="1"/>
          </p:cNvPicPr>
          <p:nvPr/>
        </p:nvPicPr>
        <p:blipFill>
          <a:blip r:embed="rId2"/>
          <a:stretch>
            <a:fillRect/>
          </a:stretch>
        </p:blipFill>
        <p:spPr>
          <a:xfrm>
            <a:off x="0" y="0"/>
            <a:ext cx="12191695" cy="6858000"/>
          </a:xfrm>
          <a:prstGeom prst="rect">
            <a:avLst/>
          </a:prstGeom>
        </p:spPr>
      </p:pic>
      <p:sp>
        <p:nvSpPr>
          <p:cNvPr id="2" name="Section"/>
          <p:cNvSpPr txBox="1"/>
          <p:nvPr/>
        </p:nvSpPr>
        <p:spPr>
          <a:xfrm>
            <a:off x="640080" y="301752"/>
            <a:ext cx="3657600" cy="256032"/>
          </a:xfrm>
          <a:prstGeom prst="rect">
            <a:avLst/>
          </a:prstGeom>
          <a:noFill/>
        </p:spPr>
        <p:txBody>
          <a:bodyPr wrap="none" anchor="t" lIns="0" rIns="0" tIns="0" bIns="0">
            <a:noAutofit/>
          </a:bodyPr>
          <a:lstStyle/>
          <a:p>
            <a:pPr algn="l">
              <a:lnSpc>
                <a:spcPct val="105000"/>
              </a:lnSpc>
              <a:spcBef>
                <a:spcPts val="0"/>
              </a:spcBef>
              <a:spcAft>
                <a:spcPts val="0"/>
              </a:spcAft>
            </a:pPr>
            <a:r>
              <a:rPr sz="900" b="1" i="0" spc="140" lang="fr-FR">
                <a:solidFill>
                  <a:srgbClr val="6D28D9"/>
                </a:solidFill>
                <a:latin typeface="Arial"/>
              </a:rPr>
              <a:t>02 · MENACES</a:t>
            </a:r>
          </a:p>
        </p:txBody>
      </p:sp>
      <p:sp>
        <p:nvSpPr>
          <p:cNvPr id="3" name="Monogramme"/>
          <p:cNvSpPr txBox="1"/>
          <p:nvPr/>
        </p:nvSpPr>
        <p:spPr>
          <a:xfrm>
            <a:off x="10454335" y="301752"/>
            <a:ext cx="1097280" cy="256032"/>
          </a:xfrm>
          <a:prstGeom prst="rect">
            <a:avLst/>
          </a:prstGeom>
          <a:noFill/>
        </p:spPr>
        <p:txBody>
          <a:bodyPr wrap="none" anchor="t" lIns="0" rIns="0" tIns="0" bIns="0">
            <a:noAutofit/>
          </a:bodyPr>
          <a:lstStyle/>
          <a:p>
            <a:pPr algn="r">
              <a:lnSpc>
                <a:spcPct val="105000"/>
              </a:lnSpc>
              <a:spcBef>
                <a:spcPts val="0"/>
              </a:spcBef>
              <a:spcAft>
                <a:spcPts val="0"/>
              </a:spcAft>
            </a:pPr>
            <a:r>
              <a:rPr sz="850" b="1" i="0" spc="120" lang="fr-FR">
                <a:solidFill>
                  <a:srgbClr val="7C6F8F"/>
                </a:solidFill>
                <a:latin typeface="Arial"/>
              </a:rPr>
              <a:t>SC · 2026</a:t>
            </a:r>
          </a:p>
        </p:txBody>
      </p:sp>
      <p:sp>
        <p:nvSpPr>
          <p:cNvPr id="4" name="AccentTitre"/>
          <p:cNvSpPr/>
          <p:nvPr/>
        </p:nvSpPr>
        <p:spPr>
          <a:xfrm>
            <a:off x="640080" y="877824"/>
            <a:ext cx="50292" cy="45720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itre"/>
          <p:cNvSpPr txBox="1"/>
          <p:nvPr/>
        </p:nvSpPr>
        <p:spPr>
          <a:xfrm>
            <a:off x="841247" y="822960"/>
            <a:ext cx="10710367" cy="914400"/>
          </a:xfrm>
          <a:prstGeom prst="rect">
            <a:avLst/>
          </a:prstGeom>
          <a:noFill/>
        </p:spPr>
        <p:txBody>
          <a:bodyPr wrap="none" anchor="t" lIns="0" rIns="0" tIns="0" bIns="0">
            <a:noAutofit/>
          </a:bodyPr>
          <a:lstStyle/>
          <a:p>
            <a:pPr algn="l">
              <a:lnSpc>
                <a:spcPct val="98000"/>
              </a:lnSpc>
              <a:spcBef>
                <a:spcPts val="0"/>
              </a:spcBef>
              <a:spcAft>
                <a:spcPts val="0"/>
              </a:spcAft>
            </a:pPr>
            <a:r>
              <a:rPr sz="2800" b="1" i="0" lang="fr-FR">
                <a:solidFill>
                  <a:srgbClr val="2E1065"/>
                </a:solidFill>
                <a:latin typeface="Arial"/>
              </a:rPr>
              <a:t>Les menaces ne disparaissent pas : elles se déplacent</a:t>
            </a:r>
          </a:p>
        </p:txBody>
      </p:sp>
      <p:sp>
        <p:nvSpPr>
          <p:cNvPr id="6" name="Menace1"/>
          <p:cNvSpPr/>
          <p:nvPr/>
        </p:nvSpPr>
        <p:spPr>
          <a:xfrm>
            <a:off x="640080" y="1965960"/>
            <a:ext cx="5349240" cy="1645920"/>
          </a:xfrm>
          <a:prstGeom prst="roundRect">
            <a:avLst>
              <a:gd name="adj" fmla="val 6000"/>
            </a:avLst>
          </a:prstGeom>
          <a:solidFill>
            <a:srgbClr val="FFFFFF"/>
          </a:solidFill>
          <a:ln w="12700">
            <a:solidFill>
              <a:srgbClr val="C4B5FD"/>
            </a:solidFill>
          </a:ln>
          <a:effectLst>
            <a:outerShdw blurRad="177800" dist="38100" dir="5400000" algn="ctr" rotWithShape="0">
              <a:srgbClr val="1B0F33">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182880" rIns="182880" tIns="146304" bIns="146304">
            <a:noAutofit/>
          </a:bodyPr>
          <a:lstStyle/>
          <a:p>
            <a:pPr>
              <a:lnSpc>
                <a:spcPct val="106000"/>
              </a:lnSpc>
              <a:spcBef>
                <a:spcPts val="0"/>
              </a:spcBef>
              <a:spcAft>
                <a:spcPts val="200"/>
              </a:spcAft>
            </a:pPr>
            <a:r>
              <a:rPr sz="1000" b="1" i="0" spc="140" lang="fr-FR">
                <a:solidFill>
                  <a:srgbClr val="B45309"/>
                </a:solidFill>
                <a:latin typeface="Arial"/>
              </a:rPr>
              <a:t>ID</a:t>
            </a:r>
          </a:p>
          <a:p>
            <a:pPr>
              <a:lnSpc>
                <a:spcPct val="106000"/>
              </a:lnSpc>
              <a:spcBef>
                <a:spcPts val="0"/>
              </a:spcBef>
              <a:spcAft>
                <a:spcPts val="400"/>
              </a:spcAft>
            </a:pPr>
            <a:r>
              <a:rPr sz="2000" b="1" i="0" lang="fr-FR">
                <a:solidFill>
                  <a:srgbClr val="2E1065"/>
                </a:solidFill>
                <a:latin typeface="Arial"/>
              </a:rPr>
              <a:t>Identités</a:t>
            </a:r>
          </a:p>
          <a:p>
            <a:pPr>
              <a:lnSpc>
                <a:spcPct val="106000"/>
              </a:lnSpc>
              <a:spcBef>
                <a:spcPts val="0"/>
              </a:spcBef>
              <a:spcAft>
                <a:spcPts val="0"/>
              </a:spcAft>
            </a:pPr>
            <a:r>
              <a:rPr sz="1200" b="0" i="0" lang="fr-FR">
                <a:solidFill>
                  <a:srgbClr val="6B7280"/>
                </a:solidFill>
                <a:latin typeface="Arial"/>
              </a:rPr>
              <a:t>Vol d'identifiants, MFA absent, secrets exposés.</a:t>
            </a:r>
          </a:p>
        </p:txBody>
      </p:sp>
      <p:sp>
        <p:nvSpPr>
          <p:cNvPr id="7" name="Menace2"/>
          <p:cNvSpPr/>
          <p:nvPr/>
        </p:nvSpPr>
        <p:spPr>
          <a:xfrm>
            <a:off x="6172200" y="1965960"/>
            <a:ext cx="5349240" cy="1645920"/>
          </a:xfrm>
          <a:prstGeom prst="roundRect">
            <a:avLst>
              <a:gd name="adj" fmla="val 6000"/>
            </a:avLst>
          </a:prstGeom>
          <a:solidFill>
            <a:srgbClr val="FFFFFF"/>
          </a:solidFill>
          <a:ln w="12700">
            <a:solidFill>
              <a:srgbClr val="C4B5FD"/>
            </a:solidFill>
          </a:ln>
          <a:effectLst>
            <a:outerShdw blurRad="177800" dist="38100" dir="5400000" algn="ctr" rotWithShape="0">
              <a:srgbClr val="1B0F33">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182880" rIns="182880" tIns="146304" bIns="146304">
            <a:noAutofit/>
          </a:bodyPr>
          <a:lstStyle/>
          <a:p>
            <a:pPr>
              <a:lnSpc>
                <a:spcPct val="106000"/>
              </a:lnSpc>
              <a:spcBef>
                <a:spcPts val="0"/>
              </a:spcBef>
              <a:spcAft>
                <a:spcPts val="200"/>
              </a:spcAft>
            </a:pPr>
            <a:r>
              <a:rPr sz="1000" b="1" i="0" spc="140" lang="fr-FR">
                <a:solidFill>
                  <a:srgbClr val="6D28D9"/>
                </a:solidFill>
                <a:latin typeface="Arial"/>
              </a:rPr>
              <a:t>DB</a:t>
            </a:r>
          </a:p>
          <a:p>
            <a:pPr>
              <a:lnSpc>
                <a:spcPct val="106000"/>
              </a:lnSpc>
              <a:spcBef>
                <a:spcPts val="0"/>
              </a:spcBef>
              <a:spcAft>
                <a:spcPts val="400"/>
              </a:spcAft>
            </a:pPr>
            <a:r>
              <a:rPr sz="2000" b="1" i="0" lang="fr-FR">
                <a:solidFill>
                  <a:srgbClr val="2E1065"/>
                </a:solidFill>
                <a:latin typeface="Arial"/>
              </a:rPr>
              <a:t>Données</a:t>
            </a:r>
          </a:p>
          <a:p>
            <a:pPr>
              <a:lnSpc>
                <a:spcPct val="106000"/>
              </a:lnSpc>
              <a:spcBef>
                <a:spcPts val="0"/>
              </a:spcBef>
              <a:spcAft>
                <a:spcPts val="0"/>
              </a:spcAft>
            </a:pPr>
            <a:r>
              <a:rPr sz="1200" b="0" i="0" lang="fr-FR">
                <a:solidFill>
                  <a:srgbClr val="6B7280"/>
                </a:solidFill>
                <a:latin typeface="Arial"/>
              </a:rPr>
              <a:t>Stockage public, journal bavard, accès indu.</a:t>
            </a:r>
          </a:p>
        </p:txBody>
      </p:sp>
      <p:sp>
        <p:nvSpPr>
          <p:cNvPr id="8" name="Menace3"/>
          <p:cNvSpPr/>
          <p:nvPr/>
        </p:nvSpPr>
        <p:spPr>
          <a:xfrm>
            <a:off x="640080" y="3794760"/>
            <a:ext cx="5349240" cy="1645920"/>
          </a:xfrm>
          <a:prstGeom prst="roundRect">
            <a:avLst>
              <a:gd name="adj" fmla="val 6000"/>
            </a:avLst>
          </a:prstGeom>
          <a:solidFill>
            <a:srgbClr val="FFFFFF"/>
          </a:solidFill>
          <a:ln w="12700">
            <a:solidFill>
              <a:srgbClr val="C4B5FD"/>
            </a:solidFill>
          </a:ln>
          <a:effectLst>
            <a:outerShdw blurRad="177800" dist="38100" dir="5400000" algn="ctr" rotWithShape="0">
              <a:srgbClr val="1B0F33">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182880" rIns="182880" tIns="146304" bIns="146304">
            <a:noAutofit/>
          </a:bodyPr>
          <a:lstStyle/>
          <a:p>
            <a:pPr>
              <a:lnSpc>
                <a:spcPct val="106000"/>
              </a:lnSpc>
              <a:spcBef>
                <a:spcPts val="0"/>
              </a:spcBef>
              <a:spcAft>
                <a:spcPts val="200"/>
              </a:spcAft>
            </a:pPr>
            <a:r>
              <a:rPr sz="1000" b="1" i="0" spc="140" lang="fr-FR">
                <a:solidFill>
                  <a:srgbClr val="A78BFA"/>
                </a:solidFill>
                <a:latin typeface="Arial"/>
              </a:rPr>
              <a:t>CFG</a:t>
            </a:r>
          </a:p>
          <a:p>
            <a:pPr>
              <a:lnSpc>
                <a:spcPct val="106000"/>
              </a:lnSpc>
              <a:spcBef>
                <a:spcPts val="0"/>
              </a:spcBef>
              <a:spcAft>
                <a:spcPts val="400"/>
              </a:spcAft>
            </a:pPr>
            <a:r>
              <a:rPr sz="2000" b="1" i="0" lang="fr-FR">
                <a:solidFill>
                  <a:srgbClr val="2E1065"/>
                </a:solidFill>
                <a:latin typeface="Arial"/>
              </a:rPr>
              <a:t>Configuration</a:t>
            </a:r>
          </a:p>
          <a:p>
            <a:pPr>
              <a:lnSpc>
                <a:spcPct val="106000"/>
              </a:lnSpc>
              <a:spcBef>
                <a:spcPts val="0"/>
              </a:spcBef>
              <a:spcAft>
                <a:spcPts val="0"/>
              </a:spcAft>
            </a:pPr>
            <a:r>
              <a:rPr sz="1200" b="0" i="0" lang="fr-FR">
                <a:solidFill>
                  <a:srgbClr val="6B7280"/>
                </a:solidFill>
                <a:latin typeface="Arial"/>
              </a:rPr>
              <a:t>Défaut permissif, dérive, inventaire incomplet.</a:t>
            </a:r>
          </a:p>
        </p:txBody>
      </p:sp>
      <p:sp>
        <p:nvSpPr>
          <p:cNvPr id="9" name="Menace4"/>
          <p:cNvSpPr/>
          <p:nvPr/>
        </p:nvSpPr>
        <p:spPr>
          <a:xfrm>
            <a:off x="6172200" y="3794760"/>
            <a:ext cx="5349240" cy="1645920"/>
          </a:xfrm>
          <a:prstGeom prst="roundRect">
            <a:avLst>
              <a:gd name="adj" fmla="val 6000"/>
            </a:avLst>
          </a:prstGeom>
          <a:solidFill>
            <a:srgbClr val="2E1065"/>
          </a:solidFill>
          <a:ln w="12700">
            <a:solidFill>
              <a:srgbClr val="F59E0B"/>
            </a:solidFill>
          </a:ln>
          <a:effectLst>
            <a:outerShdw blurRad="177800" dist="38100" dir="5400000" algn="ctr" rotWithShape="0">
              <a:srgbClr val="1B0F33">
                <a:alpha val="18000"/>
              </a:srgbClr>
            </a:outerShdw>
          </a:effectLst>
        </p:spPr>
        <p:style>
          <a:lnRef idx="1">
            <a:schemeClr val="accent1"/>
          </a:lnRef>
          <a:fillRef idx="3">
            <a:schemeClr val="accent1"/>
          </a:fillRef>
          <a:effectRef idx="2">
            <a:schemeClr val="accent1"/>
          </a:effectRef>
          <a:fontRef idx="minor">
            <a:schemeClr val="lt1"/>
          </a:fontRef>
        </p:style>
        <p:txBody>
          <a:bodyPr rtlCol="0" anchor="t" wrap="none" lIns="182880" rIns="182880" tIns="146304" bIns="146304">
            <a:noAutofit/>
          </a:bodyPr>
          <a:lstStyle/>
          <a:p>
            <a:pPr>
              <a:lnSpc>
                <a:spcPct val="106000"/>
              </a:lnSpc>
              <a:spcBef>
                <a:spcPts val="0"/>
              </a:spcBef>
              <a:spcAft>
                <a:spcPts val="200"/>
              </a:spcAft>
            </a:pPr>
            <a:r>
              <a:rPr sz="1000" b="1" i="0" spc="140" lang="fr-FR">
                <a:solidFill>
                  <a:srgbClr val="F59E0B"/>
                </a:solidFill>
                <a:latin typeface="Arial"/>
              </a:rPr>
              <a:t>API</a:t>
            </a:r>
          </a:p>
          <a:p>
            <a:pPr>
              <a:lnSpc>
                <a:spcPct val="106000"/>
              </a:lnSpc>
              <a:spcBef>
                <a:spcPts val="0"/>
              </a:spcBef>
              <a:spcAft>
                <a:spcPts val="400"/>
              </a:spcAft>
            </a:pPr>
            <a:r>
              <a:rPr sz="2000" b="1" i="0" lang="fr-FR">
                <a:solidFill>
                  <a:srgbClr val="FFFFFF"/>
                </a:solidFill>
                <a:latin typeface="Arial"/>
              </a:rPr>
              <a:t>Interfaces</a:t>
            </a:r>
          </a:p>
          <a:p>
            <a:pPr>
              <a:lnSpc>
                <a:spcPct val="106000"/>
              </a:lnSpc>
              <a:spcBef>
                <a:spcPts val="0"/>
              </a:spcBef>
              <a:spcAft>
                <a:spcPts val="0"/>
              </a:spcAft>
            </a:pPr>
            <a:r>
              <a:rPr sz="1200" b="0" i="0" lang="fr-FR">
                <a:solidFill>
                  <a:srgbClr val="EDE9FE"/>
                </a:solidFill>
                <a:latin typeface="Arial"/>
              </a:rPr>
              <a:t>Jeton non vérifié, autorisation absente, quotas insuffisants.</a:t>
            </a:r>
          </a:p>
        </p:txBody>
      </p:sp>
      <p:sp>
        <p:nvSpPr>
          <p:cNvPr id="10" name="MenaceBottom"/>
          <p:cNvSpPr/>
          <p:nvPr/>
        </p:nvSpPr>
        <p:spPr>
          <a:xfrm>
            <a:off x="640080" y="5742432"/>
            <a:ext cx="10881360" cy="438912"/>
          </a:xfrm>
          <a:prstGeom prst="roundRect">
            <a:avLst>
              <a:gd name="adj" fmla="val 50000"/>
            </a:avLst>
          </a:prstGeom>
          <a:solidFill>
            <a:srgbClr val="EDE9FE"/>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wrap="none" lIns="36576" rIns="36576" tIns="0" bIns="0">
            <a:noAutofit/>
          </a:bodyPr>
          <a:lstStyle/>
          <a:p>
            <a:pPr algn="ctr">
              <a:lnSpc>
                <a:spcPct val="100000"/>
              </a:lnSpc>
              <a:spcBef>
                <a:spcPts val="0"/>
              </a:spcBef>
              <a:spcAft>
                <a:spcPts val="0"/>
              </a:spcAft>
            </a:pPr>
            <a:r>
              <a:rPr sz="1400" b="1" i="0" lang="fr-FR">
                <a:solidFill>
                  <a:srgbClr val="2E1065"/>
                </a:solidFill>
                <a:latin typeface="Arial"/>
              </a:rPr>
              <a:t>Le point de convergence : l'API.</a:t>
            </a:r>
          </a:p>
        </p:txBody>
      </p:sp>
      <p:sp>
        <p:nvSpPr>
          <p:cNvPr id="11" name="Source"/>
          <p:cNvSpPr txBox="1"/>
          <p:nvPr/>
        </p:nvSpPr>
        <p:spPr>
          <a:xfrm>
            <a:off x="640080" y="6382512"/>
            <a:ext cx="10271455" cy="219456"/>
          </a:xfrm>
          <a:prstGeom prst="rect">
            <a:avLst/>
          </a:prstGeom>
          <a:noFill/>
        </p:spPr>
        <p:txBody>
          <a:bodyPr wrap="none" anchor="t" lIns="0" rIns="0" tIns="0" bIns="0">
            <a:noAutofit/>
          </a:bodyPr>
          <a:lstStyle/>
          <a:p>
            <a:pPr algn="l">
              <a:lnSpc>
                <a:spcPct val="105000"/>
              </a:lnSpc>
              <a:spcBef>
                <a:spcPts val="0"/>
              </a:spcBef>
              <a:spcAft>
                <a:spcPts val="0"/>
              </a:spcAft>
            </a:pPr>
            <a:r>
              <a:rPr sz="850" b="0" i="0" lang="fr-FR">
                <a:solidFill>
                  <a:srgbClr val="5B5563"/>
                </a:solidFill>
                <a:latin typeface="Arial"/>
              </a:rPr>
              <a:t>CSA Top Threats ; ENISA ; OWASP API Security Top 10 (2023).</a:t>
            </a:r>
          </a:p>
        </p:txBody>
      </p:sp>
      <p:sp>
        <p:nvSpPr>
          <p:cNvPr id="12" name="Numero"/>
          <p:cNvSpPr txBox="1"/>
          <p:nvPr/>
        </p:nvSpPr>
        <p:spPr>
          <a:xfrm>
            <a:off x="10728655" y="6419088"/>
            <a:ext cx="822960" cy="201168"/>
          </a:xfrm>
          <a:prstGeom prst="rect">
            <a:avLst/>
          </a:prstGeom>
          <a:noFill/>
        </p:spPr>
        <p:txBody>
          <a:bodyPr wrap="none" anchor="t" lIns="0" rIns="0" tIns="0" bIns="0">
            <a:noAutofit/>
          </a:bodyPr>
          <a:lstStyle/>
          <a:p>
            <a:pPr algn="r">
              <a:lnSpc>
                <a:spcPct val="105000"/>
              </a:lnSpc>
              <a:spcBef>
                <a:spcPts val="0"/>
              </a:spcBef>
              <a:spcAft>
                <a:spcPts val="0"/>
              </a:spcAft>
            </a:pPr>
            <a:r>
              <a:rPr sz="850" b="1" i="0" lang="fr-FR">
                <a:solidFill>
                  <a:srgbClr val="6B7280"/>
                </a:solidFill>
                <a:latin typeface="Arial"/>
              </a:rPr>
              <a:t>06 / 16</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00" fill="hold">
                      <p:stCondLst>
                        <p:cond delay="indefinite"/>
                      </p:stCondLst>
                      <p:childTnLst>
                        <p:par>
                          <p:cTn id="101" fill="hold">
                            <p:stCondLst>
                              <p:cond delay="0"/>
                            </p:stCondLst>
                            <p:childTnLst>
                              <p:par>
                                <p:cTn id="110" presetID="10" presetClass="entr" presetSubtype="0" fill="hold" nodeType="clickEffect">
                                  <p:stCondLst>
                                    <p:cond delay="0"/>
                                  </p:stCondLst>
                                  <p:childTnLst>
                                    <p:set>
                                      <p:cBhvr>
                                        <p:cTn id="111" dur="1" fill="hold">
                                          <p:stCondLst>
                                            <p:cond delay="0"/>
                                          </p:stCondLst>
                                        </p:cTn>
                                        <p:tgtEl>
                                          <p:spTgt spid="6"/>
                                        </p:tgtEl>
                                        <p:attrNameLst>
                                          <p:attrName>style.visibility</p:attrName>
                                        </p:attrNameLst>
                                      </p:cBhvr>
                                      <p:to>
                                        <p:strVal val="visible"/>
                                      </p:to>
                                    </p:set>
                                    <p:animEffect transition="in" filter="fade">
                                      <p:cBhvr>
                                        <p:cTn id="112" dur="450"/>
                                        <p:tgtEl>
                                          <p:spTgt spid="6"/>
                                        </p:tgtEl>
                                      </p:cBhvr>
                                    </p:animEffect>
                                  </p:childTnLst>
                                </p:cTn>
                              </p:par>
                              <p:par>
                                <p:cTn id="115" presetID="10" presetClass="entr" presetSubtype="0" fill="hold" nodeType="clickEffect">
                                  <p:stCondLst>
                                    <p:cond delay="100"/>
                                  </p:stCondLst>
                                  <p:childTnLst>
                                    <p:set>
                                      <p:cBhvr>
                                        <p:cTn id="116" dur="1" fill="hold">
                                          <p:stCondLst>
                                            <p:cond delay="0"/>
                                          </p:stCondLst>
                                        </p:cTn>
                                        <p:tgtEl>
                                          <p:spTgt spid="7"/>
                                        </p:tgtEl>
                                        <p:attrNameLst>
                                          <p:attrName>style.visibility</p:attrName>
                                        </p:attrNameLst>
                                      </p:cBhvr>
                                      <p:to>
                                        <p:strVal val="visible"/>
                                      </p:to>
                                    </p:set>
                                    <p:animEffect transition="in" filter="fade">
                                      <p:cBhvr>
                                        <p:cTn id="117" dur="450"/>
                                        <p:tgtEl>
                                          <p:spTgt spid="7"/>
                                        </p:tgtEl>
                                      </p:cBhvr>
                                    </p:animEffect>
                                  </p:childTnLst>
                                </p:cTn>
                              </p:par>
                              <p:par>
                                <p:cTn id="120" presetID="10" presetClass="entr" presetSubtype="0" fill="hold" nodeType="clickEffect">
                                  <p:stCondLst>
                                    <p:cond delay="200"/>
                                  </p:stCondLst>
                                  <p:childTnLst>
                                    <p:set>
                                      <p:cBhvr>
                                        <p:cTn id="121" dur="1" fill="hold">
                                          <p:stCondLst>
                                            <p:cond delay="0"/>
                                          </p:stCondLst>
                                        </p:cTn>
                                        <p:tgtEl>
                                          <p:spTgt spid="8"/>
                                        </p:tgtEl>
                                        <p:attrNameLst>
                                          <p:attrName>style.visibility</p:attrName>
                                        </p:attrNameLst>
                                      </p:cBhvr>
                                      <p:to>
                                        <p:strVal val="visible"/>
                                      </p:to>
                                    </p:set>
                                    <p:animEffect transition="in" filter="fade">
                                      <p:cBhvr>
                                        <p:cTn id="122" dur="450"/>
                                        <p:tgtEl>
                                          <p:spTgt spid="8"/>
                                        </p:tgtEl>
                                      </p:cBhvr>
                                    </p:animEffect>
                                  </p:childTnLst>
                                </p:cTn>
                              </p:par>
                            </p:childTnLst>
                          </p:cTn>
                        </p:par>
                      </p:childTnLst>
                    </p:cTn>
                  </p:par>
                  <p:par>
                    <p:cTn id="125" fill="hold">
                      <p:stCondLst>
                        <p:cond delay="indefinite"/>
                      </p:stCondLst>
                      <p:childTnLst>
                        <p:par>
                          <p:cTn id="126" fill="hold">
                            <p:stCondLst>
                              <p:cond delay="0"/>
                            </p:stCondLst>
                            <p:childTnLst>
                              <p:par>
                                <p:cTn id="135" presetID="23" presetClass="entr" presetSubtype="0" fill="hold" nodeType="clickEffect">
                                  <p:stCondLst>
                                    <p:cond delay="0"/>
                                  </p:stCondLst>
                                  <p:childTnLst>
                                    <p:set>
                                      <p:cBhvr>
                                        <p:cTn id="136" dur="1" fill="hold">
                                          <p:stCondLst>
                                            <p:cond delay="0"/>
                                          </p:stCondLst>
                                        </p:cTn>
                                        <p:tgtEl>
                                          <p:spTgt spid="9"/>
                                        </p:tgtEl>
                                        <p:attrNameLst>
                                          <p:attrName>style.visibility</p:attrName>
                                        </p:attrNameLst>
                                      </p:cBhvr>
                                      <p:to>
                                        <p:strVal val="visible"/>
                                      </p:to>
                                    </p:set>
                                    <p:animEffect transition="in" filter="zoom">
                                      <p:cBhvr>
                                        <p:cTn id="137" dur="600"/>
                                        <p:tgtEl>
                                          <p:spTgt spid="9"/>
                                        </p:tgtEl>
                                      </p:cBhvr>
                                    </p:animEffect>
                                  </p:childTnLst>
                                </p:cTn>
                              </p:par>
                            </p:childTnLst>
                          </p:cTn>
                        </p:par>
                      </p:childTnLst>
                    </p:cTn>
                  </p:par>
                  <p:par>
                    <p:cTn id="140" fill="hold">
                      <p:stCondLst>
                        <p:cond delay="indefinite"/>
                      </p:stCondLst>
                      <p:childTnLst>
                        <p:par>
                          <p:cTn id="141" fill="hold">
                            <p:stCondLst>
                              <p:cond delay="0"/>
                            </p:stCondLst>
                            <p:childTnLst>
                              <p:par>
                                <p:cTn id="150" presetID="10" presetClass="entr" presetSubtype="0" fill="hold" nodeType="clickEffect">
                                  <p:stCondLst>
                                    <p:cond delay="0"/>
                                  </p:stCondLst>
                                  <p:childTnLst>
                                    <p:set>
                                      <p:cBhvr>
                                        <p:cTn id="151" dur="1" fill="hold">
                                          <p:stCondLst>
                                            <p:cond delay="0"/>
                                          </p:stCondLst>
                                        </p:cTn>
                                        <p:tgtEl>
                                          <p:spTgt spid="10"/>
                                        </p:tgtEl>
                                        <p:attrNameLst>
                                          <p:attrName>style.visibility</p:attrName>
                                        </p:attrNameLst>
                                      </p:cBhvr>
                                      <p:to>
                                        <p:strVal val="visible"/>
                                      </p:to>
                                    </p:set>
                                    <p:animEffect transition="in" filter="fade">
                                      <p:cBhvr>
                                        <p:cTn id="152" dur="4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 name="Fond" descr="bg_light.jpg"/>
          <p:cNvPicPr>
            <a:picLocks noChangeAspect="1"/>
          </p:cNvPicPr>
          <p:nvPr/>
        </p:nvPicPr>
        <p:blipFill>
          <a:blip r:embed="rId2"/>
          <a:stretch>
            <a:fillRect/>
          </a:stretch>
        </p:blipFill>
        <p:spPr>
          <a:xfrm>
            <a:off x="0" y="0"/>
            <a:ext cx="12191695" cy="6858000"/>
          </a:xfrm>
          <a:prstGeom prst="rect">
            <a:avLst/>
          </a:prstGeom>
        </p:spPr>
      </p:pic>
      <p:sp>
        <p:nvSpPr>
          <p:cNvPr id="2" name="Section"/>
          <p:cNvSpPr txBox="1"/>
          <p:nvPr/>
        </p:nvSpPr>
        <p:spPr>
          <a:xfrm>
            <a:off x="640080" y="301752"/>
            <a:ext cx="3657600" cy="256032"/>
          </a:xfrm>
          <a:prstGeom prst="rect">
            <a:avLst/>
          </a:prstGeom>
          <a:noFill/>
        </p:spPr>
        <p:txBody>
          <a:bodyPr wrap="none" anchor="t" lIns="0" rIns="0" tIns="0" bIns="0">
            <a:noAutofit/>
          </a:bodyPr>
          <a:lstStyle/>
          <a:p>
            <a:pPr algn="l">
              <a:lnSpc>
                <a:spcPct val="105000"/>
              </a:lnSpc>
              <a:spcBef>
                <a:spcPts val="0"/>
              </a:spcBef>
              <a:spcAft>
                <a:spcPts val="0"/>
              </a:spcAft>
            </a:pPr>
            <a:r>
              <a:rPr sz="900" b="1" i="0" spc="140" lang="fr-FR">
                <a:solidFill>
                  <a:srgbClr val="6D28D9"/>
                </a:solidFill>
                <a:latin typeface="Arial"/>
              </a:rPr>
              <a:t>02 · MENACES</a:t>
            </a:r>
          </a:p>
        </p:txBody>
      </p:sp>
      <p:sp>
        <p:nvSpPr>
          <p:cNvPr id="3" name="Monogramme"/>
          <p:cNvSpPr txBox="1"/>
          <p:nvPr/>
        </p:nvSpPr>
        <p:spPr>
          <a:xfrm>
            <a:off x="10454335" y="301752"/>
            <a:ext cx="1097280" cy="256032"/>
          </a:xfrm>
          <a:prstGeom prst="rect">
            <a:avLst/>
          </a:prstGeom>
          <a:noFill/>
        </p:spPr>
        <p:txBody>
          <a:bodyPr wrap="none" anchor="t" lIns="0" rIns="0" tIns="0" bIns="0">
            <a:noAutofit/>
          </a:bodyPr>
          <a:lstStyle/>
          <a:p>
            <a:pPr algn="r">
              <a:lnSpc>
                <a:spcPct val="105000"/>
              </a:lnSpc>
              <a:spcBef>
                <a:spcPts val="0"/>
              </a:spcBef>
              <a:spcAft>
                <a:spcPts val="0"/>
              </a:spcAft>
            </a:pPr>
            <a:r>
              <a:rPr sz="850" b="1" i="0" spc="120" lang="fr-FR">
                <a:solidFill>
                  <a:srgbClr val="7C6F8F"/>
                </a:solidFill>
                <a:latin typeface="Arial"/>
              </a:rPr>
              <a:t>SC · 2026</a:t>
            </a:r>
          </a:p>
        </p:txBody>
      </p:sp>
      <p:sp>
        <p:nvSpPr>
          <p:cNvPr id="4" name="AccentTitre"/>
          <p:cNvSpPr/>
          <p:nvPr/>
        </p:nvSpPr>
        <p:spPr>
          <a:xfrm>
            <a:off x="640080" y="877824"/>
            <a:ext cx="50292" cy="45720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itre"/>
          <p:cNvSpPr txBox="1"/>
          <p:nvPr/>
        </p:nvSpPr>
        <p:spPr>
          <a:xfrm>
            <a:off x="841247" y="822960"/>
            <a:ext cx="10710367" cy="914400"/>
          </a:xfrm>
          <a:prstGeom prst="rect">
            <a:avLst/>
          </a:prstGeom>
          <a:noFill/>
        </p:spPr>
        <p:txBody>
          <a:bodyPr wrap="none" anchor="t" lIns="0" rIns="0" tIns="0" bIns="0">
            <a:noAutofit/>
          </a:bodyPr>
          <a:lstStyle/>
          <a:p>
            <a:pPr algn="l">
              <a:lnSpc>
                <a:spcPct val="98000"/>
              </a:lnSpc>
              <a:spcBef>
                <a:spcPts val="0"/>
              </a:spcBef>
              <a:spcAft>
                <a:spcPts val="0"/>
              </a:spcAft>
            </a:pPr>
            <a:r>
              <a:rPr sz="2800" b="1" i="0" lang="fr-FR">
                <a:solidFill>
                  <a:srgbClr val="2E1065"/>
                </a:solidFill>
                <a:latin typeface="Arial"/>
              </a:rPr>
              <a:t>Plus le service est intégré, plus l'interface est critique</a:t>
            </a:r>
          </a:p>
        </p:txBody>
      </p:sp>
      <p:sp>
        <p:nvSpPr>
          <p:cNvPr id="6" name="Bar0"/>
          <p:cNvSpPr/>
          <p:nvPr/>
        </p:nvSpPr>
        <p:spPr>
          <a:xfrm>
            <a:off x="731520" y="4754879"/>
            <a:ext cx="2148840" cy="100584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b" wrap="none" tIns="0" bIns="0">
            <a:noAutofit/>
          </a:bodyPr>
          <a:lstStyle/>
          <a:p>
            <a:pPr algn="ctr">
              <a:lnSpc>
                <a:spcPct val="100000"/>
              </a:lnSpc>
              <a:spcBef>
                <a:spcPts val="0"/>
              </a:spcBef>
              <a:spcAft>
                <a:spcPts val="0"/>
              </a:spcAft>
            </a:pPr>
            <a:r>
              <a:rPr sz="1150" b="1" i="0" lang="fr-FR">
                <a:solidFill>
                  <a:srgbClr val="FFFFFF"/>
                </a:solidFill>
                <a:latin typeface="Arial"/>
              </a:rPr>
              <a:t>Sur site</a:t>
            </a:r>
          </a:p>
        </p:txBody>
      </p:sp>
      <p:sp>
        <p:nvSpPr>
          <p:cNvPr id="7" name="Top0"/>
          <p:cNvSpPr/>
          <p:nvPr/>
        </p:nvSpPr>
        <p:spPr>
          <a:xfrm>
            <a:off x="731520" y="4709159"/>
            <a:ext cx="2148840"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Bar1"/>
          <p:cNvSpPr/>
          <p:nvPr/>
        </p:nvSpPr>
        <p:spPr>
          <a:xfrm>
            <a:off x="2880360" y="4206240"/>
            <a:ext cx="2148840" cy="155448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b" wrap="none" tIns="0" bIns="0">
            <a:noAutofit/>
          </a:bodyPr>
          <a:lstStyle/>
          <a:p>
            <a:pPr algn="ctr">
              <a:lnSpc>
                <a:spcPct val="100000"/>
              </a:lnSpc>
              <a:spcBef>
                <a:spcPts val="0"/>
              </a:spcBef>
              <a:spcAft>
                <a:spcPts val="0"/>
              </a:spcAft>
            </a:pPr>
            <a:r>
              <a:rPr sz="1150" b="1" i="0" lang="fr-FR">
                <a:solidFill>
                  <a:srgbClr val="FFFFFF"/>
                </a:solidFill>
                <a:latin typeface="Arial"/>
              </a:rPr>
              <a:t>IaaS</a:t>
            </a:r>
          </a:p>
        </p:txBody>
      </p:sp>
      <p:sp>
        <p:nvSpPr>
          <p:cNvPr id="9" name="Top1"/>
          <p:cNvSpPr/>
          <p:nvPr/>
        </p:nvSpPr>
        <p:spPr>
          <a:xfrm>
            <a:off x="2880360" y="4160520"/>
            <a:ext cx="2148840"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Bar2"/>
          <p:cNvSpPr/>
          <p:nvPr/>
        </p:nvSpPr>
        <p:spPr>
          <a:xfrm>
            <a:off x="5029200" y="3657600"/>
            <a:ext cx="2148840" cy="210312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b" wrap="none" tIns="0" bIns="0">
            <a:noAutofit/>
          </a:bodyPr>
          <a:lstStyle/>
          <a:p>
            <a:pPr algn="ctr">
              <a:lnSpc>
                <a:spcPct val="100000"/>
              </a:lnSpc>
              <a:spcBef>
                <a:spcPts val="0"/>
              </a:spcBef>
              <a:spcAft>
                <a:spcPts val="0"/>
              </a:spcAft>
            </a:pPr>
            <a:r>
              <a:rPr sz="1150" b="1" i="0" lang="fr-FR">
                <a:solidFill>
                  <a:srgbClr val="FFFFFF"/>
                </a:solidFill>
                <a:latin typeface="Arial"/>
              </a:rPr>
              <a:t>PaaS</a:t>
            </a:r>
          </a:p>
        </p:txBody>
      </p:sp>
      <p:sp>
        <p:nvSpPr>
          <p:cNvPr id="11" name="Top2"/>
          <p:cNvSpPr/>
          <p:nvPr/>
        </p:nvSpPr>
        <p:spPr>
          <a:xfrm>
            <a:off x="5029200" y="3611880"/>
            <a:ext cx="2148840"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Bar3"/>
          <p:cNvSpPr/>
          <p:nvPr/>
        </p:nvSpPr>
        <p:spPr>
          <a:xfrm>
            <a:off x="7178040" y="3108960"/>
            <a:ext cx="2148840" cy="265176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b" wrap="none" tIns="0" bIns="0">
            <a:noAutofit/>
          </a:bodyPr>
          <a:lstStyle/>
          <a:p>
            <a:pPr algn="ctr">
              <a:lnSpc>
                <a:spcPct val="100000"/>
              </a:lnSpc>
              <a:spcBef>
                <a:spcPts val="0"/>
              </a:spcBef>
              <a:spcAft>
                <a:spcPts val="0"/>
              </a:spcAft>
            </a:pPr>
            <a:r>
              <a:rPr sz="1150" b="1" i="0" lang="fr-FR">
                <a:solidFill>
                  <a:srgbClr val="FFFFFF"/>
                </a:solidFill>
                <a:latin typeface="Arial"/>
              </a:rPr>
              <a:t>FaaS</a:t>
            </a:r>
          </a:p>
        </p:txBody>
      </p:sp>
      <p:sp>
        <p:nvSpPr>
          <p:cNvPr id="13" name="Top3"/>
          <p:cNvSpPr/>
          <p:nvPr/>
        </p:nvSpPr>
        <p:spPr>
          <a:xfrm>
            <a:off x="7178040" y="3063240"/>
            <a:ext cx="2148840"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Bar4"/>
          <p:cNvSpPr/>
          <p:nvPr/>
        </p:nvSpPr>
        <p:spPr>
          <a:xfrm>
            <a:off x="9326880" y="2560320"/>
            <a:ext cx="2148840" cy="320040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b" wrap="none" tIns="0" bIns="0">
            <a:noAutofit/>
          </a:bodyPr>
          <a:lstStyle/>
          <a:p>
            <a:pPr algn="ctr">
              <a:lnSpc>
                <a:spcPct val="100000"/>
              </a:lnSpc>
              <a:spcBef>
                <a:spcPts val="0"/>
              </a:spcBef>
              <a:spcAft>
                <a:spcPts val="0"/>
              </a:spcAft>
            </a:pPr>
            <a:r>
              <a:rPr sz="1150" b="1" i="0" lang="fr-FR">
                <a:solidFill>
                  <a:srgbClr val="FFFFFF"/>
                </a:solidFill>
                <a:latin typeface="Arial"/>
              </a:rPr>
              <a:t>SaaS</a:t>
            </a:r>
          </a:p>
        </p:txBody>
      </p:sp>
      <p:sp>
        <p:nvSpPr>
          <p:cNvPr id="15" name="Top4"/>
          <p:cNvSpPr/>
          <p:nvPr/>
        </p:nvSpPr>
        <p:spPr>
          <a:xfrm>
            <a:off x="9326880" y="2514600"/>
            <a:ext cx="2148840"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315968"/>
            <a:ext cx="2011680" cy="274320"/>
          </a:xfrm>
          <a:prstGeom prst="rect">
            <a:avLst/>
          </a:prstGeom>
          <a:noFill/>
        </p:spPr>
        <p:txBody>
          <a:bodyPr wrap="none" anchor="t" lIns="0" rIns="0" tIns="0" bIns="0">
            <a:noAutofit/>
          </a:bodyPr>
          <a:lstStyle/>
          <a:p>
            <a:pPr algn="l">
              <a:lnSpc>
                <a:spcPct val="105000"/>
              </a:lnSpc>
              <a:spcBef>
                <a:spcPts val="0"/>
              </a:spcBef>
              <a:spcAft>
                <a:spcPts val="0"/>
              </a:spcAft>
            </a:pPr>
            <a:r>
              <a:rPr sz="1050" b="1" i="0" lang="fr-FR">
                <a:solidFill>
                  <a:srgbClr val="B45309"/>
                </a:solidFill>
                <a:latin typeface="Arial"/>
              </a:rPr>
              <a:t>Périmètre client</a:t>
            </a:r>
          </a:p>
        </p:txBody>
      </p:sp>
      <p:sp>
        <p:nvSpPr>
          <p:cNvPr id="17" name="ApiShift"/>
          <p:cNvSpPr/>
          <p:nvPr/>
        </p:nvSpPr>
        <p:spPr>
          <a:xfrm>
            <a:off x="9464040" y="2057400"/>
            <a:ext cx="2148840" cy="384048"/>
          </a:xfrm>
          <a:prstGeom prst="roundRect">
            <a:avLst>
              <a:gd name="adj" fmla="val 50000"/>
            </a:avLst>
          </a:prstGeom>
          <a:solidFill>
            <a:srgbClr val="F59E0B"/>
          </a:solidFill>
          <a:ln>
            <a:noFill/>
          </a:ln>
          <a:effectLst>
            <a:outerShdw blurRad="177800" dist="38100" dir="5400000" algn="ctr" rotWithShape="0">
              <a:srgbClr val="1B0F33">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36576" rIns="36576" tIns="0" bIns="0">
            <a:noAutofit/>
          </a:bodyPr>
          <a:lstStyle/>
          <a:p>
            <a:pPr algn="ctr">
              <a:lnSpc>
                <a:spcPct val="100000"/>
              </a:lnSpc>
              <a:spcBef>
                <a:spcPts val="0"/>
              </a:spcBef>
              <a:spcAft>
                <a:spcPts val="0"/>
              </a:spcAft>
            </a:pPr>
            <a:r>
              <a:rPr sz="1050" b="1" i="0" lang="fr-FR">
                <a:solidFill>
                  <a:srgbClr val="1B0F33"/>
                </a:solidFill>
                <a:latin typeface="Arial"/>
              </a:rPr>
              <a:t>API — point d'entrée</a:t>
            </a:r>
          </a:p>
        </p:txBody>
      </p:sp>
      <p:sp>
        <p:nvSpPr>
          <p:cNvPr id="18" name="TextBox 17"/>
          <p:cNvSpPr txBox="1"/>
          <p:nvPr/>
        </p:nvSpPr>
        <p:spPr>
          <a:xfrm>
            <a:off x="640080" y="5961888"/>
            <a:ext cx="10881360" cy="347472"/>
          </a:xfrm>
          <a:prstGeom prst="rect">
            <a:avLst/>
          </a:prstGeom>
          <a:noFill/>
        </p:spPr>
        <p:txBody>
          <a:bodyPr wrap="none" anchor="t" lIns="0" rIns="0" tIns="0" bIns="0">
            <a:noAutofit/>
          </a:bodyPr>
          <a:lstStyle/>
          <a:p>
            <a:pPr algn="l">
              <a:lnSpc>
                <a:spcPct val="105000"/>
              </a:lnSpc>
              <a:spcBef>
                <a:spcPts val="0"/>
              </a:spcBef>
              <a:spcAft>
                <a:spcPts val="0"/>
              </a:spcAft>
            </a:pPr>
            <a:r>
              <a:rPr sz="1400" b="1" i="0" lang="fr-FR">
                <a:solidFill>
                  <a:srgbClr val="6D28D9"/>
                </a:solidFill>
                <a:latin typeface="Arial"/>
              </a:rPr>
              <a:t>Ce qui reste au client : l'identité, les droits, la configuration — et l'API qui les expose.</a:t>
            </a:r>
          </a:p>
        </p:txBody>
      </p:sp>
      <p:sp>
        <p:nvSpPr>
          <p:cNvPr id="19" name="Source"/>
          <p:cNvSpPr txBox="1"/>
          <p:nvPr/>
        </p:nvSpPr>
        <p:spPr>
          <a:xfrm>
            <a:off x="640080" y="6382512"/>
            <a:ext cx="10271455" cy="219456"/>
          </a:xfrm>
          <a:prstGeom prst="rect">
            <a:avLst/>
          </a:prstGeom>
          <a:noFill/>
        </p:spPr>
        <p:txBody>
          <a:bodyPr wrap="none" anchor="t" lIns="0" rIns="0" tIns="0" bIns="0">
            <a:noAutofit/>
          </a:bodyPr>
          <a:lstStyle/>
          <a:p>
            <a:pPr algn="l">
              <a:lnSpc>
                <a:spcPct val="105000"/>
              </a:lnSpc>
              <a:spcBef>
                <a:spcPts val="0"/>
              </a:spcBef>
              <a:spcAft>
                <a:spcPts val="0"/>
              </a:spcAft>
            </a:pPr>
            <a:r>
              <a:rPr sz="850" b="0" i="0" lang="fr-FR">
                <a:solidFill>
                  <a:srgbClr val="5B5563"/>
                </a:solidFill>
                <a:latin typeface="Arial"/>
              </a:rPr>
              <a:t>Synthèse d'après NIST SP 800-145.</a:t>
            </a:r>
          </a:p>
        </p:txBody>
      </p:sp>
      <p:sp>
        <p:nvSpPr>
          <p:cNvPr id="20" name="Numero"/>
          <p:cNvSpPr txBox="1"/>
          <p:nvPr/>
        </p:nvSpPr>
        <p:spPr>
          <a:xfrm>
            <a:off x="10728655" y="6419088"/>
            <a:ext cx="822960" cy="201168"/>
          </a:xfrm>
          <a:prstGeom prst="rect">
            <a:avLst/>
          </a:prstGeom>
          <a:noFill/>
        </p:spPr>
        <p:txBody>
          <a:bodyPr wrap="none" anchor="t" lIns="0" rIns="0" tIns="0" bIns="0">
            <a:noAutofit/>
          </a:bodyPr>
          <a:lstStyle/>
          <a:p>
            <a:pPr algn="r">
              <a:lnSpc>
                <a:spcPct val="105000"/>
              </a:lnSpc>
              <a:spcBef>
                <a:spcPts val="0"/>
              </a:spcBef>
              <a:spcAft>
                <a:spcPts val="0"/>
              </a:spcAft>
            </a:pPr>
            <a:r>
              <a:rPr sz="850" b="1" i="0" lang="fr-FR">
                <a:solidFill>
                  <a:srgbClr val="6B7280"/>
                </a:solidFill>
                <a:latin typeface="Arial"/>
              </a:rPr>
              <a:t>07 / 16</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00" fill="hold">
                      <p:stCondLst>
                        <p:cond delay="indefinite"/>
                      </p:stCondLst>
                      <p:childTnLst>
                        <p:par>
                          <p:cTn id="101" fill="hold">
                            <p:stCondLst>
                              <p:cond delay="0"/>
                            </p:stCondLst>
                            <p:childTnLst>
                              <p:par>
                                <p:cTn id="110" presetID="10" presetClass="entr" presetSubtype="0" fill="hold" nodeType="clickEffect">
                                  <p:stCondLst>
                                    <p:cond delay="0"/>
                                  </p:stCondLst>
                                  <p:childTnLst>
                                    <p:set>
                                      <p:cBhvr>
                                        <p:cTn id="111" dur="1" fill="hold">
                                          <p:stCondLst>
                                            <p:cond delay="0"/>
                                          </p:stCondLst>
                                        </p:cTn>
                                        <p:tgtEl>
                                          <p:spTgt spid="6"/>
                                        </p:tgtEl>
                                        <p:attrNameLst>
                                          <p:attrName>style.visibility</p:attrName>
                                        </p:attrNameLst>
                                      </p:cBhvr>
                                      <p:to>
                                        <p:strVal val="visible"/>
                                      </p:to>
                                    </p:set>
                                    <p:animEffect transition="in" filter="fade">
                                      <p:cBhvr>
                                        <p:cTn id="112" dur="450"/>
                                        <p:tgtEl>
                                          <p:spTgt spid="6"/>
                                        </p:tgtEl>
                                      </p:cBhvr>
                                    </p:animEffect>
                                  </p:childTnLst>
                                </p:cTn>
                              </p:par>
                              <p:par>
                                <p:cTn id="115" presetID="10" presetClass="entr" presetSubtype="0" fill="hold" nodeType="clickEffect">
                                  <p:stCondLst>
                                    <p:cond delay="80"/>
                                  </p:stCondLst>
                                  <p:childTnLst>
                                    <p:set>
                                      <p:cBhvr>
                                        <p:cTn id="116" dur="1" fill="hold">
                                          <p:stCondLst>
                                            <p:cond delay="0"/>
                                          </p:stCondLst>
                                        </p:cTn>
                                        <p:tgtEl>
                                          <p:spTgt spid="8"/>
                                        </p:tgtEl>
                                        <p:attrNameLst>
                                          <p:attrName>style.visibility</p:attrName>
                                        </p:attrNameLst>
                                      </p:cBhvr>
                                      <p:to>
                                        <p:strVal val="visible"/>
                                      </p:to>
                                    </p:set>
                                    <p:animEffect transition="in" filter="fade">
                                      <p:cBhvr>
                                        <p:cTn id="117" dur="450"/>
                                        <p:tgtEl>
                                          <p:spTgt spid="8"/>
                                        </p:tgtEl>
                                      </p:cBhvr>
                                    </p:animEffect>
                                  </p:childTnLst>
                                </p:cTn>
                              </p:par>
                              <p:par>
                                <p:cTn id="120" presetID="10" presetClass="entr" presetSubtype="0" fill="hold" nodeType="clickEffect">
                                  <p:stCondLst>
                                    <p:cond delay="160"/>
                                  </p:stCondLst>
                                  <p:childTnLst>
                                    <p:set>
                                      <p:cBhvr>
                                        <p:cTn id="121" dur="1" fill="hold">
                                          <p:stCondLst>
                                            <p:cond delay="0"/>
                                          </p:stCondLst>
                                        </p:cTn>
                                        <p:tgtEl>
                                          <p:spTgt spid="10"/>
                                        </p:tgtEl>
                                        <p:attrNameLst>
                                          <p:attrName>style.visibility</p:attrName>
                                        </p:attrNameLst>
                                      </p:cBhvr>
                                      <p:to>
                                        <p:strVal val="visible"/>
                                      </p:to>
                                    </p:set>
                                    <p:animEffect transition="in" filter="fade">
                                      <p:cBhvr>
                                        <p:cTn id="122" dur="450"/>
                                        <p:tgtEl>
                                          <p:spTgt spid="10"/>
                                        </p:tgtEl>
                                      </p:cBhvr>
                                    </p:animEffect>
                                  </p:childTnLst>
                                </p:cTn>
                              </p:par>
                              <p:par>
                                <p:cTn id="125" presetID="10" presetClass="entr" presetSubtype="0" fill="hold" nodeType="clickEffect">
                                  <p:stCondLst>
                                    <p:cond delay="0"/>
                                  </p:stCondLst>
                                  <p:childTnLst>
                                    <p:set>
                                      <p:cBhvr>
                                        <p:cTn id="126" dur="1" fill="hold">
                                          <p:stCondLst>
                                            <p:cond delay="0"/>
                                          </p:stCondLst>
                                        </p:cTn>
                                        <p:tgtEl>
                                          <p:spTgt spid="7"/>
                                        </p:tgtEl>
                                        <p:attrNameLst>
                                          <p:attrName>style.visibility</p:attrName>
                                        </p:attrNameLst>
                                      </p:cBhvr>
                                      <p:to>
                                        <p:strVal val="visible"/>
                                      </p:to>
                                    </p:set>
                                    <p:animEffect transition="in" filter="fade">
                                      <p:cBhvr>
                                        <p:cTn id="127" dur="450"/>
                                        <p:tgtEl>
                                          <p:spTgt spid="7"/>
                                        </p:tgtEl>
                                      </p:cBhvr>
                                    </p:animEffect>
                                  </p:childTnLst>
                                </p:cTn>
                              </p:par>
                              <p:par>
                                <p:cTn id="130" presetID="10" presetClass="entr" presetSubtype="0" fill="hold" nodeType="clickEffect">
                                  <p:stCondLst>
                                    <p:cond delay="80"/>
                                  </p:stCondLst>
                                  <p:childTnLst>
                                    <p:set>
                                      <p:cBhvr>
                                        <p:cTn id="131" dur="1" fill="hold">
                                          <p:stCondLst>
                                            <p:cond delay="0"/>
                                          </p:stCondLst>
                                        </p:cTn>
                                        <p:tgtEl>
                                          <p:spTgt spid="9"/>
                                        </p:tgtEl>
                                        <p:attrNameLst>
                                          <p:attrName>style.visibility</p:attrName>
                                        </p:attrNameLst>
                                      </p:cBhvr>
                                      <p:to>
                                        <p:strVal val="visible"/>
                                      </p:to>
                                    </p:set>
                                    <p:animEffect transition="in" filter="fade">
                                      <p:cBhvr>
                                        <p:cTn id="132" dur="450"/>
                                        <p:tgtEl>
                                          <p:spTgt spid="9"/>
                                        </p:tgtEl>
                                      </p:cBhvr>
                                    </p:animEffect>
                                  </p:childTnLst>
                                </p:cTn>
                              </p:par>
                              <p:par>
                                <p:cTn id="135" presetID="10" presetClass="entr" presetSubtype="0" fill="hold" nodeType="clickEffect">
                                  <p:stCondLst>
                                    <p:cond delay="160"/>
                                  </p:stCondLst>
                                  <p:childTnLst>
                                    <p:set>
                                      <p:cBhvr>
                                        <p:cTn id="136" dur="1" fill="hold">
                                          <p:stCondLst>
                                            <p:cond delay="0"/>
                                          </p:stCondLst>
                                        </p:cTn>
                                        <p:tgtEl>
                                          <p:spTgt spid="11"/>
                                        </p:tgtEl>
                                        <p:attrNameLst>
                                          <p:attrName>style.visibility</p:attrName>
                                        </p:attrNameLst>
                                      </p:cBhvr>
                                      <p:to>
                                        <p:strVal val="visible"/>
                                      </p:to>
                                    </p:set>
                                    <p:animEffect transition="in" filter="fade">
                                      <p:cBhvr>
                                        <p:cTn id="137" dur="450"/>
                                        <p:tgtEl>
                                          <p:spTgt spid="11"/>
                                        </p:tgtEl>
                                      </p:cBhvr>
                                    </p:animEffect>
                                  </p:childTnLst>
                                </p:cTn>
                              </p:par>
                              <p:par>
                                <p:cTn id="140" presetID="10" presetClass="entr" presetSubtype="0" fill="hold" nodeType="clickEffect">
                                  <p:stCondLst>
                                    <p:cond delay="0"/>
                                  </p:stCondLst>
                                  <p:childTnLst>
                                    <p:set>
                                      <p:cBhvr>
                                        <p:cTn id="141" dur="1" fill="hold">
                                          <p:stCondLst>
                                            <p:cond delay="0"/>
                                          </p:stCondLst>
                                        </p:cTn>
                                        <p:tgtEl>
                                          <p:spTgt spid="16"/>
                                        </p:tgtEl>
                                        <p:attrNameLst>
                                          <p:attrName>style.visibility</p:attrName>
                                        </p:attrNameLst>
                                      </p:cBhvr>
                                      <p:to>
                                        <p:strVal val="visible"/>
                                      </p:to>
                                    </p:set>
                                    <p:animEffect transition="in" filter="fade">
                                      <p:cBhvr>
                                        <p:cTn id="142" dur="450"/>
                                        <p:tgtEl>
                                          <p:spTgt spid="16"/>
                                        </p:tgtEl>
                                      </p:cBhvr>
                                    </p:animEffect>
                                  </p:childTnLst>
                                </p:cTn>
                              </p:par>
                            </p:childTnLst>
                          </p:cTn>
                        </p:par>
                      </p:childTnLst>
                    </p:cTn>
                  </p:par>
                  <p:par>
                    <p:cTn id="145" fill="hold">
                      <p:stCondLst>
                        <p:cond delay="indefinite"/>
                      </p:stCondLst>
                      <p:childTnLst>
                        <p:par>
                          <p:cTn id="146" fill="hold">
                            <p:stCondLst>
                              <p:cond delay="0"/>
                            </p:stCondLst>
                            <p:childTnLst>
                              <p:par>
                                <p:cTn id="155" presetID="10" presetClass="entr" presetSubtype="0" fill="hold" nodeType="clickEffect">
                                  <p:stCondLst>
                                    <p:cond delay="0"/>
                                  </p:stCondLst>
                                  <p:childTnLst>
                                    <p:set>
                                      <p:cBhvr>
                                        <p:cTn id="156" dur="1" fill="hold">
                                          <p:stCondLst>
                                            <p:cond delay="0"/>
                                          </p:stCondLst>
                                        </p:cTn>
                                        <p:tgtEl>
                                          <p:spTgt spid="12"/>
                                        </p:tgtEl>
                                        <p:attrNameLst>
                                          <p:attrName>style.visibility</p:attrName>
                                        </p:attrNameLst>
                                      </p:cBhvr>
                                      <p:to>
                                        <p:strVal val="visible"/>
                                      </p:to>
                                    </p:set>
                                    <p:animEffect transition="in" filter="fade">
                                      <p:cBhvr>
                                        <p:cTn id="157" dur="450"/>
                                        <p:tgtEl>
                                          <p:spTgt spid="12"/>
                                        </p:tgtEl>
                                      </p:cBhvr>
                                    </p:animEffect>
                                  </p:childTnLst>
                                </p:cTn>
                              </p:par>
                              <p:par>
                                <p:cTn id="160" presetID="10" presetClass="entr" presetSubtype="0" fill="hold" nodeType="clickEffect">
                                  <p:stCondLst>
                                    <p:cond delay="80"/>
                                  </p:stCondLst>
                                  <p:childTnLst>
                                    <p:set>
                                      <p:cBhvr>
                                        <p:cTn id="161" dur="1" fill="hold">
                                          <p:stCondLst>
                                            <p:cond delay="0"/>
                                          </p:stCondLst>
                                        </p:cTn>
                                        <p:tgtEl>
                                          <p:spTgt spid="14"/>
                                        </p:tgtEl>
                                        <p:attrNameLst>
                                          <p:attrName>style.visibility</p:attrName>
                                        </p:attrNameLst>
                                      </p:cBhvr>
                                      <p:to>
                                        <p:strVal val="visible"/>
                                      </p:to>
                                    </p:set>
                                    <p:animEffect transition="in" filter="fade">
                                      <p:cBhvr>
                                        <p:cTn id="162" dur="450"/>
                                        <p:tgtEl>
                                          <p:spTgt spid="14"/>
                                        </p:tgtEl>
                                      </p:cBhvr>
                                    </p:animEffect>
                                  </p:childTnLst>
                                </p:cTn>
                              </p:par>
                              <p:par>
                                <p:cTn id="165" presetID="10" presetClass="entr" presetSubtype="0" fill="hold" nodeType="clickEffect">
                                  <p:stCondLst>
                                    <p:cond delay="160"/>
                                  </p:stCondLst>
                                  <p:childTnLst>
                                    <p:set>
                                      <p:cBhvr>
                                        <p:cTn id="166" dur="1" fill="hold">
                                          <p:stCondLst>
                                            <p:cond delay="0"/>
                                          </p:stCondLst>
                                        </p:cTn>
                                        <p:tgtEl>
                                          <p:spTgt spid="13"/>
                                        </p:tgtEl>
                                        <p:attrNameLst>
                                          <p:attrName>style.visibility</p:attrName>
                                        </p:attrNameLst>
                                      </p:cBhvr>
                                      <p:to>
                                        <p:strVal val="visible"/>
                                      </p:to>
                                    </p:set>
                                    <p:animEffect transition="in" filter="fade">
                                      <p:cBhvr>
                                        <p:cTn id="167" dur="450"/>
                                        <p:tgtEl>
                                          <p:spTgt spid="13"/>
                                        </p:tgtEl>
                                      </p:cBhvr>
                                    </p:animEffect>
                                  </p:childTnLst>
                                </p:cTn>
                              </p:par>
                              <p:par>
                                <p:cTn id="170" presetID="10" presetClass="entr" presetSubtype="0" fill="hold" nodeType="clickEffect">
                                  <p:stCondLst>
                                    <p:cond delay="240"/>
                                  </p:stCondLst>
                                  <p:childTnLst>
                                    <p:set>
                                      <p:cBhvr>
                                        <p:cTn id="171" dur="1" fill="hold">
                                          <p:stCondLst>
                                            <p:cond delay="0"/>
                                          </p:stCondLst>
                                        </p:cTn>
                                        <p:tgtEl>
                                          <p:spTgt spid="15"/>
                                        </p:tgtEl>
                                        <p:attrNameLst>
                                          <p:attrName>style.visibility</p:attrName>
                                        </p:attrNameLst>
                                      </p:cBhvr>
                                      <p:to>
                                        <p:strVal val="visible"/>
                                      </p:to>
                                    </p:set>
                                    <p:animEffect transition="in" filter="fade">
                                      <p:cBhvr>
                                        <p:cTn id="172" dur="450"/>
                                        <p:tgtEl>
                                          <p:spTgt spid="15"/>
                                        </p:tgtEl>
                                      </p:cBhvr>
                                    </p:animEffect>
                                  </p:childTnLst>
                                </p:cTn>
                              </p:par>
                              <p:par>
                                <p:cTn id="175" presetID="10" presetClass="entr" presetSubtype="0" fill="hold" nodeType="clickEffect">
                                  <p:stCondLst>
                                    <p:cond delay="320"/>
                                  </p:stCondLst>
                                  <p:childTnLst>
                                    <p:set>
                                      <p:cBhvr>
                                        <p:cTn id="176" dur="1" fill="hold">
                                          <p:stCondLst>
                                            <p:cond delay="0"/>
                                          </p:stCondLst>
                                        </p:cTn>
                                        <p:tgtEl>
                                          <p:spTgt spid="17"/>
                                        </p:tgtEl>
                                        <p:attrNameLst>
                                          <p:attrName>style.visibility</p:attrName>
                                        </p:attrNameLst>
                                      </p:cBhvr>
                                      <p:to>
                                        <p:strVal val="visible"/>
                                      </p:to>
                                    </p:set>
                                    <p:animEffect transition="in" filter="fade">
                                      <p:cBhvr>
                                        <p:cTn id="177" dur="450"/>
                                        <p:tgtEl>
                                          <p:spTgt spid="17"/>
                                        </p:tgtEl>
                                      </p:cBhvr>
                                    </p:animEffect>
                                  </p:childTnLst>
                                </p:cTn>
                              </p:par>
                            </p:childTnLst>
                          </p:cTn>
                        </p:par>
                      </p:childTnLst>
                    </p:cTn>
                  </p:par>
                  <p:par>
                    <p:cTn id="180" fill="hold">
                      <p:stCondLst>
                        <p:cond delay="indefinite"/>
                      </p:stCondLst>
                      <p:childTnLst>
                        <p:par>
                          <p:cTn id="181" fill="hold">
                            <p:stCondLst>
                              <p:cond delay="0"/>
                            </p:stCondLst>
                            <p:childTnLst>
                              <p:par>
                                <p:cTn id="190" presetID="10" presetClass="entr" presetSubtype="0" fill="hold" nodeType="clickEffect">
                                  <p:stCondLst>
                                    <p:cond delay="0"/>
                                  </p:stCondLst>
                                  <p:childTnLst>
                                    <p:set>
                                      <p:cBhvr>
                                        <p:cTn id="191" dur="1" fill="hold">
                                          <p:stCondLst>
                                            <p:cond delay="0"/>
                                          </p:stCondLst>
                                        </p:cTn>
                                        <p:tgtEl>
                                          <p:spTgt spid="18"/>
                                        </p:tgtEl>
                                        <p:attrNameLst>
                                          <p:attrName>style.visibility</p:attrName>
                                        </p:attrNameLst>
                                      </p:cBhvr>
                                      <p:to>
                                        <p:strVal val="visible"/>
                                      </p:to>
                                    </p:set>
                                    <p:animEffect transition="in" filter="fade">
                                      <p:cBhvr>
                                        <p:cTn id="192"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 name="Fond" descr="bg_light.jpg"/>
          <p:cNvPicPr>
            <a:picLocks noChangeAspect="1"/>
          </p:cNvPicPr>
          <p:nvPr/>
        </p:nvPicPr>
        <p:blipFill>
          <a:blip r:embed="rId2"/>
          <a:stretch>
            <a:fillRect/>
          </a:stretch>
        </p:blipFill>
        <p:spPr>
          <a:xfrm>
            <a:off x="0" y="0"/>
            <a:ext cx="12191695" cy="6858000"/>
          </a:xfrm>
          <a:prstGeom prst="rect">
            <a:avLst/>
          </a:prstGeom>
        </p:spPr>
      </p:pic>
      <p:sp>
        <p:nvSpPr>
          <p:cNvPr id="2" name="Section"/>
          <p:cNvSpPr txBox="1"/>
          <p:nvPr/>
        </p:nvSpPr>
        <p:spPr>
          <a:xfrm>
            <a:off x="640080" y="301752"/>
            <a:ext cx="3657600" cy="256032"/>
          </a:xfrm>
          <a:prstGeom prst="rect">
            <a:avLst/>
          </a:prstGeom>
          <a:noFill/>
        </p:spPr>
        <p:txBody>
          <a:bodyPr wrap="none" anchor="t" lIns="0" rIns="0" tIns="0" bIns="0">
            <a:noAutofit/>
          </a:bodyPr>
          <a:lstStyle/>
          <a:p>
            <a:pPr algn="l">
              <a:lnSpc>
                <a:spcPct val="105000"/>
              </a:lnSpc>
              <a:spcBef>
                <a:spcPts val="0"/>
              </a:spcBef>
              <a:spcAft>
                <a:spcPts val="0"/>
              </a:spcAft>
            </a:pPr>
            <a:r>
              <a:rPr sz="900" b="1" i="0" spc="140" lang="fr-FR">
                <a:solidFill>
                  <a:srgbClr val="6D28D9"/>
                </a:solidFill>
                <a:latin typeface="Arial"/>
              </a:rPr>
              <a:t>PROBLÉMATIQUE</a:t>
            </a:r>
          </a:p>
        </p:txBody>
      </p:sp>
      <p:sp>
        <p:nvSpPr>
          <p:cNvPr id="3" name="Monogramme"/>
          <p:cNvSpPr txBox="1"/>
          <p:nvPr/>
        </p:nvSpPr>
        <p:spPr>
          <a:xfrm>
            <a:off x="10454335" y="301752"/>
            <a:ext cx="1097280" cy="256032"/>
          </a:xfrm>
          <a:prstGeom prst="rect">
            <a:avLst/>
          </a:prstGeom>
          <a:noFill/>
        </p:spPr>
        <p:txBody>
          <a:bodyPr wrap="none" anchor="t" lIns="0" rIns="0" tIns="0" bIns="0">
            <a:noAutofit/>
          </a:bodyPr>
          <a:lstStyle/>
          <a:p>
            <a:pPr algn="r">
              <a:lnSpc>
                <a:spcPct val="105000"/>
              </a:lnSpc>
              <a:spcBef>
                <a:spcPts val="0"/>
              </a:spcBef>
              <a:spcAft>
                <a:spcPts val="0"/>
              </a:spcAft>
            </a:pPr>
            <a:r>
              <a:rPr sz="850" b="1" i="0" spc="120" lang="fr-FR">
                <a:solidFill>
                  <a:srgbClr val="7C6F8F"/>
                </a:solidFill>
                <a:latin typeface="Arial"/>
              </a:rPr>
              <a:t>SC · 2026</a:t>
            </a:r>
          </a:p>
        </p:txBody>
      </p:sp>
      <p:sp>
        <p:nvSpPr>
          <p:cNvPr id="4" name="AccentTitre"/>
          <p:cNvSpPr/>
          <p:nvPr/>
        </p:nvSpPr>
        <p:spPr>
          <a:xfrm>
            <a:off x="640080" y="877824"/>
            <a:ext cx="50292" cy="45720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itre"/>
          <p:cNvSpPr txBox="1"/>
          <p:nvPr/>
        </p:nvSpPr>
        <p:spPr>
          <a:xfrm>
            <a:off x="841247" y="822960"/>
            <a:ext cx="10710367" cy="914400"/>
          </a:xfrm>
          <a:prstGeom prst="rect">
            <a:avLst/>
          </a:prstGeom>
          <a:noFill/>
        </p:spPr>
        <p:txBody>
          <a:bodyPr wrap="none" anchor="t" lIns="0" rIns="0" tIns="0" bIns="0">
            <a:noAutofit/>
          </a:bodyPr>
          <a:lstStyle/>
          <a:p>
            <a:pPr algn="l">
              <a:lnSpc>
                <a:spcPct val="98000"/>
              </a:lnSpc>
              <a:spcBef>
                <a:spcPts val="0"/>
              </a:spcBef>
              <a:spcAft>
                <a:spcPts val="0"/>
              </a:spcAft>
            </a:pPr>
            <a:r>
              <a:rPr sz="3000" b="1" i="0" lang="fr-FR">
                <a:solidFill>
                  <a:srgbClr val="2E1065"/>
                </a:solidFill>
                <a:latin typeface="Arial"/>
              </a:rPr>
              <a:t>Comment sécuriser un périmètre qui s'efface ?</a:t>
            </a:r>
          </a:p>
        </p:txBody>
      </p:sp>
      <p:sp>
        <p:nvSpPr>
          <p:cNvPr id="6" name="QuestionCard"/>
          <p:cNvSpPr/>
          <p:nvPr/>
        </p:nvSpPr>
        <p:spPr>
          <a:xfrm>
            <a:off x="640080" y="1828800"/>
            <a:ext cx="10881360" cy="2331720"/>
          </a:xfrm>
          <a:prstGeom prst="roundRect">
            <a:avLst>
              <a:gd name="adj" fmla="val 6000"/>
            </a:avLst>
          </a:prstGeom>
          <a:solidFill>
            <a:srgbClr val="FFFFFF"/>
          </a:solidFill>
          <a:ln w="12700">
            <a:solidFill>
              <a:srgbClr val="EDE9FE"/>
            </a:solidFill>
          </a:ln>
          <a:effectLst>
            <a:outerShdw blurRad="177800" dist="38100" dir="5400000" algn="ctr" rotWithShape="0">
              <a:srgbClr val="1B0F33">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QuoteMark"/>
          <p:cNvSpPr txBox="1"/>
          <p:nvPr/>
        </p:nvSpPr>
        <p:spPr>
          <a:xfrm>
            <a:off x="822960" y="1481328"/>
            <a:ext cx="1097280" cy="1097280"/>
          </a:xfrm>
          <a:prstGeom prst="rect">
            <a:avLst/>
          </a:prstGeom>
          <a:noFill/>
        </p:spPr>
        <p:txBody>
          <a:bodyPr wrap="none" anchor="t" lIns="0" rIns="0" tIns="0" bIns="0">
            <a:noAutofit/>
          </a:bodyPr>
          <a:lstStyle/>
          <a:p>
            <a:pPr algn="l">
              <a:lnSpc>
                <a:spcPct val="105000"/>
              </a:lnSpc>
              <a:spcBef>
                <a:spcPts val="0"/>
              </a:spcBef>
              <a:spcAft>
                <a:spcPts val="0"/>
              </a:spcAft>
            </a:pPr>
            <a:r>
              <a:rPr sz="8000" b="0" i="0" lang="fr-FR">
                <a:solidFill>
                  <a:srgbClr val="EDE9FE"/>
                </a:solidFill>
                <a:latin typeface="Arial"/>
              </a:rPr>
              <a:t>“</a:t>
            </a:r>
          </a:p>
        </p:txBody>
      </p:sp>
      <p:sp>
        <p:nvSpPr>
          <p:cNvPr id="8" name="TextBox 7"/>
          <p:cNvSpPr txBox="1"/>
          <p:nvPr/>
        </p:nvSpPr>
        <p:spPr>
          <a:xfrm>
            <a:off x="1188720" y="1965960"/>
            <a:ext cx="9875520" cy="1965960"/>
          </a:xfrm>
          <a:prstGeom prst="rect">
            <a:avLst/>
          </a:prstGeom>
          <a:noFill/>
        </p:spPr>
        <p:txBody>
          <a:bodyPr wrap="none" anchor="t" lIns="0" rIns="0" tIns="0" bIns="0">
            <a:noAutofit/>
          </a:bodyPr>
          <a:lstStyle/>
          <a:p>
            <a:pPr algn="l">
              <a:lnSpc>
                <a:spcPct val="112000"/>
              </a:lnSpc>
              <a:spcBef>
                <a:spcPts val="0"/>
              </a:spcBef>
              <a:spcAft>
                <a:spcPts val="0"/>
              </a:spcAft>
            </a:pPr>
            <a:r>
              <a:rPr sz="2100" b="0" i="0" lang="fr-FR">
                <a:solidFill>
                  <a:srgbClr val="2E1065"/>
                </a:solidFill>
                <a:latin typeface="Arial"/>
              </a:rPr>
              <a:t>Dans un environnement cloud, quels sont les principaux risques de sécurité, et</a:t>
            </a:r>
          </a:p>
          <a:p>
            <a:pPr algn="l">
              <a:lnSpc>
                <a:spcPct val="112000"/>
              </a:lnSpc>
              <a:spcBef>
                <a:spcPts val="0"/>
              </a:spcBef>
              <a:spcAft>
                <a:spcPts val="0"/>
              </a:spcAft>
            </a:pPr>
            <a:r>
              <a:rPr sz="2100" b="0" i="0" lang="fr-FR">
                <a:solidFill>
                  <a:srgbClr val="2E1065"/>
                </a:solidFill>
                <a:latin typeface="Arial"/>
              </a:rPr>
              <a:t>comment les mécanismes d'authentification, d'autorisation et de configuration</a:t>
            </a:r>
          </a:p>
          <a:p>
            <a:pPr algn="l">
              <a:lnSpc>
                <a:spcPct val="112000"/>
              </a:lnSpc>
              <a:spcBef>
                <a:spcPts val="0"/>
              </a:spcBef>
              <a:spcAft>
                <a:spcPts val="0"/>
              </a:spcAft>
            </a:pPr>
            <a:r>
              <a:rPr sz="2100" b="0" i="0" lang="fr-FR">
                <a:solidFill>
                  <a:srgbClr val="2E1065"/>
                </a:solidFill>
                <a:latin typeface="Arial"/>
              </a:rPr>
              <a:t>permettent-ils de protéger efficacement les données, les applications et les</a:t>
            </a:r>
          </a:p>
          <a:p>
            <a:pPr algn="l">
              <a:lnSpc>
                <a:spcPct val="112000"/>
              </a:lnSpc>
              <a:spcBef>
                <a:spcPts val="0"/>
              </a:spcBef>
              <a:spcAft>
                <a:spcPts val="0"/>
              </a:spcAft>
            </a:pPr>
            <a:r>
              <a:rPr sz="2100" b="0" i="0" lang="fr-FR">
                <a:solidFill>
                  <a:srgbClr val="2E1065"/>
                </a:solidFill>
                <a:latin typeface="Arial"/>
              </a:rPr>
              <a:t>interfaces qui les exposent ?</a:t>
            </a:r>
          </a:p>
        </p:txBody>
      </p:sp>
      <p:sp>
        <p:nvSpPr>
          <p:cNvPr id="9" name="TextBox 8"/>
          <p:cNvSpPr txBox="1"/>
          <p:nvPr/>
        </p:nvSpPr>
        <p:spPr>
          <a:xfrm>
            <a:off x="640080" y="4407408"/>
            <a:ext cx="2743200" cy="256032"/>
          </a:xfrm>
          <a:prstGeom prst="rect">
            <a:avLst/>
          </a:prstGeom>
          <a:noFill/>
        </p:spPr>
        <p:txBody>
          <a:bodyPr wrap="none" anchor="t" lIns="0" rIns="0" tIns="0" bIns="0">
            <a:noAutofit/>
          </a:bodyPr>
          <a:lstStyle/>
          <a:p>
            <a:pPr algn="l">
              <a:lnSpc>
                <a:spcPct val="105000"/>
              </a:lnSpc>
              <a:spcBef>
                <a:spcPts val="0"/>
              </a:spcBef>
              <a:spcAft>
                <a:spcPts val="0"/>
              </a:spcAft>
            </a:pPr>
            <a:r>
              <a:rPr sz="950" b="1" i="0" spc="140" lang="fr-FR">
                <a:solidFill>
                  <a:srgbClr val="B45309"/>
                </a:solidFill>
                <a:latin typeface="Arial"/>
              </a:rPr>
              <a:t>MÉTHODE</a:t>
            </a:r>
          </a:p>
        </p:txBody>
      </p:sp>
      <p:sp>
        <p:nvSpPr>
          <p:cNvPr id="10" name="Methode1"/>
          <p:cNvSpPr/>
          <p:nvPr/>
        </p:nvSpPr>
        <p:spPr>
          <a:xfrm>
            <a:off x="640080" y="4709160"/>
            <a:ext cx="3429000" cy="868680"/>
          </a:xfrm>
          <a:prstGeom prst="roundRect">
            <a:avLst>
              <a:gd name="adj" fmla="val 6000"/>
            </a:avLst>
          </a:prstGeom>
          <a:solidFill>
            <a:srgbClr val="FFFFFF"/>
          </a:solidFill>
          <a:ln w="12700">
            <a:solidFill>
              <a:srgbClr val="C4B5FD"/>
            </a:solidFill>
          </a:ln>
          <a:effectLst>
            <a:outerShdw blurRad="177800" dist="38100" dir="5400000" algn="ctr" rotWithShape="0">
              <a:srgbClr val="1B0F33">
                <a:alpha val="18000"/>
              </a:srgbClr>
            </a:outerShdw>
          </a:effectLst>
        </p:spPr>
        <p:style>
          <a:lnRef idx="1">
            <a:schemeClr val="accent1"/>
          </a:lnRef>
          <a:fillRef idx="3">
            <a:schemeClr val="accent1"/>
          </a:fillRef>
          <a:effectRef idx="2">
            <a:schemeClr val="accent1"/>
          </a:effectRef>
          <a:fontRef idx="minor">
            <a:schemeClr val="lt1"/>
          </a:fontRef>
        </p:style>
        <p:txBody>
          <a:bodyPr rtlCol="0" anchor="t" wrap="none" lIns="164592" rIns="164592" tIns="109728" bIns="109728">
            <a:noAutofit/>
          </a:bodyPr>
          <a:lstStyle/>
          <a:p>
            <a:pPr>
              <a:lnSpc>
                <a:spcPct val="106000"/>
              </a:lnSpc>
              <a:spcBef>
                <a:spcPts val="0"/>
              </a:spcBef>
              <a:spcAft>
                <a:spcPts val="200"/>
              </a:spcAft>
            </a:pPr>
            <a:r>
              <a:rPr sz="1300" b="1" i="0" lang="fr-FR">
                <a:solidFill>
                  <a:srgbClr val="2E1065"/>
                </a:solidFill>
                <a:latin typeface="Arial"/>
              </a:rPr>
              <a:t>Analyse documentaire</a:t>
            </a:r>
          </a:p>
          <a:p>
            <a:pPr>
              <a:lnSpc>
                <a:spcPct val="106000"/>
              </a:lnSpc>
              <a:spcBef>
                <a:spcPts val="0"/>
              </a:spcBef>
              <a:spcAft>
                <a:spcPts val="0"/>
              </a:spcAft>
            </a:pPr>
            <a:r>
              <a:rPr sz="1000" b="0" i="0" lang="fr-FR">
                <a:solidFill>
                  <a:srgbClr val="6B7280"/>
                </a:solidFill>
                <a:latin typeface="Arial"/>
              </a:rPr>
              <a:t>Rapport, normes, études de cas.</a:t>
            </a:r>
          </a:p>
        </p:txBody>
      </p:sp>
      <p:sp>
        <p:nvSpPr>
          <p:cNvPr id="11" name="Methode2"/>
          <p:cNvSpPr/>
          <p:nvPr/>
        </p:nvSpPr>
        <p:spPr>
          <a:xfrm>
            <a:off x="4389120" y="4709160"/>
            <a:ext cx="3429000" cy="868680"/>
          </a:xfrm>
          <a:prstGeom prst="roundRect">
            <a:avLst>
              <a:gd name="adj" fmla="val 6000"/>
            </a:avLst>
          </a:prstGeom>
          <a:solidFill>
            <a:srgbClr val="FFFFFF"/>
          </a:solidFill>
          <a:ln w="12700">
            <a:solidFill>
              <a:srgbClr val="C4B5FD"/>
            </a:solidFill>
          </a:ln>
          <a:effectLst>
            <a:outerShdw blurRad="177800" dist="38100" dir="5400000" algn="ctr" rotWithShape="0">
              <a:srgbClr val="1B0F33">
                <a:alpha val="18000"/>
              </a:srgbClr>
            </a:outerShdw>
          </a:effectLst>
        </p:spPr>
        <p:style>
          <a:lnRef idx="1">
            <a:schemeClr val="accent1"/>
          </a:lnRef>
          <a:fillRef idx="3">
            <a:schemeClr val="accent1"/>
          </a:fillRef>
          <a:effectRef idx="2">
            <a:schemeClr val="accent1"/>
          </a:effectRef>
          <a:fontRef idx="minor">
            <a:schemeClr val="lt1"/>
          </a:fontRef>
        </p:style>
        <p:txBody>
          <a:bodyPr rtlCol="0" anchor="t" wrap="none" lIns="164592" rIns="164592" tIns="109728" bIns="109728">
            <a:noAutofit/>
          </a:bodyPr>
          <a:lstStyle/>
          <a:p>
            <a:pPr>
              <a:lnSpc>
                <a:spcPct val="106000"/>
              </a:lnSpc>
              <a:spcBef>
                <a:spcPts val="0"/>
              </a:spcBef>
              <a:spcAft>
                <a:spcPts val="200"/>
              </a:spcAft>
            </a:pPr>
            <a:r>
              <a:rPr sz="1300" b="1" i="0" lang="fr-FR">
                <a:solidFill>
                  <a:srgbClr val="2E1065"/>
                </a:solidFill>
                <a:latin typeface="Arial"/>
              </a:rPr>
              <a:t>Référentiels</a:t>
            </a:r>
          </a:p>
          <a:p>
            <a:pPr>
              <a:lnSpc>
                <a:spcPct val="106000"/>
              </a:lnSpc>
              <a:spcBef>
                <a:spcPts val="0"/>
              </a:spcBef>
              <a:spcAft>
                <a:spcPts val="0"/>
              </a:spcAft>
            </a:pPr>
            <a:r>
              <a:rPr sz="1000" b="0" i="0" lang="fr-FR">
                <a:solidFill>
                  <a:srgbClr val="6B7280"/>
                </a:solidFill>
                <a:latin typeface="Arial"/>
              </a:rPr>
              <a:t>NIST · ISO/IEC 27017 · CSA.</a:t>
            </a:r>
          </a:p>
        </p:txBody>
      </p:sp>
      <p:sp>
        <p:nvSpPr>
          <p:cNvPr id="12" name="Methode3"/>
          <p:cNvSpPr/>
          <p:nvPr/>
        </p:nvSpPr>
        <p:spPr>
          <a:xfrm>
            <a:off x="8138160" y="4709160"/>
            <a:ext cx="3429000" cy="868680"/>
          </a:xfrm>
          <a:prstGeom prst="roundRect">
            <a:avLst>
              <a:gd name="adj" fmla="val 6000"/>
            </a:avLst>
          </a:prstGeom>
          <a:solidFill>
            <a:srgbClr val="FFFFFF"/>
          </a:solidFill>
          <a:ln w="12700">
            <a:solidFill>
              <a:srgbClr val="C4B5FD"/>
            </a:solidFill>
          </a:ln>
          <a:effectLst>
            <a:outerShdw blurRad="177800" dist="38100" dir="5400000" algn="ctr" rotWithShape="0">
              <a:srgbClr val="1B0F33">
                <a:alpha val="18000"/>
              </a:srgbClr>
            </a:outerShdw>
          </a:effectLst>
        </p:spPr>
        <p:style>
          <a:lnRef idx="1">
            <a:schemeClr val="accent1"/>
          </a:lnRef>
          <a:fillRef idx="3">
            <a:schemeClr val="accent1"/>
          </a:fillRef>
          <a:effectRef idx="2">
            <a:schemeClr val="accent1"/>
          </a:effectRef>
          <a:fontRef idx="minor">
            <a:schemeClr val="lt1"/>
          </a:fontRef>
        </p:style>
        <p:txBody>
          <a:bodyPr rtlCol="0" anchor="t" wrap="none" lIns="164592" rIns="164592" tIns="109728" bIns="109728">
            <a:noAutofit/>
          </a:bodyPr>
          <a:lstStyle/>
          <a:p>
            <a:pPr>
              <a:lnSpc>
                <a:spcPct val="106000"/>
              </a:lnSpc>
              <a:spcBef>
                <a:spcPts val="0"/>
              </a:spcBef>
              <a:spcAft>
                <a:spcPts val="200"/>
              </a:spcAft>
            </a:pPr>
            <a:r>
              <a:rPr sz="1300" b="1" i="0" lang="fr-FR">
                <a:solidFill>
                  <a:srgbClr val="2E1065"/>
                </a:solidFill>
                <a:latin typeface="Arial"/>
              </a:rPr>
              <a:t>OWASP API Top 10</a:t>
            </a:r>
          </a:p>
          <a:p>
            <a:pPr>
              <a:lnSpc>
                <a:spcPct val="106000"/>
              </a:lnSpc>
              <a:spcBef>
                <a:spcPts val="0"/>
              </a:spcBef>
              <a:spcAft>
                <a:spcPts val="0"/>
              </a:spcAft>
            </a:pPr>
            <a:r>
              <a:rPr sz="1000" b="0" i="0" lang="fr-FR">
                <a:solidFill>
                  <a:srgbClr val="6B7280"/>
                </a:solidFill>
                <a:latin typeface="Arial"/>
              </a:rPr>
              <a:t>Édition 2023.</a:t>
            </a:r>
          </a:p>
        </p:txBody>
      </p:sp>
      <p:sp>
        <p:nvSpPr>
          <p:cNvPr id="13" name="TextBox 12"/>
          <p:cNvSpPr txBox="1"/>
          <p:nvPr/>
        </p:nvSpPr>
        <p:spPr>
          <a:xfrm>
            <a:off x="640080" y="5897880"/>
            <a:ext cx="10881360" cy="320040"/>
          </a:xfrm>
          <a:prstGeom prst="rect">
            <a:avLst/>
          </a:prstGeom>
          <a:noFill/>
        </p:spPr>
        <p:txBody>
          <a:bodyPr wrap="none" anchor="t" lIns="0" rIns="0" tIns="0" bIns="0">
            <a:noAutofit/>
          </a:bodyPr>
          <a:lstStyle/>
          <a:p>
            <a:pPr algn="l">
              <a:lnSpc>
                <a:spcPct val="105000"/>
              </a:lnSpc>
              <a:spcBef>
                <a:spcPts val="0"/>
              </a:spcBef>
              <a:spcAft>
                <a:spcPts val="0"/>
              </a:spcAft>
            </a:pPr>
            <a:r>
              <a:rPr sz="1400" b="1" i="0" lang="fr-FR">
                <a:solidFill>
                  <a:srgbClr val="6D28D9"/>
                </a:solidFill>
                <a:latin typeface="Arial"/>
              </a:rPr>
              <a:t>Une réponse en trois leviers, appliquée à l'API.</a:t>
            </a:r>
          </a:p>
        </p:txBody>
      </p:sp>
      <p:sp>
        <p:nvSpPr>
          <p:cNvPr id="14" name="Source"/>
          <p:cNvSpPr txBox="1"/>
          <p:nvPr/>
        </p:nvSpPr>
        <p:spPr>
          <a:xfrm>
            <a:off x="640080" y="6382512"/>
            <a:ext cx="10271455" cy="219456"/>
          </a:xfrm>
          <a:prstGeom prst="rect">
            <a:avLst/>
          </a:prstGeom>
          <a:noFill/>
        </p:spPr>
        <p:txBody>
          <a:bodyPr wrap="none" anchor="t" lIns="0" rIns="0" tIns="0" bIns="0">
            <a:noAutofit/>
          </a:bodyPr>
          <a:lstStyle/>
          <a:p>
            <a:pPr algn="l">
              <a:lnSpc>
                <a:spcPct val="105000"/>
              </a:lnSpc>
              <a:spcBef>
                <a:spcPts val="0"/>
              </a:spcBef>
              <a:spcAft>
                <a:spcPts val="0"/>
              </a:spcAft>
            </a:pPr>
            <a:r>
              <a:rPr sz="850" b="0" i="0" lang="fr-FR">
                <a:solidFill>
                  <a:srgbClr val="5B5563"/>
                </a:solidFill>
                <a:latin typeface="Arial"/>
              </a:rPr>
              <a:t>Méthode : analyse documentaire ; NIST ; ISO/IEC 27017 ; OWASP API Top 10.</a:t>
            </a:r>
          </a:p>
        </p:txBody>
      </p:sp>
      <p:sp>
        <p:nvSpPr>
          <p:cNvPr id="15" name="Numero"/>
          <p:cNvSpPr txBox="1"/>
          <p:nvPr/>
        </p:nvSpPr>
        <p:spPr>
          <a:xfrm>
            <a:off x="10728655" y="6419088"/>
            <a:ext cx="822960" cy="201168"/>
          </a:xfrm>
          <a:prstGeom prst="rect">
            <a:avLst/>
          </a:prstGeom>
          <a:noFill/>
        </p:spPr>
        <p:txBody>
          <a:bodyPr wrap="none" anchor="t" lIns="0" rIns="0" tIns="0" bIns="0">
            <a:noAutofit/>
          </a:bodyPr>
          <a:lstStyle/>
          <a:p>
            <a:pPr algn="r">
              <a:lnSpc>
                <a:spcPct val="105000"/>
              </a:lnSpc>
              <a:spcBef>
                <a:spcPts val="0"/>
              </a:spcBef>
              <a:spcAft>
                <a:spcPts val="0"/>
              </a:spcAft>
            </a:pPr>
            <a:r>
              <a:rPr sz="850" b="1" i="0" lang="fr-FR">
                <a:solidFill>
                  <a:srgbClr val="6B7280"/>
                </a:solidFill>
                <a:latin typeface="Arial"/>
              </a:rPr>
              <a:t>08 / 16</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00" fill="hold">
                      <p:stCondLst>
                        <p:cond delay="indefinite"/>
                      </p:stCondLst>
                      <p:childTnLst>
                        <p:par>
                          <p:cTn id="101" fill="hold">
                            <p:stCondLst>
                              <p:cond delay="0"/>
                            </p:stCondLst>
                            <p:childTnLst>
                              <p:par>
                                <p:cTn id="110" presetID="10" presetClass="entr" presetSubtype="0" fill="hold" nodeType="clickEffect">
                                  <p:stCondLst>
                                    <p:cond delay="0"/>
                                  </p:stCondLst>
                                  <p:childTnLst>
                                    <p:set>
                                      <p:cBhvr>
                                        <p:cTn id="111" dur="1" fill="hold">
                                          <p:stCondLst>
                                            <p:cond delay="0"/>
                                          </p:stCondLst>
                                        </p:cTn>
                                        <p:tgtEl>
                                          <p:spTgt spid="6"/>
                                        </p:tgtEl>
                                        <p:attrNameLst>
                                          <p:attrName>style.visibility</p:attrName>
                                        </p:attrNameLst>
                                      </p:cBhvr>
                                      <p:to>
                                        <p:strVal val="visible"/>
                                      </p:to>
                                    </p:set>
                                    <p:animEffect transition="in" filter="fade">
                                      <p:cBhvr>
                                        <p:cTn id="112" dur="450"/>
                                        <p:tgtEl>
                                          <p:spTgt spid="6"/>
                                        </p:tgtEl>
                                      </p:cBhvr>
                                    </p:animEffect>
                                  </p:childTnLst>
                                </p:cTn>
                              </p:par>
                              <p:par>
                                <p:cTn id="115" presetID="10" presetClass="entr" presetSubtype="0" fill="hold" nodeType="clickEffect">
                                  <p:stCondLst>
                                    <p:cond delay="0"/>
                                  </p:stCondLst>
                                  <p:childTnLst>
                                    <p:set>
                                      <p:cBhvr>
                                        <p:cTn id="116" dur="1" fill="hold">
                                          <p:stCondLst>
                                            <p:cond delay="0"/>
                                          </p:stCondLst>
                                        </p:cTn>
                                        <p:tgtEl>
                                          <p:spTgt spid="7"/>
                                        </p:tgtEl>
                                        <p:attrNameLst>
                                          <p:attrName>style.visibility</p:attrName>
                                        </p:attrNameLst>
                                      </p:cBhvr>
                                      <p:to>
                                        <p:strVal val="visible"/>
                                      </p:to>
                                    </p:set>
                                    <p:animEffect transition="in" filter="fade">
                                      <p:cBhvr>
                                        <p:cTn id="117" dur="450"/>
                                        <p:tgtEl>
                                          <p:spTgt spid="7"/>
                                        </p:tgtEl>
                                      </p:cBhvr>
                                    </p:animEffect>
                                  </p:childTnLst>
                                </p:cTn>
                              </p:par>
                              <p:par>
                                <p:cTn id="120" presetID="10" presetClass="entr" presetSubtype="0" fill="hold" nodeType="clickEffect">
                                  <p:stCondLst>
                                    <p:cond delay="100"/>
                                  </p:stCondLst>
                                  <p:childTnLst>
                                    <p:set>
                                      <p:cBhvr>
                                        <p:cTn id="121" dur="1" fill="hold">
                                          <p:stCondLst>
                                            <p:cond delay="0"/>
                                          </p:stCondLst>
                                        </p:cTn>
                                        <p:tgtEl>
                                          <p:spTgt spid="8"/>
                                        </p:tgtEl>
                                        <p:attrNameLst>
                                          <p:attrName>style.visibility</p:attrName>
                                        </p:attrNameLst>
                                      </p:cBhvr>
                                      <p:to>
                                        <p:strVal val="visible"/>
                                      </p:to>
                                    </p:set>
                                    <p:animEffect transition="in" filter="fade">
                                      <p:cBhvr>
                                        <p:cTn id="122" dur="450"/>
                                        <p:tgtEl>
                                          <p:spTgt spid="8"/>
                                        </p:tgtEl>
                                      </p:cBhvr>
                                    </p:animEffect>
                                  </p:childTnLst>
                                </p:cTn>
                              </p:par>
                            </p:childTnLst>
                          </p:cTn>
                        </p:par>
                      </p:childTnLst>
                    </p:cTn>
                  </p:par>
                  <p:par>
                    <p:cTn id="125" fill="hold">
                      <p:stCondLst>
                        <p:cond delay="indefinite"/>
                      </p:stCondLst>
                      <p:childTnLst>
                        <p:par>
                          <p:cTn id="126" fill="hold">
                            <p:stCondLst>
                              <p:cond delay="0"/>
                            </p:stCondLst>
                            <p:childTnLst>
                              <p:par>
                                <p:cTn id="135" presetID="10" presetClass="entr" presetSubtype="0" fill="hold" nodeType="clickEffect">
                                  <p:stCondLst>
                                    <p:cond delay="0"/>
                                  </p:stCondLst>
                                  <p:childTnLst>
                                    <p:set>
                                      <p:cBhvr>
                                        <p:cTn id="136" dur="1" fill="hold">
                                          <p:stCondLst>
                                            <p:cond delay="0"/>
                                          </p:stCondLst>
                                        </p:cTn>
                                        <p:tgtEl>
                                          <p:spTgt spid="10"/>
                                        </p:tgtEl>
                                        <p:attrNameLst>
                                          <p:attrName>style.visibility</p:attrName>
                                        </p:attrNameLst>
                                      </p:cBhvr>
                                      <p:to>
                                        <p:strVal val="visible"/>
                                      </p:to>
                                    </p:set>
                                    <p:animEffect transition="in" filter="fade">
                                      <p:cBhvr>
                                        <p:cTn id="137" dur="450"/>
                                        <p:tgtEl>
                                          <p:spTgt spid="10"/>
                                        </p:tgtEl>
                                      </p:cBhvr>
                                    </p:animEffect>
                                  </p:childTnLst>
                                </p:cTn>
                              </p:par>
                              <p:par>
                                <p:cTn id="140" presetID="10" presetClass="entr" presetSubtype="0" fill="hold" nodeType="clickEffect">
                                  <p:stCondLst>
                                    <p:cond delay="100"/>
                                  </p:stCondLst>
                                  <p:childTnLst>
                                    <p:set>
                                      <p:cBhvr>
                                        <p:cTn id="141" dur="1" fill="hold">
                                          <p:stCondLst>
                                            <p:cond delay="0"/>
                                          </p:stCondLst>
                                        </p:cTn>
                                        <p:tgtEl>
                                          <p:spTgt spid="11"/>
                                        </p:tgtEl>
                                        <p:attrNameLst>
                                          <p:attrName>style.visibility</p:attrName>
                                        </p:attrNameLst>
                                      </p:cBhvr>
                                      <p:to>
                                        <p:strVal val="visible"/>
                                      </p:to>
                                    </p:set>
                                    <p:animEffect transition="in" filter="fade">
                                      <p:cBhvr>
                                        <p:cTn id="142" dur="450"/>
                                        <p:tgtEl>
                                          <p:spTgt spid="11"/>
                                        </p:tgtEl>
                                      </p:cBhvr>
                                    </p:animEffect>
                                  </p:childTnLst>
                                </p:cTn>
                              </p:par>
                              <p:par>
                                <p:cTn id="145" presetID="10" presetClass="entr" presetSubtype="0" fill="hold" nodeType="clickEffect">
                                  <p:stCondLst>
                                    <p:cond delay="200"/>
                                  </p:stCondLst>
                                  <p:childTnLst>
                                    <p:set>
                                      <p:cBhvr>
                                        <p:cTn id="146" dur="1" fill="hold">
                                          <p:stCondLst>
                                            <p:cond delay="0"/>
                                          </p:stCondLst>
                                        </p:cTn>
                                        <p:tgtEl>
                                          <p:spTgt spid="12"/>
                                        </p:tgtEl>
                                        <p:attrNameLst>
                                          <p:attrName>style.visibility</p:attrName>
                                        </p:attrNameLst>
                                      </p:cBhvr>
                                      <p:to>
                                        <p:strVal val="visible"/>
                                      </p:to>
                                    </p:set>
                                    <p:animEffect transition="in" filter="fade">
                                      <p:cBhvr>
                                        <p:cTn id="147" dur="450"/>
                                        <p:tgtEl>
                                          <p:spTgt spid="12"/>
                                        </p:tgtEl>
                                      </p:cBhvr>
                                    </p:animEffect>
                                  </p:childTnLst>
                                </p:cTn>
                              </p:par>
                            </p:childTnLst>
                          </p:cTn>
                        </p:par>
                      </p:childTnLst>
                    </p:cTn>
                  </p:par>
                  <p:par>
                    <p:cTn id="150" fill="hold">
                      <p:stCondLst>
                        <p:cond delay="indefinite"/>
                      </p:stCondLst>
                      <p:childTnLst>
                        <p:par>
                          <p:cTn id="151" fill="hold">
                            <p:stCondLst>
                              <p:cond delay="0"/>
                            </p:stCondLst>
                            <p:childTnLst>
                              <p:par>
                                <p:cTn id="160" presetID="10" presetClass="entr" presetSubtype="0" fill="hold" nodeType="clickEffect">
                                  <p:stCondLst>
                                    <p:cond delay="0"/>
                                  </p:stCondLst>
                                  <p:childTnLst>
                                    <p:set>
                                      <p:cBhvr>
                                        <p:cTn id="161" dur="1" fill="hold">
                                          <p:stCondLst>
                                            <p:cond delay="0"/>
                                          </p:stCondLst>
                                        </p:cTn>
                                        <p:tgtEl>
                                          <p:spTgt spid="13"/>
                                        </p:tgtEl>
                                        <p:attrNameLst>
                                          <p:attrName>style.visibility</p:attrName>
                                        </p:attrNameLst>
                                      </p:cBhvr>
                                      <p:to>
                                        <p:strVal val="visible"/>
                                      </p:to>
                                    </p:set>
                                    <p:animEffect transition="in" filter="fade">
                                      <p:cBhvr>
                                        <p:cTn id="162"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 name="Fond" descr="bg_light.jpg"/>
          <p:cNvPicPr>
            <a:picLocks noChangeAspect="1"/>
          </p:cNvPicPr>
          <p:nvPr/>
        </p:nvPicPr>
        <p:blipFill>
          <a:blip r:embed="rId2"/>
          <a:stretch>
            <a:fillRect/>
          </a:stretch>
        </p:blipFill>
        <p:spPr>
          <a:xfrm>
            <a:off x="0" y="0"/>
            <a:ext cx="12191695" cy="6858000"/>
          </a:xfrm>
          <a:prstGeom prst="rect">
            <a:avLst/>
          </a:prstGeom>
        </p:spPr>
      </p:pic>
      <p:sp>
        <p:nvSpPr>
          <p:cNvPr id="2" name="Section"/>
          <p:cNvSpPr txBox="1"/>
          <p:nvPr/>
        </p:nvSpPr>
        <p:spPr>
          <a:xfrm>
            <a:off x="640080" y="301752"/>
            <a:ext cx="3657600" cy="256032"/>
          </a:xfrm>
          <a:prstGeom prst="rect">
            <a:avLst/>
          </a:prstGeom>
          <a:noFill/>
        </p:spPr>
        <p:txBody>
          <a:bodyPr wrap="none" anchor="t" lIns="0" rIns="0" tIns="0" bIns="0">
            <a:noAutofit/>
          </a:bodyPr>
          <a:lstStyle/>
          <a:p>
            <a:pPr algn="l">
              <a:lnSpc>
                <a:spcPct val="105000"/>
              </a:lnSpc>
              <a:spcBef>
                <a:spcPts val="0"/>
              </a:spcBef>
              <a:spcAft>
                <a:spcPts val="0"/>
              </a:spcAft>
            </a:pPr>
            <a:r>
              <a:rPr sz="900" b="1" i="0" spc="140" lang="fr-FR">
                <a:solidFill>
                  <a:srgbClr val="6D28D9"/>
                </a:solidFill>
                <a:latin typeface="Arial"/>
              </a:rPr>
              <a:t>03 · CONTRÔLES</a:t>
            </a:r>
          </a:p>
        </p:txBody>
      </p:sp>
      <p:sp>
        <p:nvSpPr>
          <p:cNvPr id="3" name="Monogramme"/>
          <p:cNvSpPr txBox="1"/>
          <p:nvPr/>
        </p:nvSpPr>
        <p:spPr>
          <a:xfrm>
            <a:off x="10454335" y="301752"/>
            <a:ext cx="1097280" cy="256032"/>
          </a:xfrm>
          <a:prstGeom prst="rect">
            <a:avLst/>
          </a:prstGeom>
          <a:noFill/>
        </p:spPr>
        <p:txBody>
          <a:bodyPr wrap="none" anchor="t" lIns="0" rIns="0" tIns="0" bIns="0">
            <a:noAutofit/>
          </a:bodyPr>
          <a:lstStyle/>
          <a:p>
            <a:pPr algn="r">
              <a:lnSpc>
                <a:spcPct val="105000"/>
              </a:lnSpc>
              <a:spcBef>
                <a:spcPts val="0"/>
              </a:spcBef>
              <a:spcAft>
                <a:spcPts val="0"/>
              </a:spcAft>
            </a:pPr>
            <a:r>
              <a:rPr sz="850" b="1" i="0" spc="120" lang="fr-FR">
                <a:solidFill>
                  <a:srgbClr val="7C6F8F"/>
                </a:solidFill>
                <a:latin typeface="Arial"/>
              </a:rPr>
              <a:t>SC · 2026</a:t>
            </a:r>
          </a:p>
        </p:txBody>
      </p:sp>
      <p:sp>
        <p:nvSpPr>
          <p:cNvPr id="4" name="AccentTitre"/>
          <p:cNvSpPr/>
          <p:nvPr/>
        </p:nvSpPr>
        <p:spPr>
          <a:xfrm>
            <a:off x="640080" y="877824"/>
            <a:ext cx="50292" cy="45720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itre"/>
          <p:cNvSpPr txBox="1"/>
          <p:nvPr/>
        </p:nvSpPr>
        <p:spPr>
          <a:xfrm>
            <a:off x="841247" y="822960"/>
            <a:ext cx="10710367" cy="914400"/>
          </a:xfrm>
          <a:prstGeom prst="rect">
            <a:avLst/>
          </a:prstGeom>
          <a:noFill/>
        </p:spPr>
        <p:txBody>
          <a:bodyPr wrap="none" anchor="t" lIns="0" rIns="0" tIns="0" bIns="0">
            <a:noAutofit/>
          </a:bodyPr>
          <a:lstStyle/>
          <a:p>
            <a:pPr algn="l">
              <a:lnSpc>
                <a:spcPct val="98000"/>
              </a:lnSpc>
              <a:spcBef>
                <a:spcPts val="0"/>
              </a:spcBef>
              <a:spcAft>
                <a:spcPts val="0"/>
              </a:spcAft>
            </a:pPr>
            <a:r>
              <a:rPr sz="2900" b="1" i="0" lang="fr-FR">
                <a:solidFill>
                  <a:srgbClr val="2E1065"/>
                </a:solidFill>
                <a:latin typeface="Arial"/>
              </a:rPr>
              <a:t>Trois leviers : authentifier, autoriser, configurer</a:t>
            </a:r>
          </a:p>
        </p:txBody>
      </p:sp>
      <p:sp>
        <p:nvSpPr>
          <p:cNvPr id="6" name="Levier1"/>
          <p:cNvSpPr/>
          <p:nvPr/>
        </p:nvSpPr>
        <p:spPr>
          <a:xfrm>
            <a:off x="640080" y="1874519"/>
            <a:ext cx="3429000" cy="3520440"/>
          </a:xfrm>
          <a:prstGeom prst="roundRect">
            <a:avLst>
              <a:gd name="adj" fmla="val 6000"/>
            </a:avLst>
          </a:prstGeom>
          <a:solidFill>
            <a:srgbClr val="FFFFFF"/>
          </a:solidFill>
          <a:ln w="12700">
            <a:solidFill>
              <a:srgbClr val="C4B5FD"/>
            </a:solidFill>
          </a:ln>
          <a:effectLst>
            <a:outerShdw blurRad="177800" dist="38100" dir="5400000" algn="ctr" rotWithShape="0">
              <a:srgbClr val="1B0F33">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182880" rIns="182880" tIns="146304" bIns="146304">
            <a:noAutofit/>
          </a:bodyPr>
          <a:lstStyle/>
          <a:p>
            <a:pPr>
              <a:lnSpc>
                <a:spcPct val="106000"/>
              </a:lnSpc>
              <a:spcBef>
                <a:spcPts val="0"/>
              </a:spcBef>
              <a:spcAft>
                <a:spcPts val="400"/>
              </a:spcAft>
            </a:pPr>
            <a:r>
              <a:rPr sz="3000" b="1" i="0" lang="fr-FR">
                <a:solidFill>
                  <a:srgbClr val="C4B5FD"/>
                </a:solidFill>
                <a:latin typeface="Arial"/>
              </a:rPr>
              <a:t>01</a:t>
            </a:r>
          </a:p>
          <a:p>
            <a:pPr>
              <a:lnSpc>
                <a:spcPct val="106000"/>
              </a:lnSpc>
              <a:spcBef>
                <a:spcPts val="0"/>
              </a:spcBef>
              <a:spcAft>
                <a:spcPts val="400"/>
              </a:spcAft>
            </a:pPr>
            <a:r>
              <a:rPr sz="2000" b="1" i="0" lang="fr-FR">
                <a:solidFill>
                  <a:srgbClr val="2E1065"/>
                </a:solidFill>
                <a:latin typeface="Arial"/>
              </a:rPr>
              <a:t>Authentification</a:t>
            </a:r>
          </a:p>
          <a:p>
            <a:pPr>
              <a:lnSpc>
                <a:spcPct val="106000"/>
              </a:lnSpc>
              <a:spcBef>
                <a:spcPts val="0"/>
              </a:spcBef>
              <a:spcAft>
                <a:spcPts val="800"/>
              </a:spcAft>
            </a:pPr>
            <a:r>
              <a:rPr sz="1400" b="0" i="1" lang="fr-FR">
                <a:solidFill>
                  <a:srgbClr val="6D28D9"/>
                </a:solidFill>
                <a:latin typeface="Arial"/>
              </a:rPr>
              <a:t>Qui es-tu ?</a:t>
            </a:r>
          </a:p>
          <a:p>
            <a:pPr>
              <a:lnSpc>
                <a:spcPct val="106000"/>
              </a:lnSpc>
              <a:spcBef>
                <a:spcPts val="0"/>
              </a:spcBef>
              <a:spcAft>
                <a:spcPts val="800"/>
              </a:spcAft>
            </a:pPr>
            <a:r>
              <a:rPr sz="1150" b="0" i="0" lang="fr-FR">
                <a:solidFill>
                  <a:srgbClr val="6B7280"/>
                </a:solidFill>
                <a:latin typeface="Arial"/>
              </a:rPr>
              <a:t>MFA · FIDO2 · fédération · secrets</a:t>
            </a:r>
          </a:p>
          <a:p>
            <a:pPr>
              <a:lnSpc>
                <a:spcPct val="106000"/>
              </a:lnSpc>
              <a:spcBef>
                <a:spcPts val="0"/>
              </a:spcBef>
              <a:spcAft>
                <a:spcPts val="0"/>
              </a:spcAft>
            </a:pPr>
            <a:r>
              <a:rPr sz="1100" b="1" i="0" lang="fr-FR">
                <a:solidFill>
                  <a:srgbClr val="B45309"/>
                </a:solidFill>
                <a:latin typeface="Arial"/>
              </a:rPr>
              <a:t>Échec : identité usurpée.</a:t>
            </a:r>
          </a:p>
        </p:txBody>
      </p:sp>
      <p:sp>
        <p:nvSpPr>
          <p:cNvPr id="7" name="Levier2"/>
          <p:cNvSpPr/>
          <p:nvPr/>
        </p:nvSpPr>
        <p:spPr>
          <a:xfrm>
            <a:off x="4389120" y="1874519"/>
            <a:ext cx="3429000" cy="3520440"/>
          </a:xfrm>
          <a:prstGeom prst="roundRect">
            <a:avLst>
              <a:gd name="adj" fmla="val 6000"/>
            </a:avLst>
          </a:prstGeom>
          <a:solidFill>
            <a:srgbClr val="FFFFFF"/>
          </a:solidFill>
          <a:ln w="12700">
            <a:solidFill>
              <a:srgbClr val="C4B5FD"/>
            </a:solidFill>
          </a:ln>
          <a:effectLst>
            <a:outerShdw blurRad="177800" dist="38100" dir="5400000" algn="ctr" rotWithShape="0">
              <a:srgbClr val="1B0F33">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182880" rIns="182880" tIns="146304" bIns="146304">
            <a:noAutofit/>
          </a:bodyPr>
          <a:lstStyle/>
          <a:p>
            <a:pPr>
              <a:lnSpc>
                <a:spcPct val="106000"/>
              </a:lnSpc>
              <a:spcBef>
                <a:spcPts val="0"/>
              </a:spcBef>
              <a:spcAft>
                <a:spcPts val="400"/>
              </a:spcAft>
            </a:pPr>
            <a:r>
              <a:rPr sz="3000" b="1" i="0" lang="fr-FR">
                <a:solidFill>
                  <a:srgbClr val="C4B5FD"/>
                </a:solidFill>
                <a:latin typeface="Arial"/>
              </a:rPr>
              <a:t>02</a:t>
            </a:r>
          </a:p>
          <a:p>
            <a:pPr>
              <a:lnSpc>
                <a:spcPct val="106000"/>
              </a:lnSpc>
              <a:spcBef>
                <a:spcPts val="0"/>
              </a:spcBef>
              <a:spcAft>
                <a:spcPts val="400"/>
              </a:spcAft>
            </a:pPr>
            <a:r>
              <a:rPr sz="2000" b="1" i="0" lang="fr-FR">
                <a:solidFill>
                  <a:srgbClr val="2E1065"/>
                </a:solidFill>
                <a:latin typeface="Arial"/>
              </a:rPr>
              <a:t>Autorisation</a:t>
            </a:r>
          </a:p>
          <a:p>
            <a:pPr>
              <a:lnSpc>
                <a:spcPct val="106000"/>
              </a:lnSpc>
              <a:spcBef>
                <a:spcPts val="0"/>
              </a:spcBef>
              <a:spcAft>
                <a:spcPts val="800"/>
              </a:spcAft>
            </a:pPr>
            <a:r>
              <a:rPr sz="1400" b="0" i="1" lang="fr-FR">
                <a:solidFill>
                  <a:srgbClr val="6D28D9"/>
                </a:solidFill>
                <a:latin typeface="Arial"/>
              </a:rPr>
              <a:t>Que peux-tu faire ?</a:t>
            </a:r>
          </a:p>
          <a:p>
            <a:pPr>
              <a:lnSpc>
                <a:spcPct val="106000"/>
              </a:lnSpc>
              <a:spcBef>
                <a:spcPts val="0"/>
              </a:spcBef>
              <a:spcAft>
                <a:spcPts val="800"/>
              </a:spcAft>
            </a:pPr>
            <a:r>
              <a:rPr sz="1150" b="0" i="0" lang="fr-FR">
                <a:solidFill>
                  <a:srgbClr val="6B7280"/>
                </a:solidFill>
                <a:latin typeface="Arial"/>
              </a:rPr>
              <a:t>Moindre privilège · RBAC/ABAC · CIEM</a:t>
            </a:r>
          </a:p>
          <a:p>
            <a:pPr>
              <a:lnSpc>
                <a:spcPct val="106000"/>
              </a:lnSpc>
              <a:spcBef>
                <a:spcPts val="0"/>
              </a:spcBef>
              <a:spcAft>
                <a:spcPts val="0"/>
              </a:spcAft>
            </a:pPr>
            <a:r>
              <a:rPr sz="1100" b="1" i="0" lang="fr-FR">
                <a:solidFill>
                  <a:srgbClr val="B45309"/>
                </a:solidFill>
                <a:latin typeface="Arial"/>
              </a:rPr>
              <a:t>Échec : droit excessif.</a:t>
            </a:r>
          </a:p>
        </p:txBody>
      </p:sp>
      <p:sp>
        <p:nvSpPr>
          <p:cNvPr id="8" name="Levier3"/>
          <p:cNvSpPr/>
          <p:nvPr/>
        </p:nvSpPr>
        <p:spPr>
          <a:xfrm>
            <a:off x="8138160" y="1874519"/>
            <a:ext cx="3429000" cy="3520440"/>
          </a:xfrm>
          <a:prstGeom prst="roundRect">
            <a:avLst>
              <a:gd name="adj" fmla="val 6000"/>
            </a:avLst>
          </a:prstGeom>
          <a:solidFill>
            <a:srgbClr val="FFFFFF"/>
          </a:solidFill>
          <a:ln w="12700">
            <a:solidFill>
              <a:srgbClr val="C4B5FD"/>
            </a:solidFill>
          </a:ln>
          <a:effectLst>
            <a:outerShdw blurRad="177800" dist="38100" dir="5400000" algn="ctr" rotWithShape="0">
              <a:srgbClr val="1B0F33">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182880" rIns="182880" tIns="146304" bIns="146304">
            <a:noAutofit/>
          </a:bodyPr>
          <a:lstStyle/>
          <a:p>
            <a:pPr>
              <a:lnSpc>
                <a:spcPct val="106000"/>
              </a:lnSpc>
              <a:spcBef>
                <a:spcPts val="0"/>
              </a:spcBef>
              <a:spcAft>
                <a:spcPts val="400"/>
              </a:spcAft>
            </a:pPr>
            <a:r>
              <a:rPr sz="3000" b="1" i="0" lang="fr-FR">
                <a:solidFill>
                  <a:srgbClr val="C4B5FD"/>
                </a:solidFill>
                <a:latin typeface="Arial"/>
              </a:rPr>
              <a:t>03</a:t>
            </a:r>
          </a:p>
          <a:p>
            <a:pPr>
              <a:lnSpc>
                <a:spcPct val="106000"/>
              </a:lnSpc>
              <a:spcBef>
                <a:spcPts val="0"/>
              </a:spcBef>
              <a:spcAft>
                <a:spcPts val="400"/>
              </a:spcAft>
            </a:pPr>
            <a:r>
              <a:rPr sz="2000" b="1" i="0" lang="fr-FR">
                <a:solidFill>
                  <a:srgbClr val="2E1065"/>
                </a:solidFill>
                <a:latin typeface="Arial"/>
              </a:rPr>
              <a:t>Configuration</a:t>
            </a:r>
          </a:p>
          <a:p>
            <a:pPr>
              <a:lnSpc>
                <a:spcPct val="106000"/>
              </a:lnSpc>
              <a:spcBef>
                <a:spcPts val="0"/>
              </a:spcBef>
              <a:spcAft>
                <a:spcPts val="800"/>
              </a:spcAft>
            </a:pPr>
            <a:r>
              <a:rPr sz="1400" b="0" i="1" lang="fr-FR">
                <a:solidFill>
                  <a:srgbClr val="6D28D9"/>
                </a:solidFill>
                <a:latin typeface="Arial"/>
              </a:rPr>
              <a:t>Dans quel état est le système ?</a:t>
            </a:r>
          </a:p>
          <a:p>
            <a:pPr>
              <a:lnSpc>
                <a:spcPct val="106000"/>
              </a:lnSpc>
              <a:spcBef>
                <a:spcPts val="0"/>
              </a:spcBef>
              <a:spcAft>
                <a:spcPts val="800"/>
              </a:spcAft>
            </a:pPr>
            <a:r>
              <a:rPr sz="1150" b="0" i="0" lang="fr-FR">
                <a:solidFill>
                  <a:srgbClr val="6B7280"/>
                </a:solidFill>
                <a:latin typeface="Arial"/>
              </a:rPr>
              <a:t>Durcissement · IaC · CSPM</a:t>
            </a:r>
          </a:p>
          <a:p>
            <a:pPr>
              <a:lnSpc>
                <a:spcPct val="106000"/>
              </a:lnSpc>
              <a:spcBef>
                <a:spcPts val="0"/>
              </a:spcBef>
              <a:spcAft>
                <a:spcPts val="0"/>
              </a:spcAft>
            </a:pPr>
            <a:r>
              <a:rPr sz="1100" b="1" i="0" lang="fr-FR">
                <a:solidFill>
                  <a:srgbClr val="B45309"/>
                </a:solidFill>
                <a:latin typeface="Arial"/>
              </a:rPr>
              <a:t>Échec : défaut permissif.</a:t>
            </a:r>
          </a:p>
        </p:txBody>
      </p:sp>
      <p:sp>
        <p:nvSpPr>
          <p:cNvPr id="9" name="TextBox 8"/>
          <p:cNvSpPr txBox="1"/>
          <p:nvPr/>
        </p:nvSpPr>
        <p:spPr>
          <a:xfrm>
            <a:off x="640080" y="5715000"/>
            <a:ext cx="10881360" cy="365760"/>
          </a:xfrm>
          <a:prstGeom prst="rect">
            <a:avLst/>
          </a:prstGeom>
          <a:noFill/>
        </p:spPr>
        <p:txBody>
          <a:bodyPr wrap="none" anchor="t" lIns="0" rIns="0" tIns="0" bIns="0">
            <a:noAutofit/>
          </a:bodyPr>
          <a:lstStyle/>
          <a:p>
            <a:pPr algn="ctr">
              <a:lnSpc>
                <a:spcPct val="105000"/>
              </a:lnSpc>
              <a:spcBef>
                <a:spcPts val="0"/>
              </a:spcBef>
              <a:spcAft>
                <a:spcPts val="0"/>
              </a:spcAft>
            </a:pPr>
            <a:r>
              <a:rPr sz="1500" b="1" i="0" lang="fr-FR">
                <a:solidFill>
                  <a:srgbClr val="6D28D9"/>
                </a:solidFill>
                <a:latin typeface="Arial"/>
              </a:rPr>
              <a:t>Authentifier  →  Autoriser  →  Configurer   —   à chaque requête.</a:t>
            </a:r>
          </a:p>
        </p:txBody>
      </p:sp>
      <p:sp>
        <p:nvSpPr>
          <p:cNvPr id="10" name="Source"/>
          <p:cNvSpPr txBox="1"/>
          <p:nvPr/>
        </p:nvSpPr>
        <p:spPr>
          <a:xfrm>
            <a:off x="640080" y="6382512"/>
            <a:ext cx="10271455" cy="219456"/>
          </a:xfrm>
          <a:prstGeom prst="rect">
            <a:avLst/>
          </a:prstGeom>
          <a:noFill/>
        </p:spPr>
        <p:txBody>
          <a:bodyPr wrap="none" anchor="t" lIns="0" rIns="0" tIns="0" bIns="0">
            <a:noAutofit/>
          </a:bodyPr>
          <a:lstStyle/>
          <a:p>
            <a:pPr algn="l">
              <a:lnSpc>
                <a:spcPct val="105000"/>
              </a:lnSpc>
              <a:spcBef>
                <a:spcPts val="0"/>
              </a:spcBef>
              <a:spcAft>
                <a:spcPts val="0"/>
              </a:spcAft>
            </a:pPr>
            <a:r>
              <a:rPr sz="850" b="0" i="0" lang="fr-FR">
                <a:solidFill>
                  <a:srgbClr val="5B5563"/>
                </a:solidFill>
                <a:latin typeface="Arial"/>
              </a:rPr>
              <a:t>NIST SP 800-63B ; NIST SP 800-162 ; ISO/IEC 27001.</a:t>
            </a:r>
          </a:p>
        </p:txBody>
      </p:sp>
      <p:sp>
        <p:nvSpPr>
          <p:cNvPr id="11" name="Numero"/>
          <p:cNvSpPr txBox="1"/>
          <p:nvPr/>
        </p:nvSpPr>
        <p:spPr>
          <a:xfrm>
            <a:off x="10728655" y="6419088"/>
            <a:ext cx="822960" cy="201168"/>
          </a:xfrm>
          <a:prstGeom prst="rect">
            <a:avLst/>
          </a:prstGeom>
          <a:noFill/>
        </p:spPr>
        <p:txBody>
          <a:bodyPr wrap="none" anchor="t" lIns="0" rIns="0" tIns="0" bIns="0">
            <a:noAutofit/>
          </a:bodyPr>
          <a:lstStyle/>
          <a:p>
            <a:pPr algn="r">
              <a:lnSpc>
                <a:spcPct val="105000"/>
              </a:lnSpc>
              <a:spcBef>
                <a:spcPts val="0"/>
              </a:spcBef>
              <a:spcAft>
                <a:spcPts val="0"/>
              </a:spcAft>
            </a:pPr>
            <a:r>
              <a:rPr sz="850" b="1" i="0" lang="fr-FR">
                <a:solidFill>
                  <a:srgbClr val="6B7280"/>
                </a:solidFill>
                <a:latin typeface="Arial"/>
              </a:rPr>
              <a:t>09 / 16</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00" fill="hold">
                      <p:stCondLst>
                        <p:cond delay="indefinite"/>
                      </p:stCondLst>
                      <p:childTnLst>
                        <p:par>
                          <p:cTn id="101" fill="hold">
                            <p:stCondLst>
                              <p:cond delay="0"/>
                            </p:stCondLst>
                            <p:childTnLst>
                              <p:par>
                                <p:cTn id="110" presetID="10" presetClass="entr" presetSubtype="0" fill="hold" nodeType="clickEffect">
                                  <p:stCondLst>
                                    <p:cond delay="0"/>
                                  </p:stCondLst>
                                  <p:childTnLst>
                                    <p:set>
                                      <p:cBhvr>
                                        <p:cTn id="111" dur="1" fill="hold">
                                          <p:stCondLst>
                                            <p:cond delay="0"/>
                                          </p:stCondLst>
                                        </p:cTn>
                                        <p:tgtEl>
                                          <p:spTgt spid="6"/>
                                        </p:tgtEl>
                                        <p:attrNameLst>
                                          <p:attrName>style.visibility</p:attrName>
                                        </p:attrNameLst>
                                      </p:cBhvr>
                                      <p:to>
                                        <p:strVal val="visible"/>
                                      </p:to>
                                    </p:set>
                                    <p:animEffect transition="in" filter="fade">
                                      <p:cBhvr>
                                        <p:cTn id="112" dur="450"/>
                                        <p:tgtEl>
                                          <p:spTgt spid="6"/>
                                        </p:tgtEl>
                                      </p:cBhvr>
                                    </p:animEffect>
                                  </p:childTnLst>
                                </p:cTn>
                              </p:par>
                              <p:par>
                                <p:cTn id="115" presetID="10" presetClass="entr" presetSubtype="0" fill="hold" nodeType="clickEffect">
                                  <p:stCondLst>
                                    <p:cond delay="100"/>
                                  </p:stCondLst>
                                  <p:childTnLst>
                                    <p:set>
                                      <p:cBhvr>
                                        <p:cTn id="116" dur="1" fill="hold">
                                          <p:stCondLst>
                                            <p:cond delay="0"/>
                                          </p:stCondLst>
                                        </p:cTn>
                                        <p:tgtEl>
                                          <p:spTgt spid="7"/>
                                        </p:tgtEl>
                                        <p:attrNameLst>
                                          <p:attrName>style.visibility</p:attrName>
                                        </p:attrNameLst>
                                      </p:cBhvr>
                                      <p:to>
                                        <p:strVal val="visible"/>
                                      </p:to>
                                    </p:set>
                                    <p:animEffect transition="in" filter="fade">
                                      <p:cBhvr>
                                        <p:cTn id="117" dur="450"/>
                                        <p:tgtEl>
                                          <p:spTgt spid="7"/>
                                        </p:tgtEl>
                                      </p:cBhvr>
                                    </p:animEffect>
                                  </p:childTnLst>
                                </p:cTn>
                              </p:par>
                            </p:childTnLst>
                          </p:cTn>
                        </p:par>
                      </p:childTnLst>
                    </p:cTn>
                  </p:par>
                  <p:par>
                    <p:cTn id="120" fill="hold">
                      <p:stCondLst>
                        <p:cond delay="indefinite"/>
                      </p:stCondLst>
                      <p:childTnLst>
                        <p:par>
                          <p:cTn id="121" fill="hold">
                            <p:stCondLst>
                              <p:cond delay="0"/>
                            </p:stCondLst>
                            <p:childTnLst>
                              <p:par>
                                <p:cTn id="130" presetID="10" presetClass="entr" presetSubtype="0" fill="hold" nodeType="clickEffect">
                                  <p:stCondLst>
                                    <p:cond delay="0"/>
                                  </p:stCondLst>
                                  <p:childTnLst>
                                    <p:set>
                                      <p:cBhvr>
                                        <p:cTn id="131" dur="1" fill="hold">
                                          <p:stCondLst>
                                            <p:cond delay="0"/>
                                          </p:stCondLst>
                                        </p:cTn>
                                        <p:tgtEl>
                                          <p:spTgt spid="8"/>
                                        </p:tgtEl>
                                        <p:attrNameLst>
                                          <p:attrName>style.visibility</p:attrName>
                                        </p:attrNameLst>
                                      </p:cBhvr>
                                      <p:to>
                                        <p:strVal val="visible"/>
                                      </p:to>
                                    </p:set>
                                    <p:animEffect transition="in" filter="fade">
                                      <p:cBhvr>
                                        <p:cTn id="132" dur="450"/>
                                        <p:tgtEl>
                                          <p:spTgt spid="8"/>
                                        </p:tgtEl>
                                      </p:cBhvr>
                                    </p:animEffect>
                                  </p:childTnLst>
                                </p:cTn>
                              </p:par>
                            </p:childTnLst>
                          </p:cTn>
                        </p:par>
                      </p:childTnLst>
                    </p:cTn>
                  </p:par>
                  <p:par>
                    <p:cTn id="135" fill="hold">
                      <p:stCondLst>
                        <p:cond delay="indefinite"/>
                      </p:stCondLst>
                      <p:childTnLst>
                        <p:par>
                          <p:cTn id="136" fill="hold">
                            <p:stCondLst>
                              <p:cond delay="0"/>
                            </p:stCondLst>
                            <p:childTnLst>
                              <p:par>
                                <p:cTn id="145" presetID="10" presetClass="entr" presetSubtype="0" fill="hold" nodeType="clickEffect">
                                  <p:stCondLst>
                                    <p:cond delay="0"/>
                                  </p:stCondLst>
                                  <p:childTnLst>
                                    <p:set>
                                      <p:cBhvr>
                                        <p:cTn id="146" dur="1" fill="hold">
                                          <p:stCondLst>
                                            <p:cond delay="0"/>
                                          </p:stCondLst>
                                        </p:cTn>
                                        <p:tgtEl>
                                          <p:spTgt spid="9"/>
                                        </p:tgtEl>
                                        <p:attrNameLst>
                                          <p:attrName>style.visibility</p:attrName>
                                        </p:attrNameLst>
                                      </p:cBhvr>
                                      <p:to>
                                        <p:strVal val="visible"/>
                                      </p:to>
                                    </p:set>
                                    <p:animEffect transition="in" filter="fade">
                                      <p:cBhvr>
                                        <p:cTn id="147"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 name="Fond" descr="bg_light.jpg"/>
          <p:cNvPicPr>
            <a:picLocks noChangeAspect="1"/>
          </p:cNvPicPr>
          <p:nvPr/>
        </p:nvPicPr>
        <p:blipFill>
          <a:blip r:embed="rId2"/>
          <a:stretch>
            <a:fillRect/>
          </a:stretch>
        </p:blipFill>
        <p:spPr>
          <a:xfrm>
            <a:off x="0" y="0"/>
            <a:ext cx="12191695" cy="6858000"/>
          </a:xfrm>
          <a:prstGeom prst="rect">
            <a:avLst/>
          </a:prstGeom>
        </p:spPr>
      </p:pic>
      <p:sp>
        <p:nvSpPr>
          <p:cNvPr id="2" name="Section"/>
          <p:cNvSpPr txBox="1"/>
          <p:nvPr/>
        </p:nvSpPr>
        <p:spPr>
          <a:xfrm>
            <a:off x="640080" y="301752"/>
            <a:ext cx="3657600" cy="256032"/>
          </a:xfrm>
          <a:prstGeom prst="rect">
            <a:avLst/>
          </a:prstGeom>
          <a:noFill/>
        </p:spPr>
        <p:txBody>
          <a:bodyPr wrap="none" anchor="t" lIns="0" rIns="0" tIns="0" bIns="0">
            <a:noAutofit/>
          </a:bodyPr>
          <a:lstStyle/>
          <a:p>
            <a:pPr algn="l">
              <a:lnSpc>
                <a:spcPct val="105000"/>
              </a:lnSpc>
              <a:spcBef>
                <a:spcPts val="0"/>
              </a:spcBef>
              <a:spcAft>
                <a:spcPts val="0"/>
              </a:spcAft>
            </a:pPr>
            <a:r>
              <a:rPr sz="900" b="1" i="0" spc="140" lang="fr-FR">
                <a:solidFill>
                  <a:srgbClr val="6D28D9"/>
                </a:solidFill>
                <a:latin typeface="Arial"/>
              </a:rPr>
              <a:t>03 · CONTRÔLES</a:t>
            </a:r>
          </a:p>
        </p:txBody>
      </p:sp>
      <p:sp>
        <p:nvSpPr>
          <p:cNvPr id="3" name="Monogramme"/>
          <p:cNvSpPr txBox="1"/>
          <p:nvPr/>
        </p:nvSpPr>
        <p:spPr>
          <a:xfrm>
            <a:off x="10454335" y="301752"/>
            <a:ext cx="1097280" cy="256032"/>
          </a:xfrm>
          <a:prstGeom prst="rect">
            <a:avLst/>
          </a:prstGeom>
          <a:noFill/>
        </p:spPr>
        <p:txBody>
          <a:bodyPr wrap="none" anchor="t" lIns="0" rIns="0" tIns="0" bIns="0">
            <a:noAutofit/>
          </a:bodyPr>
          <a:lstStyle/>
          <a:p>
            <a:pPr algn="r">
              <a:lnSpc>
                <a:spcPct val="105000"/>
              </a:lnSpc>
              <a:spcBef>
                <a:spcPts val="0"/>
              </a:spcBef>
              <a:spcAft>
                <a:spcPts val="0"/>
              </a:spcAft>
            </a:pPr>
            <a:r>
              <a:rPr sz="850" b="1" i="0" spc="120" lang="fr-FR">
                <a:solidFill>
                  <a:srgbClr val="7C6F8F"/>
                </a:solidFill>
                <a:latin typeface="Arial"/>
              </a:rPr>
              <a:t>SC · 2026</a:t>
            </a:r>
          </a:p>
        </p:txBody>
      </p:sp>
      <p:sp>
        <p:nvSpPr>
          <p:cNvPr id="4" name="AccentTitre"/>
          <p:cNvSpPr/>
          <p:nvPr/>
        </p:nvSpPr>
        <p:spPr>
          <a:xfrm>
            <a:off x="640080" y="877824"/>
            <a:ext cx="50292" cy="45720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itre"/>
          <p:cNvSpPr txBox="1"/>
          <p:nvPr/>
        </p:nvSpPr>
        <p:spPr>
          <a:xfrm>
            <a:off x="841247" y="822960"/>
            <a:ext cx="10710367" cy="914400"/>
          </a:xfrm>
          <a:prstGeom prst="rect">
            <a:avLst/>
          </a:prstGeom>
          <a:noFill/>
        </p:spPr>
        <p:txBody>
          <a:bodyPr wrap="none" anchor="t" lIns="0" rIns="0" tIns="0" bIns="0">
            <a:noAutofit/>
          </a:bodyPr>
          <a:lstStyle/>
          <a:p>
            <a:pPr algn="l">
              <a:lnSpc>
                <a:spcPct val="98000"/>
              </a:lnSpc>
              <a:spcBef>
                <a:spcPts val="0"/>
              </a:spcBef>
              <a:spcAft>
                <a:spcPts val="0"/>
              </a:spcAft>
            </a:pPr>
            <a:r>
              <a:rPr sz="3000" b="1" i="0" lang="fr-FR">
                <a:solidFill>
                  <a:srgbClr val="2E1065"/>
                </a:solidFill>
                <a:latin typeface="Arial"/>
              </a:rPr>
              <a:t>L'autorisation est le maillon faible</a:t>
            </a:r>
          </a:p>
        </p:txBody>
      </p:sp>
      <p:sp>
        <p:nvSpPr>
          <p:cNvPr id="6" name="TextBox 5"/>
          <p:cNvSpPr txBox="1"/>
          <p:nvPr/>
        </p:nvSpPr>
        <p:spPr>
          <a:xfrm>
            <a:off x="640080" y="1481328"/>
            <a:ext cx="7315200" cy="320040"/>
          </a:xfrm>
          <a:prstGeom prst="rect">
            <a:avLst/>
          </a:prstGeom>
          <a:noFill/>
        </p:spPr>
        <p:txBody>
          <a:bodyPr wrap="none" anchor="t" lIns="0" rIns="0" tIns="0" bIns="0">
            <a:noAutofit/>
          </a:bodyPr>
          <a:lstStyle/>
          <a:p>
            <a:pPr algn="l">
              <a:lnSpc>
                <a:spcPct val="105000"/>
              </a:lnSpc>
              <a:spcBef>
                <a:spcPts val="0"/>
              </a:spcBef>
              <a:spcAft>
                <a:spcPts val="0"/>
              </a:spcAft>
            </a:pPr>
            <a:r>
              <a:rPr sz="1400" b="0" i="0" lang="fr-FR">
                <a:solidFill>
                  <a:srgbClr val="6B7280"/>
                </a:solidFill>
                <a:latin typeface="Arial"/>
              </a:rPr>
              <a:t>Un jeton valide ne dit pas ce que l'on a le droit de faire.</a:t>
            </a:r>
          </a:p>
        </p:txBody>
      </p:sp>
      <p:sp>
        <p:nvSpPr>
          <p:cNvPr id="7" name="UserA"/>
          <p:cNvSpPr/>
          <p:nvPr/>
        </p:nvSpPr>
        <p:spPr>
          <a:xfrm>
            <a:off x="640080" y="1965960"/>
            <a:ext cx="1737360" cy="685800"/>
          </a:xfrm>
          <a:prstGeom prst="roundRect">
            <a:avLst>
              <a:gd name="adj" fmla="val 6000"/>
            </a:avLst>
          </a:prstGeom>
          <a:solidFill>
            <a:srgbClr val="FFFFFF"/>
          </a:solidFill>
          <a:ln w="12700">
            <a:solidFill>
              <a:srgbClr val="C4B5FD"/>
            </a:solidFill>
          </a:ln>
          <a:effectLst>
            <a:outerShdw blurRad="177800" dist="38100" dir="5400000" algn="ctr" rotWithShape="0">
              <a:srgbClr val="1B0F33">
                <a:alpha val="18000"/>
              </a:srgbClr>
            </a:outerShdw>
          </a:effectLst>
        </p:spPr>
        <p:style>
          <a:lnRef idx="1">
            <a:schemeClr val="accent1"/>
          </a:lnRef>
          <a:fillRef idx="3">
            <a:schemeClr val="accent1"/>
          </a:fillRef>
          <a:effectRef idx="2">
            <a:schemeClr val="accent1"/>
          </a:effectRef>
          <a:fontRef idx="minor">
            <a:schemeClr val="lt1"/>
          </a:fontRef>
        </p:style>
        <p:txBody>
          <a:bodyPr rtlCol="0" anchor="t" wrap="none" lIns="128016" rIns="128016" tIns="91440" bIns="91440">
            <a:noAutofit/>
          </a:bodyPr>
          <a:lstStyle/>
          <a:p>
            <a:pPr>
              <a:lnSpc>
                <a:spcPct val="106000"/>
              </a:lnSpc>
              <a:spcBef>
                <a:spcPts val="0"/>
              </a:spcBef>
              <a:spcAft>
                <a:spcPts val="100"/>
              </a:spcAft>
            </a:pPr>
            <a:r>
              <a:rPr sz="1200" b="1" i="0" lang="fr-FR">
                <a:solidFill>
                  <a:srgbClr val="2E1065"/>
                </a:solidFill>
                <a:latin typeface="Arial"/>
              </a:rPr>
              <a:t>Utilisateur A</a:t>
            </a:r>
          </a:p>
          <a:p>
            <a:pPr>
              <a:lnSpc>
                <a:spcPct val="106000"/>
              </a:lnSpc>
              <a:spcBef>
                <a:spcPts val="0"/>
              </a:spcBef>
              <a:spcAft>
                <a:spcPts val="0"/>
              </a:spcAft>
            </a:pPr>
            <a:r>
              <a:rPr sz="950" b="1" i="0" lang="fr-FR">
                <a:solidFill>
                  <a:srgbClr val="B45309"/>
                </a:solidFill>
                <a:latin typeface="Arial"/>
              </a:rPr>
              <a:t>jeton valide</a:t>
            </a:r>
          </a:p>
        </p:txBody>
      </p:sp>
      <p:sp>
        <p:nvSpPr>
          <p:cNvPr id="300" name="ApiHero"/>
          <p:cNvSpPr/>
          <p:nvPr/>
        </p:nvSpPr>
        <p:spPr>
          <a:xfrm>
            <a:off x="3017520" y="1965960"/>
            <a:ext cx="1371600" cy="685800"/>
          </a:xfrm>
          <a:prstGeom prst="roundRect">
            <a:avLst>
              <a:gd name="adj" fmla="val 12000"/>
            </a:avLst>
          </a:prstGeom>
          <a:solidFill>
            <a:srgbClr val="6D28D9"/>
          </a:solidFill>
          <a:ln>
            <a:noFill/>
          </a:ln>
          <a:effectLst>
            <a:outerShdw blurRad="177800" dist="38100" dir="5400000" algn="ctr" rotWithShape="0">
              <a:srgbClr val="1B0F33">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36576" rIns="36576" tIns="0" bIns="0">
            <a:noAutofit/>
          </a:bodyPr>
          <a:lstStyle/>
          <a:p>
            <a:pPr algn="ctr">
              <a:lnSpc>
                <a:spcPct val="100000"/>
              </a:lnSpc>
              <a:spcBef>
                <a:spcPts val="0"/>
              </a:spcBef>
              <a:spcAft>
                <a:spcPts val="0"/>
              </a:spcAft>
            </a:pPr>
            <a:r>
              <a:rPr sz="1500" b="1" i="0" lang="fr-FR">
                <a:solidFill>
                  <a:srgbClr val="FFFFFF"/>
                </a:solidFill>
                <a:latin typeface="Arial"/>
              </a:rPr>
              <a:t>API</a:t>
            </a:r>
          </a:p>
        </p:txBody>
      </p:sp>
      <p:sp>
        <p:nvSpPr>
          <p:cNvPr id="301" name="Objet1042"/>
          <p:cNvSpPr/>
          <p:nvPr/>
        </p:nvSpPr>
        <p:spPr>
          <a:xfrm>
            <a:off x="5120640" y="1965960"/>
            <a:ext cx="2011680" cy="685800"/>
          </a:xfrm>
          <a:prstGeom prst="roundRect">
            <a:avLst>
              <a:gd name="adj" fmla="val 6000"/>
            </a:avLst>
          </a:prstGeom>
          <a:solidFill>
            <a:srgbClr val="FFFFFF"/>
          </a:solidFill>
          <a:ln w="12700">
            <a:solidFill>
              <a:srgbClr val="F59E0B"/>
            </a:solidFill>
          </a:ln>
          <a:effectLst>
            <a:outerShdw blurRad="177800" dist="38100" dir="5400000" algn="ctr" rotWithShape="0">
              <a:srgbClr val="1B0F33">
                <a:alpha val="18000"/>
              </a:srgbClr>
            </a:outerShdw>
          </a:effectLst>
        </p:spPr>
        <p:style>
          <a:lnRef idx="1">
            <a:schemeClr val="accent1"/>
          </a:lnRef>
          <a:fillRef idx="3">
            <a:schemeClr val="accent1"/>
          </a:fillRef>
          <a:effectRef idx="2">
            <a:schemeClr val="accent1"/>
          </a:effectRef>
          <a:fontRef idx="minor">
            <a:schemeClr val="lt1"/>
          </a:fontRef>
        </p:style>
        <p:txBody>
          <a:bodyPr rtlCol="0" anchor="t" wrap="none" lIns="128016" rIns="128016" tIns="91440" bIns="91440">
            <a:noAutofit/>
          </a:bodyPr>
          <a:lstStyle/>
          <a:p>
            <a:pPr>
              <a:lnSpc>
                <a:spcPct val="106000"/>
              </a:lnSpc>
              <a:spcBef>
                <a:spcPts val="0"/>
              </a:spcBef>
              <a:spcAft>
                <a:spcPts val="100"/>
              </a:spcAft>
            </a:pPr>
            <a:r>
              <a:rPr sz="1200" b="1" i="0" lang="fr-FR">
                <a:solidFill>
                  <a:srgbClr val="2E1065"/>
                </a:solidFill>
                <a:latin typeface="Arial"/>
              </a:rPr>
              <a:t>Objet 1042</a:t>
            </a:r>
          </a:p>
          <a:p>
            <a:pPr>
              <a:lnSpc>
                <a:spcPct val="106000"/>
              </a:lnSpc>
              <a:spcBef>
                <a:spcPts val="0"/>
              </a:spcBef>
              <a:spcAft>
                <a:spcPts val="0"/>
              </a:spcAft>
            </a:pPr>
            <a:r>
              <a:rPr sz="950" b="1" i="0" lang="fr-FR">
                <a:solidFill>
                  <a:srgbClr val="B45309"/>
                </a:solidFill>
                <a:latin typeface="Arial"/>
              </a:rPr>
              <a:t>appartient à B</a:t>
            </a:r>
          </a:p>
        </p:txBody>
      </p:sp>
      <p:cxnSp>
        <p:nvCxnSpPr>
          <p:cNvPr id="302" name="Connector 301"/>
          <p:cNvCxnSpPr/>
          <p:nvPr/>
        </p:nvCxnSpPr>
        <p:spPr>
          <a:xfrm>
            <a:off x="2432304" y="2304288"/>
            <a:ext cx="530352" cy="0"/>
          </a:xfrm>
          <a:prstGeom prst="line">
            <a:avLst/>
          </a:prstGeom>
          <a:ln w="20320">
            <a:solidFill>
              <a:srgbClr val="6D28D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03" name="Connector 302"/>
          <p:cNvCxnSpPr/>
          <p:nvPr/>
        </p:nvCxnSpPr>
        <p:spPr>
          <a:xfrm>
            <a:off x="4443984" y="2304288"/>
            <a:ext cx="621792" cy="0"/>
          </a:xfrm>
          <a:prstGeom prst="line">
            <a:avLst/>
          </a:prstGeom>
          <a:ln w="20320">
            <a:solidFill>
              <a:srgbClr val="6D28D9"/>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4" name="Warning"/>
          <p:cNvSpPr/>
          <p:nvPr/>
        </p:nvSpPr>
        <p:spPr>
          <a:xfrm>
            <a:off x="3017520" y="2880360"/>
            <a:ext cx="2926080" cy="457200"/>
          </a:xfrm>
          <a:prstGeom prst="roundRect">
            <a:avLst>
              <a:gd name="adj" fmla="val 50000"/>
            </a:avLst>
          </a:prstGeom>
          <a:solidFill>
            <a:srgbClr val="FDE68A"/>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none" lIns="36576" rIns="36576" tIns="0" bIns="0">
            <a:noAutofit/>
          </a:bodyPr>
          <a:lstStyle/>
          <a:p>
            <a:pPr algn="ctr">
              <a:lnSpc>
                <a:spcPct val="100000"/>
              </a:lnSpc>
              <a:spcBef>
                <a:spcPts val="0"/>
              </a:spcBef>
              <a:spcAft>
                <a:spcPts val="0"/>
              </a:spcAft>
            </a:pPr>
            <a:r>
              <a:rPr sz="1100" b="1" i="0" lang="fr-FR">
                <a:solidFill>
                  <a:srgbClr val="1B0F33"/>
                </a:solidFill>
                <a:latin typeface="Arial"/>
              </a:rPr>
              <a:t>Aucun contrôle de propriété</a:t>
            </a:r>
          </a:p>
        </p:txBody>
      </p:sp>
      <p:sp>
        <p:nvSpPr>
          <p:cNvPr id="305" name="Leak"/>
          <p:cNvSpPr/>
          <p:nvPr/>
        </p:nvSpPr>
        <p:spPr>
          <a:xfrm>
            <a:off x="5120640" y="3337560"/>
            <a:ext cx="2011680" cy="640080"/>
          </a:xfrm>
          <a:prstGeom prst="roundRect">
            <a:avLst>
              <a:gd name="adj" fmla="val 12000"/>
            </a:avLst>
          </a:prstGeom>
          <a:solidFill>
            <a:srgbClr val="DC2626"/>
          </a:solidFill>
          <a:ln>
            <a:noFill/>
          </a:ln>
          <a:effectLst>
            <a:outerShdw blurRad="177800" dist="38100" dir="5400000" algn="ctr" rotWithShape="0">
              <a:srgbClr val="1B0F33">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36576" rIns="36576" tIns="0" bIns="0">
            <a:noAutofit/>
          </a:bodyPr>
          <a:lstStyle/>
          <a:p>
            <a:pPr algn="ctr">
              <a:lnSpc>
                <a:spcPct val="100000"/>
              </a:lnSpc>
              <a:spcBef>
                <a:spcPts val="0"/>
              </a:spcBef>
              <a:spcAft>
                <a:spcPts val="0"/>
              </a:spcAft>
            </a:pPr>
            <a:r>
              <a:rPr sz="1200" b="1" i="0" lang="fr-FR">
                <a:solidFill>
                  <a:srgbClr val="FFFFFF"/>
                </a:solidFill>
                <a:latin typeface="Arial"/>
              </a:rPr>
              <a:t>Fuite de données</a:t>
            </a:r>
          </a:p>
        </p:txBody>
      </p:sp>
      <p:cxnSp>
        <p:nvCxnSpPr>
          <p:cNvPr id="306" name="Connector 305"/>
          <p:cNvCxnSpPr/>
          <p:nvPr/>
        </p:nvCxnSpPr>
        <p:spPr>
          <a:xfrm>
            <a:off x="6903720" y="2697480"/>
            <a:ext cx="0" cy="594360"/>
          </a:xfrm>
          <a:prstGeom prst="line">
            <a:avLst/>
          </a:prstGeom>
          <a:ln w="25400">
            <a:solidFill>
              <a:srgbClr val="DC2626"/>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7" name="TextBox 306"/>
          <p:cNvSpPr txBox="1"/>
          <p:nvPr/>
        </p:nvSpPr>
        <p:spPr>
          <a:xfrm>
            <a:off x="7863840" y="1901952"/>
            <a:ext cx="3657600" cy="228600"/>
          </a:xfrm>
          <a:prstGeom prst="rect">
            <a:avLst/>
          </a:prstGeom>
          <a:noFill/>
        </p:spPr>
        <p:txBody>
          <a:bodyPr wrap="none" anchor="t" lIns="0" rIns="0" tIns="0" bIns="0">
            <a:noAutofit/>
          </a:bodyPr>
          <a:lstStyle/>
          <a:p>
            <a:pPr algn="l">
              <a:lnSpc>
                <a:spcPct val="105000"/>
              </a:lnSpc>
              <a:spcBef>
                <a:spcPts val="0"/>
              </a:spcBef>
              <a:spcAft>
                <a:spcPts val="0"/>
              </a:spcAft>
            </a:pPr>
            <a:r>
              <a:rPr sz="900" b="1" i="0" spc="120" lang="fr-FR">
                <a:solidFill>
                  <a:srgbClr val="6B7280"/>
                </a:solidFill>
                <a:latin typeface="Arial"/>
              </a:rPr>
              <a:t>RÉPARTITION OWASP</a:t>
            </a:r>
          </a:p>
        </p:txBody>
      </p:sp>
      <p:sp>
        <p:nvSpPr>
          <p:cNvPr id="308" name="TextBox 307"/>
          <p:cNvSpPr txBox="1"/>
          <p:nvPr/>
        </p:nvSpPr>
        <p:spPr>
          <a:xfrm>
            <a:off x="7863840" y="2148840"/>
            <a:ext cx="2194560" cy="201168"/>
          </a:xfrm>
          <a:prstGeom prst="rect">
            <a:avLst/>
          </a:prstGeom>
          <a:noFill/>
        </p:spPr>
        <p:txBody>
          <a:bodyPr wrap="none" anchor="t" lIns="0" rIns="0" tIns="0" bIns="0">
            <a:noAutofit/>
          </a:bodyPr>
          <a:lstStyle/>
          <a:p>
            <a:pPr algn="l">
              <a:lnSpc>
                <a:spcPct val="105000"/>
              </a:lnSpc>
              <a:spcBef>
                <a:spcPts val="0"/>
              </a:spcBef>
              <a:spcAft>
                <a:spcPts val="0"/>
              </a:spcAft>
            </a:pPr>
            <a:r>
              <a:rPr sz="1050" b="0" i="0" lang="fr-FR">
                <a:solidFill>
                  <a:srgbClr val="1B0F33"/>
                </a:solidFill>
                <a:latin typeface="Arial"/>
              </a:rPr>
              <a:t>Authentification</a:t>
            </a:r>
          </a:p>
        </p:txBody>
      </p:sp>
      <p:sp>
        <p:nvSpPr>
          <p:cNvPr id="309" name="TextBox 308"/>
          <p:cNvSpPr txBox="1"/>
          <p:nvPr/>
        </p:nvSpPr>
        <p:spPr>
          <a:xfrm>
            <a:off x="10241280" y="2121408"/>
            <a:ext cx="640080" cy="228600"/>
          </a:xfrm>
          <a:prstGeom prst="rect">
            <a:avLst/>
          </a:prstGeom>
          <a:noFill/>
        </p:spPr>
        <p:txBody>
          <a:bodyPr wrap="none" anchor="t" lIns="0" rIns="0" tIns="0" bIns="0">
            <a:noAutofit/>
          </a:bodyPr>
          <a:lstStyle/>
          <a:p>
            <a:pPr algn="r">
              <a:lnSpc>
                <a:spcPct val="105000"/>
              </a:lnSpc>
              <a:spcBef>
                <a:spcPts val="0"/>
              </a:spcBef>
              <a:spcAft>
                <a:spcPts val="0"/>
              </a:spcAft>
            </a:pPr>
            <a:r>
              <a:rPr sz="1300" b="1" i="0" lang="fr-FR">
                <a:solidFill>
                  <a:srgbClr val="F59E0B"/>
                </a:solidFill>
                <a:latin typeface="Arial"/>
              </a:rPr>
              <a:t>1/10</a:t>
            </a:r>
          </a:p>
        </p:txBody>
      </p:sp>
      <p:sp>
        <p:nvSpPr>
          <p:cNvPr id="310" name="Rectangle 309"/>
          <p:cNvSpPr/>
          <p:nvPr/>
        </p:nvSpPr>
        <p:spPr>
          <a:xfrm>
            <a:off x="7863840" y="2350008"/>
            <a:ext cx="3657600" cy="9144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1" name="Rectangle 310"/>
          <p:cNvSpPr/>
          <p:nvPr/>
        </p:nvSpPr>
        <p:spPr>
          <a:xfrm>
            <a:off x="7863840" y="2350008"/>
            <a:ext cx="365760" cy="914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2" name="TextBox 311"/>
          <p:cNvSpPr txBox="1"/>
          <p:nvPr/>
        </p:nvSpPr>
        <p:spPr>
          <a:xfrm>
            <a:off x="7863840" y="2624328"/>
            <a:ext cx="2194560" cy="201168"/>
          </a:xfrm>
          <a:prstGeom prst="rect">
            <a:avLst/>
          </a:prstGeom>
          <a:noFill/>
        </p:spPr>
        <p:txBody>
          <a:bodyPr wrap="none" anchor="t" lIns="0" rIns="0" tIns="0" bIns="0">
            <a:noAutofit/>
          </a:bodyPr>
          <a:lstStyle/>
          <a:p>
            <a:pPr algn="l">
              <a:lnSpc>
                <a:spcPct val="105000"/>
              </a:lnSpc>
              <a:spcBef>
                <a:spcPts val="0"/>
              </a:spcBef>
              <a:spcAft>
                <a:spcPts val="0"/>
              </a:spcAft>
            </a:pPr>
            <a:r>
              <a:rPr sz="1050" b="0" i="0" lang="fr-FR">
                <a:solidFill>
                  <a:srgbClr val="1B0F33"/>
                </a:solidFill>
                <a:latin typeface="Arial"/>
              </a:rPr>
              <a:t>Autorisation</a:t>
            </a:r>
          </a:p>
        </p:txBody>
      </p:sp>
      <p:sp>
        <p:nvSpPr>
          <p:cNvPr id="313" name="TextBox 312"/>
          <p:cNvSpPr txBox="1"/>
          <p:nvPr/>
        </p:nvSpPr>
        <p:spPr>
          <a:xfrm>
            <a:off x="10241280" y="2596896"/>
            <a:ext cx="640080" cy="228600"/>
          </a:xfrm>
          <a:prstGeom prst="rect">
            <a:avLst/>
          </a:prstGeom>
          <a:noFill/>
        </p:spPr>
        <p:txBody>
          <a:bodyPr wrap="none" anchor="t" lIns="0" rIns="0" tIns="0" bIns="0">
            <a:noAutofit/>
          </a:bodyPr>
          <a:lstStyle/>
          <a:p>
            <a:pPr algn="r">
              <a:lnSpc>
                <a:spcPct val="105000"/>
              </a:lnSpc>
              <a:spcBef>
                <a:spcPts val="0"/>
              </a:spcBef>
              <a:spcAft>
                <a:spcPts val="0"/>
              </a:spcAft>
            </a:pPr>
            <a:r>
              <a:rPr sz="1300" b="1" i="0" lang="fr-FR">
                <a:solidFill>
                  <a:srgbClr val="6D28D9"/>
                </a:solidFill>
                <a:latin typeface="Arial"/>
              </a:rPr>
              <a:t>3/10</a:t>
            </a:r>
          </a:p>
        </p:txBody>
      </p:sp>
      <p:sp>
        <p:nvSpPr>
          <p:cNvPr id="314" name="Rectangle 313"/>
          <p:cNvSpPr/>
          <p:nvPr/>
        </p:nvSpPr>
        <p:spPr>
          <a:xfrm>
            <a:off x="7863840" y="2825496"/>
            <a:ext cx="3657600" cy="9144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5" name="Rectangle 314"/>
          <p:cNvSpPr/>
          <p:nvPr/>
        </p:nvSpPr>
        <p:spPr>
          <a:xfrm>
            <a:off x="7863840" y="2825496"/>
            <a:ext cx="1097280" cy="9144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6" name="TextBox 315"/>
          <p:cNvSpPr txBox="1"/>
          <p:nvPr/>
        </p:nvSpPr>
        <p:spPr>
          <a:xfrm>
            <a:off x="7863840" y="3099816"/>
            <a:ext cx="2194560" cy="201168"/>
          </a:xfrm>
          <a:prstGeom prst="rect">
            <a:avLst/>
          </a:prstGeom>
          <a:noFill/>
        </p:spPr>
        <p:txBody>
          <a:bodyPr wrap="none" anchor="t" lIns="0" rIns="0" tIns="0" bIns="0">
            <a:noAutofit/>
          </a:bodyPr>
          <a:lstStyle/>
          <a:p>
            <a:pPr algn="l">
              <a:lnSpc>
                <a:spcPct val="105000"/>
              </a:lnSpc>
              <a:spcBef>
                <a:spcPts val="0"/>
              </a:spcBef>
              <a:spcAft>
                <a:spcPts val="0"/>
              </a:spcAft>
            </a:pPr>
            <a:r>
              <a:rPr sz="1050" b="0" i="0" lang="fr-FR">
                <a:solidFill>
                  <a:srgbClr val="1B0F33"/>
                </a:solidFill>
                <a:latin typeface="Arial"/>
              </a:rPr>
              <a:t>Configuration</a:t>
            </a:r>
          </a:p>
        </p:txBody>
      </p:sp>
      <p:sp>
        <p:nvSpPr>
          <p:cNvPr id="317" name="TextBox 316"/>
          <p:cNvSpPr txBox="1"/>
          <p:nvPr/>
        </p:nvSpPr>
        <p:spPr>
          <a:xfrm>
            <a:off x="10241280" y="3072384"/>
            <a:ext cx="640080" cy="228600"/>
          </a:xfrm>
          <a:prstGeom prst="rect">
            <a:avLst/>
          </a:prstGeom>
          <a:noFill/>
        </p:spPr>
        <p:txBody>
          <a:bodyPr wrap="none" anchor="t" lIns="0" rIns="0" tIns="0" bIns="0">
            <a:noAutofit/>
          </a:bodyPr>
          <a:lstStyle/>
          <a:p>
            <a:pPr algn="r">
              <a:lnSpc>
                <a:spcPct val="105000"/>
              </a:lnSpc>
              <a:spcBef>
                <a:spcPts val="0"/>
              </a:spcBef>
              <a:spcAft>
                <a:spcPts val="0"/>
              </a:spcAft>
            </a:pPr>
            <a:r>
              <a:rPr sz="1300" b="1" i="0" lang="fr-FR">
                <a:solidFill>
                  <a:srgbClr val="A78BFA"/>
                </a:solidFill>
                <a:latin typeface="Arial"/>
              </a:rPr>
              <a:t>6/10</a:t>
            </a:r>
          </a:p>
        </p:txBody>
      </p:sp>
      <p:sp>
        <p:nvSpPr>
          <p:cNvPr id="318" name="Rectangle 317"/>
          <p:cNvSpPr/>
          <p:nvPr/>
        </p:nvSpPr>
        <p:spPr>
          <a:xfrm>
            <a:off x="7863840" y="3300984"/>
            <a:ext cx="3657600" cy="9144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9" name="Rectangle 318"/>
          <p:cNvSpPr/>
          <p:nvPr/>
        </p:nvSpPr>
        <p:spPr>
          <a:xfrm>
            <a:off x="7863840" y="3300984"/>
            <a:ext cx="2194560" cy="91440"/>
          </a:xfrm>
          <a:prstGeom prst="rect">
            <a:avLst/>
          </a:prstGeom>
          <a:solidFill>
            <a:srgbClr val="A78B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0" name="TextBox 319"/>
          <p:cNvSpPr txBox="1"/>
          <p:nvPr/>
        </p:nvSpPr>
        <p:spPr>
          <a:xfrm>
            <a:off x="7863840" y="3703320"/>
            <a:ext cx="3657600" cy="594360"/>
          </a:xfrm>
          <a:prstGeom prst="rect">
            <a:avLst/>
          </a:prstGeom>
          <a:noFill/>
        </p:spPr>
        <p:txBody>
          <a:bodyPr wrap="none" anchor="t" lIns="0" rIns="0" tIns="0" bIns="0">
            <a:noAutofit/>
          </a:bodyPr>
          <a:lstStyle/>
          <a:p>
            <a:pPr algn="l">
              <a:lnSpc>
                <a:spcPct val="105000"/>
              </a:lnSpc>
              <a:spcBef>
                <a:spcPts val="0"/>
              </a:spcBef>
              <a:spcAft>
                <a:spcPts val="0"/>
              </a:spcAft>
            </a:pPr>
            <a:r>
              <a:rPr sz="1200" b="1" i="0" lang="fr-FR">
                <a:solidFill>
                  <a:srgbClr val="B45309"/>
                </a:solidFill>
                <a:latin typeface="Arial"/>
              </a:rPr>
              <a:t>3 risques sur 10 relèvent de l'autorisation.</a:t>
            </a:r>
          </a:p>
        </p:txBody>
      </p:sp>
      <p:sp>
        <p:nvSpPr>
          <p:cNvPr id="321" name="TextBox 320"/>
          <p:cNvSpPr txBox="1"/>
          <p:nvPr/>
        </p:nvSpPr>
        <p:spPr>
          <a:xfrm>
            <a:off x="640080" y="5715000"/>
            <a:ext cx="10881360" cy="365760"/>
          </a:xfrm>
          <a:prstGeom prst="rect">
            <a:avLst/>
          </a:prstGeom>
          <a:noFill/>
        </p:spPr>
        <p:txBody>
          <a:bodyPr wrap="none" anchor="t" lIns="0" rIns="0" tIns="0" bIns="0">
            <a:noAutofit/>
          </a:bodyPr>
          <a:lstStyle/>
          <a:p>
            <a:pPr algn="l">
              <a:lnSpc>
                <a:spcPct val="105000"/>
              </a:lnSpc>
              <a:spcBef>
                <a:spcPts val="0"/>
              </a:spcBef>
              <a:spcAft>
                <a:spcPts val="0"/>
              </a:spcAft>
            </a:pPr>
            <a:r>
              <a:rPr sz="1600" b="1" i="0" lang="fr-FR">
                <a:solidFill>
                  <a:srgbClr val="6D28D9"/>
                </a:solidFill>
                <a:latin typeface="Arial"/>
              </a:rPr>
              <a:t>BOLA : le serveur vérifie le jeton, pas la propriété de l'objet.</a:t>
            </a:r>
          </a:p>
        </p:txBody>
      </p:sp>
      <p:sp>
        <p:nvSpPr>
          <p:cNvPr id="322" name="Source"/>
          <p:cNvSpPr txBox="1"/>
          <p:nvPr/>
        </p:nvSpPr>
        <p:spPr>
          <a:xfrm>
            <a:off x="640080" y="6382512"/>
            <a:ext cx="10271455" cy="219456"/>
          </a:xfrm>
          <a:prstGeom prst="rect">
            <a:avLst/>
          </a:prstGeom>
          <a:noFill/>
        </p:spPr>
        <p:txBody>
          <a:bodyPr wrap="none" anchor="t" lIns="0" rIns="0" tIns="0" bIns="0">
            <a:noAutofit/>
          </a:bodyPr>
          <a:lstStyle/>
          <a:p>
            <a:pPr algn="l">
              <a:lnSpc>
                <a:spcPct val="105000"/>
              </a:lnSpc>
              <a:spcBef>
                <a:spcPts val="0"/>
              </a:spcBef>
              <a:spcAft>
                <a:spcPts val="0"/>
              </a:spcAft>
            </a:pPr>
            <a:r>
              <a:rPr sz="850" b="0" i="0" lang="fr-FR">
                <a:solidFill>
                  <a:srgbClr val="5B5563"/>
                </a:solidFill>
                <a:latin typeface="Arial"/>
              </a:rPr>
              <a:t>OWASP API Security Top 10 (2023).</a:t>
            </a:r>
          </a:p>
        </p:txBody>
      </p:sp>
      <p:sp>
        <p:nvSpPr>
          <p:cNvPr id="323" name="Numero"/>
          <p:cNvSpPr txBox="1"/>
          <p:nvPr/>
        </p:nvSpPr>
        <p:spPr>
          <a:xfrm>
            <a:off x="10728655" y="6419088"/>
            <a:ext cx="822960" cy="201168"/>
          </a:xfrm>
          <a:prstGeom prst="rect">
            <a:avLst/>
          </a:prstGeom>
          <a:noFill/>
        </p:spPr>
        <p:txBody>
          <a:bodyPr wrap="none" anchor="t" lIns="0" rIns="0" tIns="0" bIns="0">
            <a:noAutofit/>
          </a:bodyPr>
          <a:lstStyle/>
          <a:p>
            <a:pPr algn="r">
              <a:lnSpc>
                <a:spcPct val="105000"/>
              </a:lnSpc>
              <a:spcBef>
                <a:spcPts val="0"/>
              </a:spcBef>
              <a:spcAft>
                <a:spcPts val="0"/>
              </a:spcAft>
            </a:pPr>
            <a:r>
              <a:rPr sz="850" b="1" i="0" lang="fr-FR">
                <a:solidFill>
                  <a:srgbClr val="6B7280"/>
                </a:solidFill>
                <a:latin typeface="Arial"/>
              </a:rPr>
              <a:t>10 / 16</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00" fill="hold">
                      <p:stCondLst>
                        <p:cond delay="indefinite"/>
                      </p:stCondLst>
                      <p:childTnLst>
                        <p:par>
                          <p:cTn id="101" fill="hold">
                            <p:stCondLst>
                              <p:cond delay="0"/>
                            </p:stCondLst>
                            <p:childTnLst>
                              <p:par>
                                <p:cTn id="110" presetID="10" presetClass="entr" presetSubtype="0" fill="hold" nodeType="clickEffect">
                                  <p:stCondLst>
                                    <p:cond delay="0"/>
                                  </p:stCondLst>
                                  <p:childTnLst>
                                    <p:set>
                                      <p:cBhvr>
                                        <p:cTn id="111" dur="1" fill="hold">
                                          <p:stCondLst>
                                            <p:cond delay="0"/>
                                          </p:stCondLst>
                                        </p:cTn>
                                        <p:tgtEl>
                                          <p:spTgt spid="7"/>
                                        </p:tgtEl>
                                        <p:attrNameLst>
                                          <p:attrName>style.visibility</p:attrName>
                                        </p:attrNameLst>
                                      </p:cBhvr>
                                      <p:to>
                                        <p:strVal val="visible"/>
                                      </p:to>
                                    </p:set>
                                    <p:animEffect transition="in" filter="fade">
                                      <p:cBhvr>
                                        <p:cTn id="112" dur="400"/>
                                        <p:tgtEl>
                                          <p:spTgt spid="7"/>
                                        </p:tgtEl>
                                      </p:cBhvr>
                                    </p:animEffect>
                                  </p:childTnLst>
                                </p:cTn>
                              </p:par>
                              <p:par>
                                <p:cTn id="115" presetID="10" presetClass="entr" presetSubtype="0" fill="hold" nodeType="clickEffect">
                                  <p:stCondLst>
                                    <p:cond delay="100"/>
                                  </p:stCondLst>
                                  <p:childTnLst>
                                    <p:set>
                                      <p:cBhvr>
                                        <p:cTn id="116" dur="1" fill="hold">
                                          <p:stCondLst>
                                            <p:cond delay="0"/>
                                          </p:stCondLst>
                                        </p:cTn>
                                        <p:tgtEl>
                                          <p:spTgt spid="302"/>
                                        </p:tgtEl>
                                        <p:attrNameLst>
                                          <p:attrName>style.visibility</p:attrName>
                                        </p:attrNameLst>
                                      </p:cBhvr>
                                      <p:to>
                                        <p:strVal val="visible"/>
                                      </p:to>
                                    </p:set>
                                    <p:animEffect transition="in" filter="fade">
                                      <p:cBhvr>
                                        <p:cTn id="117" dur="400"/>
                                        <p:tgtEl>
                                          <p:spTgt spid="302"/>
                                        </p:tgtEl>
                                      </p:cBhvr>
                                    </p:animEffect>
                                  </p:childTnLst>
                                </p:cTn>
                              </p:par>
                            </p:childTnLst>
                          </p:cTn>
                        </p:par>
                      </p:childTnLst>
                    </p:cTn>
                  </p:par>
                  <p:par>
                    <p:cTn id="120" fill="hold">
                      <p:stCondLst>
                        <p:cond delay="indefinite"/>
                      </p:stCondLst>
                      <p:childTnLst>
                        <p:par>
                          <p:cTn id="121" fill="hold">
                            <p:stCondLst>
                              <p:cond delay="0"/>
                            </p:stCondLst>
                            <p:childTnLst>
                              <p:par>
                                <p:cTn id="130" presetID="10" presetClass="entr" presetSubtype="0" fill="hold" nodeType="clickEffect">
                                  <p:stCondLst>
                                    <p:cond delay="0"/>
                                  </p:stCondLst>
                                  <p:childTnLst>
                                    <p:set>
                                      <p:cBhvr>
                                        <p:cTn id="131" dur="1" fill="hold">
                                          <p:stCondLst>
                                            <p:cond delay="0"/>
                                          </p:stCondLst>
                                        </p:cTn>
                                        <p:tgtEl>
                                          <p:spTgt spid="300"/>
                                        </p:tgtEl>
                                        <p:attrNameLst>
                                          <p:attrName>style.visibility</p:attrName>
                                        </p:attrNameLst>
                                      </p:cBhvr>
                                      <p:to>
                                        <p:strVal val="visible"/>
                                      </p:to>
                                    </p:set>
                                    <p:animEffect transition="in" filter="fade">
                                      <p:cBhvr>
                                        <p:cTn id="132" dur="400"/>
                                        <p:tgtEl>
                                          <p:spTgt spid="300"/>
                                        </p:tgtEl>
                                      </p:cBhvr>
                                    </p:animEffect>
                                  </p:childTnLst>
                                </p:cTn>
                              </p:par>
                              <p:par>
                                <p:cTn id="135" presetID="10" presetClass="entr" presetSubtype="0" fill="hold" nodeType="clickEffect">
                                  <p:stCondLst>
                                    <p:cond delay="100"/>
                                  </p:stCondLst>
                                  <p:childTnLst>
                                    <p:set>
                                      <p:cBhvr>
                                        <p:cTn id="136" dur="1" fill="hold">
                                          <p:stCondLst>
                                            <p:cond delay="0"/>
                                          </p:stCondLst>
                                        </p:cTn>
                                        <p:tgtEl>
                                          <p:spTgt spid="301"/>
                                        </p:tgtEl>
                                        <p:attrNameLst>
                                          <p:attrName>style.visibility</p:attrName>
                                        </p:attrNameLst>
                                      </p:cBhvr>
                                      <p:to>
                                        <p:strVal val="visible"/>
                                      </p:to>
                                    </p:set>
                                    <p:animEffect transition="in" filter="fade">
                                      <p:cBhvr>
                                        <p:cTn id="137" dur="400"/>
                                        <p:tgtEl>
                                          <p:spTgt spid="301"/>
                                        </p:tgtEl>
                                      </p:cBhvr>
                                    </p:animEffect>
                                  </p:childTnLst>
                                </p:cTn>
                              </p:par>
                              <p:par>
                                <p:cTn id="140" presetID="10" presetClass="entr" presetSubtype="0" fill="hold" nodeType="clickEffect">
                                  <p:stCondLst>
                                    <p:cond delay="200"/>
                                  </p:stCondLst>
                                  <p:childTnLst>
                                    <p:set>
                                      <p:cBhvr>
                                        <p:cTn id="141" dur="1" fill="hold">
                                          <p:stCondLst>
                                            <p:cond delay="0"/>
                                          </p:stCondLst>
                                        </p:cTn>
                                        <p:tgtEl>
                                          <p:spTgt spid="303"/>
                                        </p:tgtEl>
                                        <p:attrNameLst>
                                          <p:attrName>style.visibility</p:attrName>
                                        </p:attrNameLst>
                                      </p:cBhvr>
                                      <p:to>
                                        <p:strVal val="visible"/>
                                      </p:to>
                                    </p:set>
                                    <p:animEffect transition="in" filter="fade">
                                      <p:cBhvr>
                                        <p:cTn id="142" dur="400"/>
                                        <p:tgtEl>
                                          <p:spTgt spid="303"/>
                                        </p:tgtEl>
                                      </p:cBhvr>
                                    </p:animEffect>
                                  </p:childTnLst>
                                </p:cTn>
                              </p:par>
                            </p:childTnLst>
                          </p:cTn>
                        </p:par>
                      </p:childTnLst>
                    </p:cTn>
                  </p:par>
                  <p:par>
                    <p:cTn id="145" fill="hold">
                      <p:stCondLst>
                        <p:cond delay="indefinite"/>
                      </p:stCondLst>
                      <p:childTnLst>
                        <p:par>
                          <p:cTn id="146" fill="hold">
                            <p:stCondLst>
                              <p:cond delay="0"/>
                            </p:stCondLst>
                            <p:childTnLst>
                              <p:par>
                                <p:cTn id="155" presetID="10" presetClass="entr" presetSubtype="0" fill="hold" nodeType="clickEffect">
                                  <p:stCondLst>
                                    <p:cond delay="0"/>
                                  </p:stCondLst>
                                  <p:childTnLst>
                                    <p:set>
                                      <p:cBhvr>
                                        <p:cTn id="156" dur="1" fill="hold">
                                          <p:stCondLst>
                                            <p:cond delay="0"/>
                                          </p:stCondLst>
                                        </p:cTn>
                                        <p:tgtEl>
                                          <p:spTgt spid="304"/>
                                        </p:tgtEl>
                                        <p:attrNameLst>
                                          <p:attrName>style.visibility</p:attrName>
                                        </p:attrNameLst>
                                      </p:cBhvr>
                                      <p:to>
                                        <p:strVal val="visible"/>
                                      </p:to>
                                    </p:set>
                                    <p:animEffect transition="in" filter="fade">
                                      <p:cBhvr>
                                        <p:cTn id="157" dur="400"/>
                                        <p:tgtEl>
                                          <p:spTgt spid="304"/>
                                        </p:tgtEl>
                                      </p:cBhvr>
                                    </p:animEffect>
                                  </p:childTnLst>
                                </p:cTn>
                              </p:par>
                              <p:par>
                                <p:cTn id="160" presetID="10" presetClass="entr" presetSubtype="0" fill="hold" nodeType="clickEffect">
                                  <p:stCondLst>
                                    <p:cond delay="100"/>
                                  </p:stCondLst>
                                  <p:childTnLst>
                                    <p:set>
                                      <p:cBhvr>
                                        <p:cTn id="161" dur="1" fill="hold">
                                          <p:stCondLst>
                                            <p:cond delay="0"/>
                                          </p:stCondLst>
                                        </p:cTn>
                                        <p:tgtEl>
                                          <p:spTgt spid="305"/>
                                        </p:tgtEl>
                                        <p:attrNameLst>
                                          <p:attrName>style.visibility</p:attrName>
                                        </p:attrNameLst>
                                      </p:cBhvr>
                                      <p:to>
                                        <p:strVal val="visible"/>
                                      </p:to>
                                    </p:set>
                                    <p:animEffect transition="in" filter="fade">
                                      <p:cBhvr>
                                        <p:cTn id="162" dur="400"/>
                                        <p:tgtEl>
                                          <p:spTgt spid="305"/>
                                        </p:tgtEl>
                                      </p:cBhvr>
                                    </p:animEffect>
                                  </p:childTnLst>
                                </p:cTn>
                              </p:par>
                              <p:par>
                                <p:cTn id="165" presetID="10" presetClass="entr" presetSubtype="0" fill="hold" nodeType="clickEffect">
                                  <p:stCondLst>
                                    <p:cond delay="200"/>
                                  </p:stCondLst>
                                  <p:childTnLst>
                                    <p:set>
                                      <p:cBhvr>
                                        <p:cTn id="166" dur="1" fill="hold">
                                          <p:stCondLst>
                                            <p:cond delay="0"/>
                                          </p:stCondLst>
                                        </p:cTn>
                                        <p:tgtEl>
                                          <p:spTgt spid="306"/>
                                        </p:tgtEl>
                                        <p:attrNameLst>
                                          <p:attrName>style.visibility</p:attrName>
                                        </p:attrNameLst>
                                      </p:cBhvr>
                                      <p:to>
                                        <p:strVal val="visible"/>
                                      </p:to>
                                    </p:set>
                                    <p:animEffect transition="in" filter="fade">
                                      <p:cBhvr>
                                        <p:cTn id="167" dur="400"/>
                                        <p:tgtEl>
                                          <p:spTgt spid="306"/>
                                        </p:tgtEl>
                                      </p:cBhvr>
                                    </p:animEffect>
                                  </p:childTnLst>
                                </p:cTn>
                              </p:par>
                            </p:childTnLst>
                          </p:cTn>
                        </p:par>
                      </p:childTnLst>
                    </p:cTn>
                  </p:par>
                  <p:par>
                    <p:cTn id="170" fill="hold">
                      <p:stCondLst>
                        <p:cond delay="indefinite"/>
                      </p:stCondLst>
                      <p:childTnLst>
                        <p:par>
                          <p:cTn id="171" fill="hold">
                            <p:stCondLst>
                              <p:cond delay="0"/>
                            </p:stCondLst>
                            <p:childTnLst>
                              <p:par>
                                <p:cTn id="180" presetID="10" presetClass="entr" presetSubtype="0" fill="hold" nodeType="clickEffect">
                                  <p:stCondLst>
                                    <p:cond delay="0"/>
                                  </p:stCondLst>
                                  <p:childTnLst>
                                    <p:set>
                                      <p:cBhvr>
                                        <p:cTn id="181" dur="1" fill="hold">
                                          <p:stCondLst>
                                            <p:cond delay="0"/>
                                          </p:stCondLst>
                                        </p:cTn>
                                        <p:tgtEl>
                                          <p:spTgt spid="308"/>
                                        </p:tgtEl>
                                        <p:attrNameLst>
                                          <p:attrName>style.visibility</p:attrName>
                                        </p:attrNameLst>
                                      </p:cBhvr>
                                      <p:to>
                                        <p:strVal val="visible"/>
                                      </p:to>
                                    </p:set>
                                    <p:animEffect transition="in" filter="fade">
                                      <p:cBhvr>
                                        <p:cTn id="182" dur="400"/>
                                        <p:tgtEl>
                                          <p:spTgt spid="308"/>
                                        </p:tgtEl>
                                      </p:cBhvr>
                                    </p:animEffect>
                                  </p:childTnLst>
                                </p:cTn>
                              </p:par>
                              <p:par>
                                <p:cTn id="185" presetID="10" presetClass="entr" presetSubtype="0" fill="hold" nodeType="clickEffect">
                                  <p:stCondLst>
                                    <p:cond delay="60"/>
                                  </p:stCondLst>
                                  <p:childTnLst>
                                    <p:set>
                                      <p:cBhvr>
                                        <p:cTn id="186" dur="1" fill="hold">
                                          <p:stCondLst>
                                            <p:cond delay="0"/>
                                          </p:stCondLst>
                                        </p:cTn>
                                        <p:tgtEl>
                                          <p:spTgt spid="309"/>
                                        </p:tgtEl>
                                        <p:attrNameLst>
                                          <p:attrName>style.visibility</p:attrName>
                                        </p:attrNameLst>
                                      </p:cBhvr>
                                      <p:to>
                                        <p:strVal val="visible"/>
                                      </p:to>
                                    </p:set>
                                    <p:animEffect transition="in" filter="fade">
                                      <p:cBhvr>
                                        <p:cTn id="187" dur="400"/>
                                        <p:tgtEl>
                                          <p:spTgt spid="309"/>
                                        </p:tgtEl>
                                      </p:cBhvr>
                                    </p:animEffect>
                                  </p:childTnLst>
                                </p:cTn>
                              </p:par>
                              <p:par>
                                <p:cTn id="190" presetID="10" presetClass="entr" presetSubtype="0" fill="hold" nodeType="clickEffect">
                                  <p:stCondLst>
                                    <p:cond delay="120"/>
                                  </p:stCondLst>
                                  <p:childTnLst>
                                    <p:set>
                                      <p:cBhvr>
                                        <p:cTn id="191" dur="1" fill="hold">
                                          <p:stCondLst>
                                            <p:cond delay="0"/>
                                          </p:stCondLst>
                                        </p:cTn>
                                        <p:tgtEl>
                                          <p:spTgt spid="310"/>
                                        </p:tgtEl>
                                        <p:attrNameLst>
                                          <p:attrName>style.visibility</p:attrName>
                                        </p:attrNameLst>
                                      </p:cBhvr>
                                      <p:to>
                                        <p:strVal val="visible"/>
                                      </p:to>
                                    </p:set>
                                    <p:animEffect transition="in" filter="fade">
                                      <p:cBhvr>
                                        <p:cTn id="192" dur="400"/>
                                        <p:tgtEl>
                                          <p:spTgt spid="310"/>
                                        </p:tgtEl>
                                      </p:cBhvr>
                                    </p:animEffect>
                                  </p:childTnLst>
                                </p:cTn>
                              </p:par>
                              <p:par>
                                <p:cTn id="195" presetID="10" presetClass="entr" presetSubtype="0" fill="hold" nodeType="clickEffect">
                                  <p:stCondLst>
                                    <p:cond delay="180"/>
                                  </p:stCondLst>
                                  <p:childTnLst>
                                    <p:set>
                                      <p:cBhvr>
                                        <p:cTn id="196" dur="1" fill="hold">
                                          <p:stCondLst>
                                            <p:cond delay="0"/>
                                          </p:stCondLst>
                                        </p:cTn>
                                        <p:tgtEl>
                                          <p:spTgt spid="311"/>
                                        </p:tgtEl>
                                        <p:attrNameLst>
                                          <p:attrName>style.visibility</p:attrName>
                                        </p:attrNameLst>
                                      </p:cBhvr>
                                      <p:to>
                                        <p:strVal val="visible"/>
                                      </p:to>
                                    </p:set>
                                    <p:animEffect transition="in" filter="fade">
                                      <p:cBhvr>
                                        <p:cTn id="197" dur="400"/>
                                        <p:tgtEl>
                                          <p:spTgt spid="311"/>
                                        </p:tgtEl>
                                      </p:cBhvr>
                                    </p:animEffect>
                                  </p:childTnLst>
                                </p:cTn>
                              </p:par>
                              <p:par>
                                <p:cTn id="200" presetID="10" presetClass="entr" presetSubtype="0" fill="hold" nodeType="clickEffect">
                                  <p:stCondLst>
                                    <p:cond delay="240"/>
                                  </p:stCondLst>
                                  <p:childTnLst>
                                    <p:set>
                                      <p:cBhvr>
                                        <p:cTn id="201" dur="1" fill="hold">
                                          <p:stCondLst>
                                            <p:cond delay="0"/>
                                          </p:stCondLst>
                                        </p:cTn>
                                        <p:tgtEl>
                                          <p:spTgt spid="312"/>
                                        </p:tgtEl>
                                        <p:attrNameLst>
                                          <p:attrName>style.visibility</p:attrName>
                                        </p:attrNameLst>
                                      </p:cBhvr>
                                      <p:to>
                                        <p:strVal val="visible"/>
                                      </p:to>
                                    </p:set>
                                    <p:animEffect transition="in" filter="fade">
                                      <p:cBhvr>
                                        <p:cTn id="202" dur="400"/>
                                        <p:tgtEl>
                                          <p:spTgt spid="312"/>
                                        </p:tgtEl>
                                      </p:cBhvr>
                                    </p:animEffect>
                                  </p:childTnLst>
                                </p:cTn>
                              </p:par>
                              <p:par>
                                <p:cTn id="205" presetID="10" presetClass="entr" presetSubtype="0" fill="hold" nodeType="clickEffect">
                                  <p:stCondLst>
                                    <p:cond delay="300"/>
                                  </p:stCondLst>
                                  <p:childTnLst>
                                    <p:set>
                                      <p:cBhvr>
                                        <p:cTn id="206" dur="1" fill="hold">
                                          <p:stCondLst>
                                            <p:cond delay="0"/>
                                          </p:stCondLst>
                                        </p:cTn>
                                        <p:tgtEl>
                                          <p:spTgt spid="313"/>
                                        </p:tgtEl>
                                        <p:attrNameLst>
                                          <p:attrName>style.visibility</p:attrName>
                                        </p:attrNameLst>
                                      </p:cBhvr>
                                      <p:to>
                                        <p:strVal val="visible"/>
                                      </p:to>
                                    </p:set>
                                    <p:animEffect transition="in" filter="fade">
                                      <p:cBhvr>
                                        <p:cTn id="207" dur="400"/>
                                        <p:tgtEl>
                                          <p:spTgt spid="313"/>
                                        </p:tgtEl>
                                      </p:cBhvr>
                                    </p:animEffect>
                                  </p:childTnLst>
                                </p:cTn>
                              </p:par>
                              <p:par>
                                <p:cTn id="210" presetID="10" presetClass="entr" presetSubtype="0" fill="hold" nodeType="clickEffect">
                                  <p:stCondLst>
                                    <p:cond delay="360"/>
                                  </p:stCondLst>
                                  <p:childTnLst>
                                    <p:set>
                                      <p:cBhvr>
                                        <p:cTn id="211" dur="1" fill="hold">
                                          <p:stCondLst>
                                            <p:cond delay="0"/>
                                          </p:stCondLst>
                                        </p:cTn>
                                        <p:tgtEl>
                                          <p:spTgt spid="314"/>
                                        </p:tgtEl>
                                        <p:attrNameLst>
                                          <p:attrName>style.visibility</p:attrName>
                                        </p:attrNameLst>
                                      </p:cBhvr>
                                      <p:to>
                                        <p:strVal val="visible"/>
                                      </p:to>
                                    </p:set>
                                    <p:animEffect transition="in" filter="fade">
                                      <p:cBhvr>
                                        <p:cTn id="212" dur="400"/>
                                        <p:tgtEl>
                                          <p:spTgt spid="314"/>
                                        </p:tgtEl>
                                      </p:cBhvr>
                                    </p:animEffect>
                                  </p:childTnLst>
                                </p:cTn>
                              </p:par>
                              <p:par>
                                <p:cTn id="215" presetID="10" presetClass="entr" presetSubtype="0" fill="hold" nodeType="clickEffect">
                                  <p:stCondLst>
                                    <p:cond delay="420"/>
                                  </p:stCondLst>
                                  <p:childTnLst>
                                    <p:set>
                                      <p:cBhvr>
                                        <p:cTn id="216" dur="1" fill="hold">
                                          <p:stCondLst>
                                            <p:cond delay="0"/>
                                          </p:stCondLst>
                                        </p:cTn>
                                        <p:tgtEl>
                                          <p:spTgt spid="315"/>
                                        </p:tgtEl>
                                        <p:attrNameLst>
                                          <p:attrName>style.visibility</p:attrName>
                                        </p:attrNameLst>
                                      </p:cBhvr>
                                      <p:to>
                                        <p:strVal val="visible"/>
                                      </p:to>
                                    </p:set>
                                    <p:animEffect transition="in" filter="fade">
                                      <p:cBhvr>
                                        <p:cTn id="217" dur="400"/>
                                        <p:tgtEl>
                                          <p:spTgt spid="315"/>
                                        </p:tgtEl>
                                      </p:cBhvr>
                                    </p:animEffect>
                                  </p:childTnLst>
                                </p:cTn>
                              </p:par>
                              <p:par>
                                <p:cTn id="220" presetID="10" presetClass="entr" presetSubtype="0" fill="hold" nodeType="clickEffect">
                                  <p:stCondLst>
                                    <p:cond delay="480"/>
                                  </p:stCondLst>
                                  <p:childTnLst>
                                    <p:set>
                                      <p:cBhvr>
                                        <p:cTn id="221" dur="1" fill="hold">
                                          <p:stCondLst>
                                            <p:cond delay="0"/>
                                          </p:stCondLst>
                                        </p:cTn>
                                        <p:tgtEl>
                                          <p:spTgt spid="316"/>
                                        </p:tgtEl>
                                        <p:attrNameLst>
                                          <p:attrName>style.visibility</p:attrName>
                                        </p:attrNameLst>
                                      </p:cBhvr>
                                      <p:to>
                                        <p:strVal val="visible"/>
                                      </p:to>
                                    </p:set>
                                    <p:animEffect transition="in" filter="fade">
                                      <p:cBhvr>
                                        <p:cTn id="222" dur="400"/>
                                        <p:tgtEl>
                                          <p:spTgt spid="316"/>
                                        </p:tgtEl>
                                      </p:cBhvr>
                                    </p:animEffect>
                                  </p:childTnLst>
                                </p:cTn>
                              </p:par>
                              <p:par>
                                <p:cTn id="225" presetID="10" presetClass="entr" presetSubtype="0" fill="hold" nodeType="clickEffect">
                                  <p:stCondLst>
                                    <p:cond delay="540"/>
                                  </p:stCondLst>
                                  <p:childTnLst>
                                    <p:set>
                                      <p:cBhvr>
                                        <p:cTn id="226" dur="1" fill="hold">
                                          <p:stCondLst>
                                            <p:cond delay="0"/>
                                          </p:stCondLst>
                                        </p:cTn>
                                        <p:tgtEl>
                                          <p:spTgt spid="317"/>
                                        </p:tgtEl>
                                        <p:attrNameLst>
                                          <p:attrName>style.visibility</p:attrName>
                                        </p:attrNameLst>
                                      </p:cBhvr>
                                      <p:to>
                                        <p:strVal val="visible"/>
                                      </p:to>
                                    </p:set>
                                    <p:animEffect transition="in" filter="fade">
                                      <p:cBhvr>
                                        <p:cTn id="227" dur="400"/>
                                        <p:tgtEl>
                                          <p:spTgt spid="317"/>
                                        </p:tgtEl>
                                      </p:cBhvr>
                                    </p:animEffect>
                                  </p:childTnLst>
                                </p:cTn>
                              </p:par>
                              <p:par>
                                <p:cTn id="230" presetID="10" presetClass="entr" presetSubtype="0" fill="hold" nodeType="clickEffect">
                                  <p:stCondLst>
                                    <p:cond delay="600"/>
                                  </p:stCondLst>
                                  <p:childTnLst>
                                    <p:set>
                                      <p:cBhvr>
                                        <p:cTn id="231" dur="1" fill="hold">
                                          <p:stCondLst>
                                            <p:cond delay="0"/>
                                          </p:stCondLst>
                                        </p:cTn>
                                        <p:tgtEl>
                                          <p:spTgt spid="318"/>
                                        </p:tgtEl>
                                        <p:attrNameLst>
                                          <p:attrName>style.visibility</p:attrName>
                                        </p:attrNameLst>
                                      </p:cBhvr>
                                      <p:to>
                                        <p:strVal val="visible"/>
                                      </p:to>
                                    </p:set>
                                    <p:animEffect transition="in" filter="fade">
                                      <p:cBhvr>
                                        <p:cTn id="232" dur="400"/>
                                        <p:tgtEl>
                                          <p:spTgt spid="318"/>
                                        </p:tgtEl>
                                      </p:cBhvr>
                                    </p:animEffect>
                                  </p:childTnLst>
                                </p:cTn>
                              </p:par>
                              <p:par>
                                <p:cTn id="235" presetID="10" presetClass="entr" presetSubtype="0" fill="hold" nodeType="clickEffect">
                                  <p:stCondLst>
                                    <p:cond delay="660"/>
                                  </p:stCondLst>
                                  <p:childTnLst>
                                    <p:set>
                                      <p:cBhvr>
                                        <p:cTn id="236" dur="1" fill="hold">
                                          <p:stCondLst>
                                            <p:cond delay="0"/>
                                          </p:stCondLst>
                                        </p:cTn>
                                        <p:tgtEl>
                                          <p:spTgt spid="319"/>
                                        </p:tgtEl>
                                        <p:attrNameLst>
                                          <p:attrName>style.visibility</p:attrName>
                                        </p:attrNameLst>
                                      </p:cBhvr>
                                      <p:to>
                                        <p:strVal val="visible"/>
                                      </p:to>
                                    </p:set>
                                    <p:animEffect transition="in" filter="fade">
                                      <p:cBhvr>
                                        <p:cTn id="237" dur="400"/>
                                        <p:tgtEl>
                                          <p:spTgt spid="319"/>
                                        </p:tgtEl>
                                      </p:cBhvr>
                                    </p:animEffect>
                                  </p:childTnLst>
                                </p:cTn>
                              </p:par>
                              <p:par>
                                <p:cTn id="240" presetID="10" presetClass="entr" presetSubtype="0" fill="hold" nodeType="clickEffect">
                                  <p:stCondLst>
                                    <p:cond delay="720"/>
                                  </p:stCondLst>
                                  <p:childTnLst>
                                    <p:set>
                                      <p:cBhvr>
                                        <p:cTn id="241" dur="1" fill="hold">
                                          <p:stCondLst>
                                            <p:cond delay="0"/>
                                          </p:stCondLst>
                                        </p:cTn>
                                        <p:tgtEl>
                                          <p:spTgt spid="320"/>
                                        </p:tgtEl>
                                        <p:attrNameLst>
                                          <p:attrName>style.visibility</p:attrName>
                                        </p:attrNameLst>
                                      </p:cBhvr>
                                      <p:to>
                                        <p:strVal val="visible"/>
                                      </p:to>
                                    </p:set>
                                    <p:animEffect transition="in" filter="fade">
                                      <p:cBhvr>
                                        <p:cTn id="242" dur="400"/>
                                        <p:tgtEl>
                                          <p:spTgt spid="320"/>
                                        </p:tgtEl>
                                      </p:cBhvr>
                                    </p:animEffect>
                                  </p:childTnLst>
                                </p:cTn>
                              </p:par>
                            </p:childTnLst>
                          </p:cTn>
                        </p:par>
                      </p:childTnLst>
                    </p:cTn>
                  </p:par>
                  <p:par>
                    <p:cTn id="245" fill="hold">
                      <p:stCondLst>
                        <p:cond delay="indefinite"/>
                      </p:stCondLst>
                      <p:childTnLst>
                        <p:par>
                          <p:cTn id="246" fill="hold">
                            <p:stCondLst>
                              <p:cond delay="0"/>
                            </p:stCondLst>
                            <p:childTnLst>
                              <p:par>
                                <p:cTn id="255" presetID="10" presetClass="entr" presetSubtype="0" fill="hold" nodeType="clickEffect">
                                  <p:stCondLst>
                                    <p:cond delay="0"/>
                                  </p:stCondLst>
                                  <p:childTnLst>
                                    <p:set>
                                      <p:cBhvr>
                                        <p:cTn id="256" dur="1" fill="hold">
                                          <p:stCondLst>
                                            <p:cond delay="0"/>
                                          </p:stCondLst>
                                        </p:cTn>
                                        <p:tgtEl>
                                          <p:spTgt spid="321"/>
                                        </p:tgtEl>
                                        <p:attrNameLst>
                                          <p:attrName>style.visibility</p:attrName>
                                        </p:attrNameLst>
                                      </p:cBhvr>
                                      <p:to>
                                        <p:strVal val="visible"/>
                                      </p:to>
                                    </p:set>
                                    <p:animEffect transition="in" filter="fade">
                                      <p:cBhvr>
                                        <p:cTn id="257" dur="400"/>
                                        <p:tgtEl>
                                          <p:spTgt spid="3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xmlns:ns0="http://schemas.openxmlformats.org/markup-compatibility/2006" xmlns:p14="http://schemas.microsoft.com/office/powerpoint/2010/main" ns0:Ignorable="p14">
  <p:cSld>
    <p:spTree>
      <p:nvGrpSpPr>
        <p:cNvPr id="1" name=""/>
        <p:cNvGrpSpPr/>
        <p:nvPr/>
      </p:nvGrpSpPr>
      <p:grpSpPr/>
      <p:pic>
        <p:nvPicPr>
          <p:cNvPr id="1" name="Fond" descr="bg_section.jpg"/>
          <p:cNvPicPr>
            <a:picLocks noChangeAspect="1"/>
          </p:cNvPicPr>
          <p:nvPr/>
        </p:nvPicPr>
        <p:blipFill>
          <a:blip r:embed="rId2"/>
          <a:stretch>
            <a:fillRect/>
          </a:stretch>
        </p:blipFill>
        <p:spPr>
          <a:xfrm>
            <a:off x="0" y="0"/>
            <a:ext cx="12191695" cy="6858000"/>
          </a:xfrm>
          <a:prstGeom prst="rect">
            <a:avLst/>
          </a:prstGeom>
        </p:spPr>
      </p:pic>
      <p:sp>
        <p:nvSpPr>
          <p:cNvPr id="2" name="Section"/>
          <p:cNvSpPr txBox="1"/>
          <p:nvPr/>
        </p:nvSpPr>
        <p:spPr>
          <a:xfrm>
            <a:off x="640080" y="301752"/>
            <a:ext cx="3657600" cy="256032"/>
          </a:xfrm>
          <a:prstGeom prst="rect">
            <a:avLst/>
          </a:prstGeom>
          <a:noFill/>
        </p:spPr>
        <p:txBody>
          <a:bodyPr wrap="none" anchor="t" lIns="0" rIns="0" tIns="0" bIns="0">
            <a:noAutofit/>
          </a:bodyPr>
          <a:lstStyle/>
          <a:p>
            <a:pPr algn="l">
              <a:lnSpc>
                <a:spcPct val="105000"/>
              </a:lnSpc>
              <a:spcBef>
                <a:spcPts val="0"/>
              </a:spcBef>
              <a:spcAft>
                <a:spcPts val="0"/>
              </a:spcAft>
            </a:pPr>
            <a:r>
              <a:rPr sz="900" b="1" i="0" spc="140" lang="fr-FR">
                <a:solidFill>
                  <a:srgbClr val="C4B5FD"/>
                </a:solidFill>
                <a:latin typeface="Arial"/>
              </a:rPr>
              <a:t>04 · API</a:t>
            </a:r>
          </a:p>
        </p:txBody>
      </p:sp>
      <p:sp>
        <p:nvSpPr>
          <p:cNvPr id="3" name="Monogramme"/>
          <p:cNvSpPr txBox="1"/>
          <p:nvPr/>
        </p:nvSpPr>
        <p:spPr>
          <a:xfrm>
            <a:off x="10454335" y="301752"/>
            <a:ext cx="1097280" cy="256032"/>
          </a:xfrm>
          <a:prstGeom prst="rect">
            <a:avLst/>
          </a:prstGeom>
          <a:noFill/>
        </p:spPr>
        <p:txBody>
          <a:bodyPr wrap="none" anchor="t" lIns="0" rIns="0" tIns="0" bIns="0">
            <a:noAutofit/>
          </a:bodyPr>
          <a:lstStyle/>
          <a:p>
            <a:pPr algn="r">
              <a:lnSpc>
                <a:spcPct val="105000"/>
              </a:lnSpc>
              <a:spcBef>
                <a:spcPts val="0"/>
              </a:spcBef>
              <a:spcAft>
                <a:spcPts val="0"/>
              </a:spcAft>
            </a:pPr>
            <a:r>
              <a:rPr sz="850" b="1" i="0" spc="120" lang="fr-FR">
                <a:solidFill>
                  <a:srgbClr val="C4B5FD"/>
                </a:solidFill>
                <a:latin typeface="Arial"/>
              </a:rPr>
              <a:t>SC · 2026</a:t>
            </a:r>
          </a:p>
        </p:txBody>
      </p:sp>
      <p:sp>
        <p:nvSpPr>
          <p:cNvPr id="4" name="TextBox 3"/>
          <p:cNvSpPr txBox="1"/>
          <p:nvPr/>
        </p:nvSpPr>
        <p:spPr>
          <a:xfrm>
            <a:off x="822960" y="1234440"/>
            <a:ext cx="10515600" cy="1828800"/>
          </a:xfrm>
          <a:prstGeom prst="rect">
            <a:avLst/>
          </a:prstGeom>
          <a:noFill/>
        </p:spPr>
        <p:txBody>
          <a:bodyPr wrap="none" anchor="t" lIns="0" rIns="0" tIns="0" bIns="0">
            <a:noAutofit/>
          </a:bodyPr>
          <a:lstStyle/>
          <a:p>
            <a:pPr algn="l">
              <a:lnSpc>
                <a:spcPct val="95000"/>
              </a:lnSpc>
              <a:spcBef>
                <a:spcPts val="0"/>
              </a:spcBef>
              <a:spcAft>
                <a:spcPts val="0"/>
              </a:spcAft>
            </a:pPr>
            <a:r>
              <a:rPr sz="4000" b="1" i="0" lang="fr-FR">
                <a:solidFill>
                  <a:srgbClr val="FFFFFF"/>
                </a:solidFill>
                <a:latin typeface="Arial"/>
              </a:rPr>
              <a:t>Le plan de contrôle du cloud,</a:t>
            </a:r>
          </a:p>
          <a:p>
            <a:pPr algn="l">
              <a:lnSpc>
                <a:spcPct val="95000"/>
              </a:lnSpc>
              <a:spcBef>
                <a:spcPts val="0"/>
              </a:spcBef>
              <a:spcAft>
                <a:spcPts val="0"/>
              </a:spcAft>
            </a:pPr>
            <a:r>
              <a:rPr sz="4000" b="1" i="0" lang="fr-FR">
                <a:solidFill>
                  <a:srgbClr val="FFFFFF"/>
                </a:solidFill>
                <a:latin typeface="Arial"/>
              </a:rPr>
              <a:t>c'est l'API.</a:t>
            </a:r>
          </a:p>
        </p:txBody>
      </p:sp>
      <p:sp>
        <p:nvSpPr>
          <p:cNvPr id="5" name="TextBox 4"/>
          <p:cNvSpPr txBox="1"/>
          <p:nvPr/>
        </p:nvSpPr>
        <p:spPr>
          <a:xfrm>
            <a:off x="822960" y="3154680"/>
            <a:ext cx="8686800" cy="731520"/>
          </a:xfrm>
          <a:prstGeom prst="rect">
            <a:avLst/>
          </a:prstGeom>
          <a:noFill/>
        </p:spPr>
        <p:txBody>
          <a:bodyPr wrap="none" anchor="t" lIns="0" rIns="0" tIns="0" bIns="0">
            <a:noAutofit/>
          </a:bodyPr>
          <a:lstStyle/>
          <a:p>
            <a:pPr algn="l">
              <a:lnSpc>
                <a:spcPct val="105000"/>
              </a:lnSpc>
              <a:spcBef>
                <a:spcPts val="0"/>
              </a:spcBef>
              <a:spcAft>
                <a:spcPts val="0"/>
              </a:spcAft>
            </a:pPr>
            <a:r>
              <a:rPr sz="1700" b="0" i="0" lang="fr-FR">
                <a:solidFill>
                  <a:srgbClr val="C4B5FD"/>
                </a:solidFill>
                <a:latin typeface="Arial"/>
              </a:rPr>
              <a:t>Chaque requête y concentre l'identité, les droits et la configuration.</a:t>
            </a:r>
          </a:p>
        </p:txBody>
      </p:sp>
      <p:sp>
        <p:nvSpPr>
          <p:cNvPr id="300" name="ApiHero"/>
          <p:cNvSpPr/>
          <p:nvPr/>
        </p:nvSpPr>
        <p:spPr>
          <a:xfrm>
            <a:off x="4754880" y="4480560"/>
            <a:ext cx="2743200" cy="822960"/>
          </a:xfrm>
          <a:prstGeom prst="roundRect">
            <a:avLst>
              <a:gd name="adj" fmla="val 12000"/>
            </a:avLst>
          </a:prstGeom>
          <a:solidFill>
            <a:srgbClr val="F59E0B"/>
          </a:solidFill>
          <a:ln>
            <a:noFill/>
          </a:ln>
          <a:effectLst>
            <a:outerShdw blurRad="177800" dist="38100" dir="5400000" algn="ctr" rotWithShape="0">
              <a:srgbClr val="1B0F33">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36576" rIns="36576" tIns="0" bIns="0">
            <a:noAutofit/>
          </a:bodyPr>
          <a:lstStyle/>
          <a:p>
            <a:pPr algn="ctr">
              <a:lnSpc>
                <a:spcPct val="100000"/>
              </a:lnSpc>
              <a:spcBef>
                <a:spcPts val="0"/>
              </a:spcBef>
              <a:spcAft>
                <a:spcPts val="0"/>
              </a:spcAft>
            </a:pPr>
            <a:r>
              <a:rPr sz="2400" b="1" i="0" lang="fr-FR">
                <a:solidFill>
                  <a:srgbClr val="1B0F33"/>
                </a:solidFill>
                <a:latin typeface="Arial"/>
              </a:rPr>
              <a:t>API</a:t>
            </a:r>
          </a:p>
        </p:txBody>
      </p:sp>
      <p:sp>
        <p:nvSpPr>
          <p:cNvPr id="301" name="TextBox 300"/>
          <p:cNvSpPr txBox="1"/>
          <p:nvPr/>
        </p:nvSpPr>
        <p:spPr>
          <a:xfrm>
            <a:off x="2103120" y="4526280"/>
            <a:ext cx="1097280" cy="274320"/>
          </a:xfrm>
          <a:prstGeom prst="rect">
            <a:avLst/>
          </a:prstGeom>
          <a:noFill/>
        </p:spPr>
        <p:txBody>
          <a:bodyPr wrap="none" anchor="t" lIns="0" rIns="0" tIns="0" bIns="0">
            <a:noAutofit/>
          </a:bodyPr>
          <a:lstStyle/>
          <a:p>
            <a:pPr algn="ctr">
              <a:lnSpc>
                <a:spcPct val="105000"/>
              </a:lnSpc>
              <a:spcBef>
                <a:spcPts val="0"/>
              </a:spcBef>
              <a:spcAft>
                <a:spcPts val="0"/>
              </a:spcAft>
            </a:pPr>
            <a:r>
              <a:rPr sz="900" b="1" i="0" spc="120" lang="fr-FR">
                <a:solidFill>
                  <a:srgbClr val="C4B5FD"/>
                </a:solidFill>
                <a:latin typeface="Arial"/>
              </a:rPr>
              <a:t>AUTHN</a:t>
            </a:r>
          </a:p>
        </p:txBody>
      </p:sp>
      <p:sp>
        <p:nvSpPr>
          <p:cNvPr id="302" name="TextBox 301"/>
          <p:cNvSpPr txBox="1"/>
          <p:nvPr/>
        </p:nvSpPr>
        <p:spPr>
          <a:xfrm>
            <a:off x="8503920" y="4526280"/>
            <a:ext cx="1097280" cy="274320"/>
          </a:xfrm>
          <a:prstGeom prst="rect">
            <a:avLst/>
          </a:prstGeom>
          <a:noFill/>
        </p:spPr>
        <p:txBody>
          <a:bodyPr wrap="none" anchor="t" lIns="0" rIns="0" tIns="0" bIns="0">
            <a:noAutofit/>
          </a:bodyPr>
          <a:lstStyle/>
          <a:p>
            <a:pPr algn="ctr">
              <a:lnSpc>
                <a:spcPct val="105000"/>
              </a:lnSpc>
              <a:spcBef>
                <a:spcPts val="0"/>
              </a:spcBef>
              <a:spcAft>
                <a:spcPts val="0"/>
              </a:spcAft>
            </a:pPr>
            <a:r>
              <a:rPr sz="900" b="1" i="0" spc="120" lang="fr-FR">
                <a:solidFill>
                  <a:srgbClr val="C4B5FD"/>
                </a:solidFill>
                <a:latin typeface="Arial"/>
              </a:rPr>
              <a:t>AUTHZ</a:t>
            </a:r>
          </a:p>
        </p:txBody>
      </p:sp>
      <p:sp>
        <p:nvSpPr>
          <p:cNvPr id="303" name="TextBox 302"/>
          <p:cNvSpPr txBox="1"/>
          <p:nvPr/>
        </p:nvSpPr>
        <p:spPr>
          <a:xfrm>
            <a:off x="3474720" y="5577840"/>
            <a:ext cx="1280160" cy="274320"/>
          </a:xfrm>
          <a:prstGeom prst="rect">
            <a:avLst/>
          </a:prstGeom>
          <a:noFill/>
        </p:spPr>
        <p:txBody>
          <a:bodyPr wrap="none" anchor="t" lIns="0" rIns="0" tIns="0" bIns="0">
            <a:noAutofit/>
          </a:bodyPr>
          <a:lstStyle/>
          <a:p>
            <a:pPr algn="ctr">
              <a:lnSpc>
                <a:spcPct val="105000"/>
              </a:lnSpc>
              <a:spcBef>
                <a:spcPts val="0"/>
              </a:spcBef>
              <a:spcAft>
                <a:spcPts val="0"/>
              </a:spcAft>
            </a:pPr>
            <a:r>
              <a:rPr sz="900" b="1" i="0" spc="120" lang="fr-FR">
                <a:solidFill>
                  <a:srgbClr val="C4B5FD"/>
                </a:solidFill>
                <a:latin typeface="Arial"/>
              </a:rPr>
              <a:t>CONFIG</a:t>
            </a:r>
          </a:p>
        </p:txBody>
      </p:sp>
      <p:sp>
        <p:nvSpPr>
          <p:cNvPr id="304" name="TextBox 303"/>
          <p:cNvSpPr txBox="1"/>
          <p:nvPr/>
        </p:nvSpPr>
        <p:spPr>
          <a:xfrm>
            <a:off x="6675120" y="5577840"/>
            <a:ext cx="1097280" cy="274320"/>
          </a:xfrm>
          <a:prstGeom prst="rect">
            <a:avLst/>
          </a:prstGeom>
          <a:noFill/>
        </p:spPr>
        <p:txBody>
          <a:bodyPr wrap="none" anchor="t" lIns="0" rIns="0" tIns="0" bIns="0">
            <a:noAutofit/>
          </a:bodyPr>
          <a:lstStyle/>
          <a:p>
            <a:pPr algn="ctr">
              <a:lnSpc>
                <a:spcPct val="105000"/>
              </a:lnSpc>
              <a:spcBef>
                <a:spcPts val="0"/>
              </a:spcBef>
              <a:spcAft>
                <a:spcPts val="0"/>
              </a:spcAft>
            </a:pPr>
            <a:r>
              <a:rPr sz="900" b="1" i="0" spc="120" lang="fr-FR">
                <a:solidFill>
                  <a:srgbClr val="C4B5FD"/>
                </a:solidFill>
                <a:latin typeface="Arial"/>
              </a:rPr>
              <a:t>DATA</a:t>
            </a:r>
          </a:p>
        </p:txBody>
      </p:sp>
      <p:cxnSp>
        <p:nvCxnSpPr>
          <p:cNvPr id="305" name="Connector 304"/>
          <p:cNvCxnSpPr/>
          <p:nvPr/>
        </p:nvCxnSpPr>
        <p:spPr>
          <a:xfrm>
            <a:off x="3200400" y="4663440"/>
            <a:ext cx="1554480" cy="182880"/>
          </a:xfrm>
          <a:prstGeom prst="line">
            <a:avLst/>
          </a:prstGeom>
          <a:ln w="12700">
            <a:solidFill>
              <a:srgbClr val="C4B5FD"/>
            </a:solidFill>
            <a:prstDash val="dash"/>
          </a:ln>
        </p:spPr>
        <p:style>
          <a:lnRef idx="2">
            <a:schemeClr val="accent1"/>
          </a:lnRef>
          <a:fillRef idx="0">
            <a:schemeClr val="accent1"/>
          </a:fillRef>
          <a:effectRef idx="1">
            <a:schemeClr val="accent1"/>
          </a:effectRef>
          <a:fontRef idx="minor">
            <a:schemeClr val="tx1"/>
          </a:fontRef>
        </p:style>
      </p:cxnSp>
      <p:cxnSp>
        <p:nvCxnSpPr>
          <p:cNvPr id="306" name="Connector 305"/>
          <p:cNvCxnSpPr/>
          <p:nvPr/>
        </p:nvCxnSpPr>
        <p:spPr>
          <a:xfrm flipH="1">
            <a:off x="7498079" y="4663440"/>
            <a:ext cx="1005841" cy="182880"/>
          </a:xfrm>
          <a:prstGeom prst="line">
            <a:avLst/>
          </a:prstGeom>
          <a:ln w="12700">
            <a:solidFill>
              <a:srgbClr val="C4B5FD"/>
            </a:solidFill>
            <a:prstDash val="dash"/>
          </a:ln>
        </p:spPr>
        <p:style>
          <a:lnRef idx="2">
            <a:schemeClr val="accent1"/>
          </a:lnRef>
          <a:fillRef idx="0">
            <a:schemeClr val="accent1"/>
          </a:fillRef>
          <a:effectRef idx="1">
            <a:schemeClr val="accent1"/>
          </a:effectRef>
          <a:fontRef idx="minor">
            <a:schemeClr val="tx1"/>
          </a:fontRef>
        </p:style>
      </p:cxnSp>
      <p:cxnSp>
        <p:nvCxnSpPr>
          <p:cNvPr id="307" name="Connector 306"/>
          <p:cNvCxnSpPr/>
          <p:nvPr/>
        </p:nvCxnSpPr>
        <p:spPr>
          <a:xfrm flipV="1">
            <a:off x="4114800" y="5303520"/>
            <a:ext cx="1097280" cy="274320"/>
          </a:xfrm>
          <a:prstGeom prst="line">
            <a:avLst/>
          </a:prstGeom>
          <a:ln w="12700">
            <a:solidFill>
              <a:srgbClr val="C4B5FD"/>
            </a:solidFill>
            <a:prstDash val="dash"/>
          </a:ln>
        </p:spPr>
        <p:style>
          <a:lnRef idx="2">
            <a:schemeClr val="accent1"/>
          </a:lnRef>
          <a:fillRef idx="0">
            <a:schemeClr val="accent1"/>
          </a:fillRef>
          <a:effectRef idx="1">
            <a:schemeClr val="accent1"/>
          </a:effectRef>
          <a:fontRef idx="minor">
            <a:schemeClr val="tx1"/>
          </a:fontRef>
        </p:style>
      </p:cxnSp>
      <p:cxnSp>
        <p:nvCxnSpPr>
          <p:cNvPr id="308" name="Connector 307"/>
          <p:cNvCxnSpPr/>
          <p:nvPr/>
        </p:nvCxnSpPr>
        <p:spPr>
          <a:xfrm flipH="1" flipV="1">
            <a:off x="6492240" y="5303520"/>
            <a:ext cx="182880" cy="274320"/>
          </a:xfrm>
          <a:prstGeom prst="line">
            <a:avLst/>
          </a:prstGeom>
          <a:ln w="12700">
            <a:solidFill>
              <a:srgbClr val="C4B5FD"/>
            </a:solidFill>
            <a:prstDash val="dash"/>
          </a:ln>
        </p:spPr>
        <p:style>
          <a:lnRef idx="2">
            <a:schemeClr val="accent1"/>
          </a:lnRef>
          <a:fillRef idx="0">
            <a:schemeClr val="accent1"/>
          </a:fillRef>
          <a:effectRef idx="1">
            <a:schemeClr val="accent1"/>
          </a:effectRef>
          <a:fontRef idx="minor">
            <a:schemeClr val="tx1"/>
          </a:fontRef>
        </p:style>
      </p:cxnSp>
      <p:sp>
        <p:nvSpPr>
          <p:cNvPr id="309" name="Numero"/>
          <p:cNvSpPr txBox="1"/>
          <p:nvPr/>
        </p:nvSpPr>
        <p:spPr>
          <a:xfrm>
            <a:off x="10728655" y="6419088"/>
            <a:ext cx="822960" cy="201168"/>
          </a:xfrm>
          <a:prstGeom prst="rect">
            <a:avLst/>
          </a:prstGeom>
          <a:noFill/>
        </p:spPr>
        <p:txBody>
          <a:bodyPr wrap="none" anchor="t" lIns="0" rIns="0" tIns="0" bIns="0">
            <a:noAutofit/>
          </a:bodyPr>
          <a:lstStyle/>
          <a:p>
            <a:pPr algn="r">
              <a:lnSpc>
                <a:spcPct val="105000"/>
              </a:lnSpc>
              <a:spcBef>
                <a:spcPts val="0"/>
              </a:spcBef>
              <a:spcAft>
                <a:spcPts val="0"/>
              </a:spcAft>
            </a:pPr>
            <a:r>
              <a:rPr sz="850" b="1" i="0" lang="fr-FR">
                <a:solidFill>
                  <a:srgbClr val="C4B5FD"/>
                </a:solidFill>
                <a:latin typeface="Arial"/>
              </a:rPr>
              <a:t>11 / 16</a:t>
            </a:r>
          </a:p>
        </p:txBody>
      </p:sp>
    </p:spTree>
  </p:cSld>
  <p:clrMapOvr>
    <a:masterClrMapping/>
  </p:clrMapOvr>
  <p:transition spd="slow">
    <p14:morph option="byObject"/>
  </p:transition>
  <p:timing>
    <p:tnLst>
      <p:par>
        <p:cTn id="1" dur="indefinite" restart="never" nodeType="tmRoot">
          <p:childTnLst>
            <p:seq concurrent="1" nextAc="seek">
              <p:cTn id="2" dur="indefinite" nodeType="mainSeq">
                <p:childTnLst>
                  <p:par>
                    <p:cTn id="100" fill="hold">
                      <p:stCondLst>
                        <p:cond delay="indefinite"/>
                      </p:stCondLst>
                      <p:childTnLst>
                        <p:par>
                          <p:cTn id="101" fill="hold">
                            <p:stCondLst>
                              <p:cond delay="0"/>
                            </p:stCondLst>
                            <p:childTnLst>
                              <p:par>
                                <p:cTn id="110" presetID="10" presetClass="entr" presetSubtype="0" fill="hold" nodeType="clickEffect">
                                  <p:stCondLst>
                                    <p:cond delay="0"/>
                                  </p:stCondLst>
                                  <p:childTnLst>
                                    <p:set>
                                      <p:cBhvr>
                                        <p:cTn id="111" dur="1" fill="hold">
                                          <p:stCondLst>
                                            <p:cond delay="0"/>
                                          </p:stCondLst>
                                        </p:cTn>
                                        <p:tgtEl>
                                          <p:spTgt spid="4"/>
                                        </p:tgtEl>
                                        <p:attrNameLst>
                                          <p:attrName>style.visibility</p:attrName>
                                        </p:attrNameLst>
                                      </p:cBhvr>
                                      <p:to>
                                        <p:strVal val="visible"/>
                                      </p:to>
                                    </p:set>
                                    <p:animEffect transition="in" filter="fade">
                                      <p:cBhvr>
                                        <p:cTn id="112" dur="500"/>
                                        <p:tgtEl>
                                          <p:spTgt spid="4"/>
                                        </p:tgtEl>
                                      </p:cBhvr>
                                    </p:animEffect>
                                  </p:childTnLst>
                                </p:cTn>
                              </p:par>
                            </p:childTnLst>
                          </p:cTn>
                        </p:par>
                      </p:childTnLst>
                    </p:cTn>
                  </p:par>
                  <p:par>
                    <p:cTn id="115" fill="hold">
                      <p:stCondLst>
                        <p:cond delay="indefinite"/>
                      </p:stCondLst>
                      <p:childTnLst>
                        <p:par>
                          <p:cTn id="116" fill="hold">
                            <p:stCondLst>
                              <p:cond delay="0"/>
                            </p:stCondLst>
                            <p:childTnLst>
                              <p:par>
                                <p:cTn id="125" presetID="10" presetClass="entr" presetSubtype="0" fill="hold" nodeType="clickEffect">
                                  <p:stCondLst>
                                    <p:cond delay="0"/>
                                  </p:stCondLst>
                                  <p:childTnLst>
                                    <p:set>
                                      <p:cBhvr>
                                        <p:cTn id="126" dur="1" fill="hold">
                                          <p:stCondLst>
                                            <p:cond delay="0"/>
                                          </p:stCondLst>
                                        </p:cTn>
                                        <p:tgtEl>
                                          <p:spTgt spid="5"/>
                                        </p:tgtEl>
                                        <p:attrNameLst>
                                          <p:attrName>style.visibility</p:attrName>
                                        </p:attrNameLst>
                                      </p:cBhvr>
                                      <p:to>
                                        <p:strVal val="visible"/>
                                      </p:to>
                                    </p:set>
                                    <p:animEffect transition="in" filter="fade">
                                      <p:cBhvr>
                                        <p:cTn id="127" dur="450"/>
                                        <p:tgtEl>
                                          <p:spTgt spid="5"/>
                                        </p:tgtEl>
                                      </p:cBhvr>
                                    </p:animEffect>
                                  </p:childTnLst>
                                </p:cTn>
                              </p:par>
                            </p:childTnLst>
                          </p:cTn>
                        </p:par>
                      </p:childTnLst>
                    </p:cTn>
                  </p:par>
                  <p:par>
                    <p:cTn id="130" fill="hold">
                      <p:stCondLst>
                        <p:cond delay="indefinite"/>
                      </p:stCondLst>
                      <p:childTnLst>
                        <p:par>
                          <p:cTn id="131" fill="hold">
                            <p:stCondLst>
                              <p:cond delay="0"/>
                            </p:stCondLst>
                            <p:childTnLst>
                              <p:par>
                                <p:cTn id="140" presetID="10" presetClass="entr" presetSubtype="0" fill="hold" nodeType="clickEffect">
                                  <p:stCondLst>
                                    <p:cond delay="0"/>
                                  </p:stCondLst>
                                  <p:childTnLst>
                                    <p:set>
                                      <p:cBhvr>
                                        <p:cTn id="141" dur="1" fill="hold">
                                          <p:stCondLst>
                                            <p:cond delay="0"/>
                                          </p:stCondLst>
                                        </p:cTn>
                                        <p:tgtEl>
                                          <p:spTgt spid="301"/>
                                        </p:tgtEl>
                                        <p:attrNameLst>
                                          <p:attrName>style.visibility</p:attrName>
                                        </p:attrNameLst>
                                      </p:cBhvr>
                                      <p:to>
                                        <p:strVal val="visible"/>
                                      </p:to>
                                    </p:set>
                                    <p:animEffect transition="in" filter="fade">
                                      <p:cBhvr>
                                        <p:cTn id="142" dur="400"/>
                                        <p:tgtEl>
                                          <p:spTgt spid="301"/>
                                        </p:tgtEl>
                                      </p:cBhvr>
                                    </p:animEffect>
                                  </p:childTnLst>
                                </p:cTn>
                              </p:par>
                              <p:par>
                                <p:cTn id="145" presetID="10" presetClass="entr" presetSubtype="0" fill="hold" nodeType="clickEffect">
                                  <p:stCondLst>
                                    <p:cond delay="80"/>
                                  </p:stCondLst>
                                  <p:childTnLst>
                                    <p:set>
                                      <p:cBhvr>
                                        <p:cTn id="146" dur="1" fill="hold">
                                          <p:stCondLst>
                                            <p:cond delay="0"/>
                                          </p:stCondLst>
                                        </p:cTn>
                                        <p:tgtEl>
                                          <p:spTgt spid="302"/>
                                        </p:tgtEl>
                                        <p:attrNameLst>
                                          <p:attrName>style.visibility</p:attrName>
                                        </p:attrNameLst>
                                      </p:cBhvr>
                                      <p:to>
                                        <p:strVal val="visible"/>
                                      </p:to>
                                    </p:set>
                                    <p:animEffect transition="in" filter="fade">
                                      <p:cBhvr>
                                        <p:cTn id="147" dur="400"/>
                                        <p:tgtEl>
                                          <p:spTgt spid="302"/>
                                        </p:tgtEl>
                                      </p:cBhvr>
                                    </p:animEffect>
                                  </p:childTnLst>
                                </p:cTn>
                              </p:par>
                              <p:par>
                                <p:cTn id="150" presetID="10" presetClass="entr" presetSubtype="0" fill="hold" nodeType="clickEffect">
                                  <p:stCondLst>
                                    <p:cond delay="160"/>
                                  </p:stCondLst>
                                  <p:childTnLst>
                                    <p:set>
                                      <p:cBhvr>
                                        <p:cTn id="151" dur="1" fill="hold">
                                          <p:stCondLst>
                                            <p:cond delay="0"/>
                                          </p:stCondLst>
                                        </p:cTn>
                                        <p:tgtEl>
                                          <p:spTgt spid="303"/>
                                        </p:tgtEl>
                                        <p:attrNameLst>
                                          <p:attrName>style.visibility</p:attrName>
                                        </p:attrNameLst>
                                      </p:cBhvr>
                                      <p:to>
                                        <p:strVal val="visible"/>
                                      </p:to>
                                    </p:set>
                                    <p:animEffect transition="in" filter="fade">
                                      <p:cBhvr>
                                        <p:cTn id="152" dur="400"/>
                                        <p:tgtEl>
                                          <p:spTgt spid="303"/>
                                        </p:tgtEl>
                                      </p:cBhvr>
                                    </p:animEffect>
                                  </p:childTnLst>
                                </p:cTn>
                              </p:par>
                              <p:par>
                                <p:cTn id="155" presetID="10" presetClass="entr" presetSubtype="0" fill="hold" nodeType="clickEffect">
                                  <p:stCondLst>
                                    <p:cond delay="240"/>
                                  </p:stCondLst>
                                  <p:childTnLst>
                                    <p:set>
                                      <p:cBhvr>
                                        <p:cTn id="156" dur="1" fill="hold">
                                          <p:stCondLst>
                                            <p:cond delay="0"/>
                                          </p:stCondLst>
                                        </p:cTn>
                                        <p:tgtEl>
                                          <p:spTgt spid="304"/>
                                        </p:tgtEl>
                                        <p:attrNameLst>
                                          <p:attrName>style.visibility</p:attrName>
                                        </p:attrNameLst>
                                      </p:cBhvr>
                                      <p:to>
                                        <p:strVal val="visible"/>
                                      </p:to>
                                    </p:set>
                                    <p:animEffect transition="in" filter="fade">
                                      <p:cBhvr>
                                        <p:cTn id="157" dur="400"/>
                                        <p:tgtEl>
                                          <p:spTgt spid="304"/>
                                        </p:tgtEl>
                                      </p:cBhvr>
                                    </p:animEffect>
                                  </p:childTnLst>
                                </p:cTn>
                              </p:par>
                              <p:par>
                                <p:cTn id="160" presetID="10" presetClass="entr" presetSubtype="0" fill="hold" nodeType="clickEffect">
                                  <p:stCondLst>
                                    <p:cond delay="0"/>
                                  </p:stCondLst>
                                  <p:childTnLst>
                                    <p:set>
                                      <p:cBhvr>
                                        <p:cTn id="161" dur="1" fill="hold">
                                          <p:stCondLst>
                                            <p:cond delay="0"/>
                                          </p:stCondLst>
                                        </p:cTn>
                                        <p:tgtEl>
                                          <p:spTgt spid="305"/>
                                        </p:tgtEl>
                                        <p:attrNameLst>
                                          <p:attrName>style.visibility</p:attrName>
                                        </p:attrNameLst>
                                      </p:cBhvr>
                                      <p:to>
                                        <p:strVal val="visible"/>
                                      </p:to>
                                    </p:set>
                                    <p:animEffect transition="in" filter="fade">
                                      <p:cBhvr>
                                        <p:cTn id="162" dur="400"/>
                                        <p:tgtEl>
                                          <p:spTgt spid="305"/>
                                        </p:tgtEl>
                                      </p:cBhvr>
                                    </p:animEffect>
                                  </p:childTnLst>
                                </p:cTn>
                              </p:par>
                              <p:par>
                                <p:cTn id="165" presetID="10" presetClass="entr" presetSubtype="0" fill="hold" nodeType="clickEffect">
                                  <p:stCondLst>
                                    <p:cond delay="80"/>
                                  </p:stCondLst>
                                  <p:childTnLst>
                                    <p:set>
                                      <p:cBhvr>
                                        <p:cTn id="166" dur="1" fill="hold">
                                          <p:stCondLst>
                                            <p:cond delay="0"/>
                                          </p:stCondLst>
                                        </p:cTn>
                                        <p:tgtEl>
                                          <p:spTgt spid="306"/>
                                        </p:tgtEl>
                                        <p:attrNameLst>
                                          <p:attrName>style.visibility</p:attrName>
                                        </p:attrNameLst>
                                      </p:cBhvr>
                                      <p:to>
                                        <p:strVal val="visible"/>
                                      </p:to>
                                    </p:set>
                                    <p:animEffect transition="in" filter="fade">
                                      <p:cBhvr>
                                        <p:cTn id="167" dur="400"/>
                                        <p:tgtEl>
                                          <p:spTgt spid="306"/>
                                        </p:tgtEl>
                                      </p:cBhvr>
                                    </p:animEffect>
                                  </p:childTnLst>
                                </p:cTn>
                              </p:par>
                              <p:par>
                                <p:cTn id="170" presetID="10" presetClass="entr" presetSubtype="0" fill="hold" nodeType="clickEffect">
                                  <p:stCondLst>
                                    <p:cond delay="160"/>
                                  </p:stCondLst>
                                  <p:childTnLst>
                                    <p:set>
                                      <p:cBhvr>
                                        <p:cTn id="171" dur="1" fill="hold">
                                          <p:stCondLst>
                                            <p:cond delay="0"/>
                                          </p:stCondLst>
                                        </p:cTn>
                                        <p:tgtEl>
                                          <p:spTgt spid="307"/>
                                        </p:tgtEl>
                                        <p:attrNameLst>
                                          <p:attrName>style.visibility</p:attrName>
                                        </p:attrNameLst>
                                      </p:cBhvr>
                                      <p:to>
                                        <p:strVal val="visible"/>
                                      </p:to>
                                    </p:set>
                                    <p:animEffect transition="in" filter="fade">
                                      <p:cBhvr>
                                        <p:cTn id="172" dur="400"/>
                                        <p:tgtEl>
                                          <p:spTgt spid="307"/>
                                        </p:tgtEl>
                                      </p:cBhvr>
                                    </p:animEffect>
                                  </p:childTnLst>
                                </p:cTn>
                              </p:par>
                              <p:par>
                                <p:cTn id="175" presetID="10" presetClass="entr" presetSubtype="0" fill="hold" nodeType="clickEffect">
                                  <p:stCondLst>
                                    <p:cond delay="240"/>
                                  </p:stCondLst>
                                  <p:childTnLst>
                                    <p:set>
                                      <p:cBhvr>
                                        <p:cTn id="176" dur="1" fill="hold">
                                          <p:stCondLst>
                                            <p:cond delay="0"/>
                                          </p:stCondLst>
                                        </p:cTn>
                                        <p:tgtEl>
                                          <p:spTgt spid="308"/>
                                        </p:tgtEl>
                                        <p:attrNameLst>
                                          <p:attrName>style.visibility</p:attrName>
                                        </p:attrNameLst>
                                      </p:cBhvr>
                                      <p:to>
                                        <p:strVal val="visible"/>
                                      </p:to>
                                    </p:set>
                                    <p:animEffect transition="in" filter="fade">
                                      <p:cBhvr>
                                        <p:cTn id="177" dur="400"/>
                                        <p:tgtEl>
                                          <p:spTgt spid="3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 name="Fond" descr="bg_light.jpg"/>
          <p:cNvPicPr>
            <a:picLocks noChangeAspect="1"/>
          </p:cNvPicPr>
          <p:nvPr/>
        </p:nvPicPr>
        <p:blipFill>
          <a:blip r:embed="rId2"/>
          <a:stretch>
            <a:fillRect/>
          </a:stretch>
        </p:blipFill>
        <p:spPr>
          <a:xfrm>
            <a:off x="0" y="0"/>
            <a:ext cx="12191695" cy="6858000"/>
          </a:xfrm>
          <a:prstGeom prst="rect">
            <a:avLst/>
          </a:prstGeom>
        </p:spPr>
      </p:pic>
      <p:sp>
        <p:nvSpPr>
          <p:cNvPr id="2" name="Section"/>
          <p:cNvSpPr txBox="1"/>
          <p:nvPr/>
        </p:nvSpPr>
        <p:spPr>
          <a:xfrm>
            <a:off x="640080" y="301752"/>
            <a:ext cx="3657600" cy="256032"/>
          </a:xfrm>
          <a:prstGeom prst="rect">
            <a:avLst/>
          </a:prstGeom>
          <a:noFill/>
        </p:spPr>
        <p:txBody>
          <a:bodyPr wrap="none" anchor="t" lIns="0" rIns="0" tIns="0" bIns="0">
            <a:noAutofit/>
          </a:bodyPr>
          <a:lstStyle/>
          <a:p>
            <a:pPr algn="l">
              <a:lnSpc>
                <a:spcPct val="105000"/>
              </a:lnSpc>
              <a:spcBef>
                <a:spcPts val="0"/>
              </a:spcBef>
              <a:spcAft>
                <a:spcPts val="0"/>
              </a:spcAft>
            </a:pPr>
            <a:r>
              <a:rPr sz="900" b="1" i="0" spc="140" lang="fr-FR">
                <a:solidFill>
                  <a:srgbClr val="6D28D9"/>
                </a:solidFill>
                <a:latin typeface="Arial"/>
              </a:rPr>
              <a:t>04 · API</a:t>
            </a:r>
          </a:p>
        </p:txBody>
      </p:sp>
      <p:sp>
        <p:nvSpPr>
          <p:cNvPr id="3" name="Monogramme"/>
          <p:cNvSpPr txBox="1"/>
          <p:nvPr/>
        </p:nvSpPr>
        <p:spPr>
          <a:xfrm>
            <a:off x="10454335" y="301752"/>
            <a:ext cx="1097280" cy="256032"/>
          </a:xfrm>
          <a:prstGeom prst="rect">
            <a:avLst/>
          </a:prstGeom>
          <a:noFill/>
        </p:spPr>
        <p:txBody>
          <a:bodyPr wrap="none" anchor="t" lIns="0" rIns="0" tIns="0" bIns="0">
            <a:noAutofit/>
          </a:bodyPr>
          <a:lstStyle/>
          <a:p>
            <a:pPr algn="r">
              <a:lnSpc>
                <a:spcPct val="105000"/>
              </a:lnSpc>
              <a:spcBef>
                <a:spcPts val="0"/>
              </a:spcBef>
              <a:spcAft>
                <a:spcPts val="0"/>
              </a:spcAft>
            </a:pPr>
            <a:r>
              <a:rPr sz="850" b="1" i="0" spc="120" lang="fr-FR">
                <a:solidFill>
                  <a:srgbClr val="7C6F8F"/>
                </a:solidFill>
                <a:latin typeface="Arial"/>
              </a:rPr>
              <a:t>SC · 2026</a:t>
            </a:r>
          </a:p>
        </p:txBody>
      </p:sp>
      <p:sp>
        <p:nvSpPr>
          <p:cNvPr id="4" name="AccentTitre"/>
          <p:cNvSpPr/>
          <p:nvPr/>
        </p:nvSpPr>
        <p:spPr>
          <a:xfrm>
            <a:off x="640080" y="877824"/>
            <a:ext cx="50292" cy="45720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itre"/>
          <p:cNvSpPr txBox="1"/>
          <p:nvPr/>
        </p:nvSpPr>
        <p:spPr>
          <a:xfrm>
            <a:off x="841247" y="822960"/>
            <a:ext cx="10710367" cy="914400"/>
          </a:xfrm>
          <a:prstGeom prst="rect">
            <a:avLst/>
          </a:prstGeom>
          <a:noFill/>
        </p:spPr>
        <p:txBody>
          <a:bodyPr wrap="none" anchor="t" lIns="0" rIns="0" tIns="0" bIns="0">
            <a:noAutofit/>
          </a:bodyPr>
          <a:lstStyle/>
          <a:p>
            <a:pPr algn="l">
              <a:lnSpc>
                <a:spcPct val="98000"/>
              </a:lnSpc>
              <a:spcBef>
                <a:spcPts val="0"/>
              </a:spcBef>
              <a:spcAft>
                <a:spcPts val="0"/>
              </a:spcAft>
            </a:pPr>
            <a:r>
              <a:rPr sz="2800" b="1" i="0" lang="fr-FR">
                <a:solidFill>
                  <a:srgbClr val="2E1065"/>
                </a:solidFill>
                <a:latin typeface="Arial"/>
              </a:rPr>
              <a:t>OWASP API Top 10 : dix risques, une logique</a:t>
            </a:r>
          </a:p>
        </p:txBody>
      </p:sp>
      <p:pic>
        <p:nvPicPr>
          <p:cNvPr id="6" name="DonutOWASP" descr="donut_owasp.png"/>
          <p:cNvPicPr>
            <a:picLocks noChangeAspect="1"/>
          </p:cNvPicPr>
          <p:nvPr/>
        </p:nvPicPr>
        <p:blipFill>
          <a:blip r:embed="rId3"/>
          <a:stretch>
            <a:fillRect/>
          </a:stretch>
        </p:blipFill>
        <p:spPr>
          <a:xfrm>
            <a:off x="640080" y="1828800"/>
            <a:ext cx="3291840" cy="3291840"/>
          </a:xfrm>
          <a:prstGeom prst="rect">
            <a:avLst/>
          </a:prstGeom>
        </p:spPr>
      </p:pic>
      <p:sp>
        <p:nvSpPr>
          <p:cNvPr id="7" name="TextBox 6"/>
          <p:cNvSpPr txBox="1"/>
          <p:nvPr/>
        </p:nvSpPr>
        <p:spPr>
          <a:xfrm>
            <a:off x="1417320" y="3063240"/>
            <a:ext cx="1737360" cy="914400"/>
          </a:xfrm>
          <a:prstGeom prst="rect">
            <a:avLst/>
          </a:prstGeom>
          <a:noFill/>
        </p:spPr>
        <p:txBody>
          <a:bodyPr wrap="none" anchor="ctr" lIns="0" rIns="0" tIns="0" bIns="0">
            <a:noAutofit/>
          </a:bodyPr>
          <a:lstStyle/>
          <a:p>
            <a:pPr algn="ctr">
              <a:lnSpc>
                <a:spcPct val="90000"/>
              </a:lnSpc>
              <a:spcBef>
                <a:spcPts val="0"/>
              </a:spcBef>
              <a:spcAft>
                <a:spcPts val="0"/>
              </a:spcAft>
            </a:pPr>
            <a:r>
              <a:rPr sz="2600" b="1" i="0" lang="fr-FR">
                <a:solidFill>
                  <a:srgbClr val="2E1065"/>
                </a:solidFill>
                <a:latin typeface="Arial"/>
              </a:rPr>
              <a:t>10</a:t>
            </a:r>
          </a:p>
          <a:p>
            <a:pPr algn="ctr">
              <a:lnSpc>
                <a:spcPct val="90000"/>
              </a:lnSpc>
              <a:spcBef>
                <a:spcPts val="0"/>
              </a:spcBef>
              <a:spcAft>
                <a:spcPts val="0"/>
              </a:spcAft>
            </a:pPr>
            <a:r>
              <a:rPr sz="2600" b="1" i="0" lang="fr-FR">
                <a:solidFill>
                  <a:srgbClr val="2E1065"/>
                </a:solidFill>
                <a:latin typeface="Arial"/>
              </a:rPr>
              <a:t>risques</a:t>
            </a:r>
          </a:p>
        </p:txBody>
      </p:sp>
      <p:sp>
        <p:nvSpPr>
          <p:cNvPr id="8" name="TextBox 7"/>
          <p:cNvSpPr txBox="1"/>
          <p:nvPr/>
        </p:nvSpPr>
        <p:spPr>
          <a:xfrm>
            <a:off x="731520" y="5257800"/>
            <a:ext cx="1417320" cy="274320"/>
          </a:xfrm>
          <a:prstGeom prst="rect">
            <a:avLst/>
          </a:prstGeom>
          <a:noFill/>
        </p:spPr>
        <p:txBody>
          <a:bodyPr wrap="none" anchor="t" lIns="0" rIns="0" tIns="0" bIns="0">
            <a:noAutofit/>
          </a:bodyPr>
          <a:lstStyle/>
          <a:p>
            <a:pPr algn="l">
              <a:lnSpc>
                <a:spcPct val="105000"/>
              </a:lnSpc>
              <a:spcBef>
                <a:spcPts val="0"/>
              </a:spcBef>
              <a:spcAft>
                <a:spcPts val="0"/>
              </a:spcAft>
            </a:pPr>
            <a:r>
              <a:rPr sz="900" b="1" i="0" lang="fr-FR">
                <a:solidFill>
                  <a:srgbClr val="B45309"/>
                </a:solidFill>
                <a:latin typeface="Arial"/>
              </a:rPr>
              <a:t>1 authentification</a:t>
            </a:r>
          </a:p>
        </p:txBody>
      </p:sp>
      <p:sp>
        <p:nvSpPr>
          <p:cNvPr id="9" name="TextBox 8"/>
          <p:cNvSpPr txBox="1"/>
          <p:nvPr/>
        </p:nvSpPr>
        <p:spPr>
          <a:xfrm>
            <a:off x="2240280" y="5257800"/>
            <a:ext cx="1325880" cy="274320"/>
          </a:xfrm>
          <a:prstGeom prst="rect">
            <a:avLst/>
          </a:prstGeom>
          <a:noFill/>
        </p:spPr>
        <p:txBody>
          <a:bodyPr wrap="none" anchor="t" lIns="0" rIns="0" tIns="0" bIns="0">
            <a:noAutofit/>
          </a:bodyPr>
          <a:lstStyle/>
          <a:p>
            <a:pPr algn="l">
              <a:lnSpc>
                <a:spcPct val="105000"/>
              </a:lnSpc>
              <a:spcBef>
                <a:spcPts val="0"/>
              </a:spcBef>
              <a:spcAft>
                <a:spcPts val="0"/>
              </a:spcAft>
            </a:pPr>
            <a:r>
              <a:rPr sz="900" b="1" i="0" lang="fr-FR">
                <a:solidFill>
                  <a:srgbClr val="6D28D9"/>
                </a:solidFill>
                <a:latin typeface="Arial"/>
              </a:rPr>
              <a:t>3 autorisation</a:t>
            </a:r>
          </a:p>
        </p:txBody>
      </p:sp>
      <p:sp>
        <p:nvSpPr>
          <p:cNvPr id="10" name="TextBox 9"/>
          <p:cNvSpPr txBox="1"/>
          <p:nvPr/>
        </p:nvSpPr>
        <p:spPr>
          <a:xfrm>
            <a:off x="3611880" y="5257800"/>
            <a:ext cx="1325880" cy="274320"/>
          </a:xfrm>
          <a:prstGeom prst="rect">
            <a:avLst/>
          </a:prstGeom>
          <a:noFill/>
        </p:spPr>
        <p:txBody>
          <a:bodyPr wrap="none" anchor="t" lIns="0" rIns="0" tIns="0" bIns="0">
            <a:noAutofit/>
          </a:bodyPr>
          <a:lstStyle/>
          <a:p>
            <a:pPr algn="l">
              <a:lnSpc>
                <a:spcPct val="105000"/>
              </a:lnSpc>
              <a:spcBef>
                <a:spcPts val="0"/>
              </a:spcBef>
              <a:spcAft>
                <a:spcPts val="0"/>
              </a:spcAft>
            </a:pPr>
            <a:r>
              <a:rPr sz="900" b="1" i="0" lang="fr-FR">
                <a:solidFill>
                  <a:srgbClr val="A78BFA"/>
                </a:solidFill>
                <a:latin typeface="Arial"/>
              </a:rPr>
              <a:t>6 configuration</a:t>
            </a:r>
          </a:p>
        </p:txBody>
      </p:sp>
      <p:sp>
        <p:nvSpPr>
          <p:cNvPr id="11" name="Chip01"/>
          <p:cNvSpPr/>
          <p:nvPr/>
        </p:nvSpPr>
        <p:spPr>
          <a:xfrm>
            <a:off x="4480560" y="1783080"/>
            <a:ext cx="3200400" cy="475488"/>
          </a:xfrm>
          <a:prstGeom prst="roundRect">
            <a:avLst>
              <a:gd name="adj" fmla="val 16000"/>
            </a:avLst>
          </a:prstGeom>
          <a:solidFill>
            <a:srgbClr val="EDE9FE"/>
          </a:solidFill>
          <a:ln w="1270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wrap="none" lIns="128016" rIns="128016" tIns="0" bIns="0">
            <a:noAutofit/>
          </a:bodyPr>
          <a:lstStyle/>
          <a:p>
            <a:pPr algn="ctr">
              <a:lnSpc>
                <a:spcPct val="100000"/>
              </a:lnSpc>
              <a:spcBef>
                <a:spcPts val="0"/>
              </a:spcBef>
              <a:spcAft>
                <a:spcPts val="0"/>
              </a:spcAft>
            </a:pPr>
            <a:r>
              <a:rPr sz="1050" b="0" i="0" lang="fr-FR">
                <a:solidFill>
                  <a:srgbClr val="1B0F33"/>
                </a:solidFill>
                <a:latin typeface="Arial"/>
              </a:rPr>
              <a:t>01  BOLA — autorisation objet</a:t>
            </a:r>
          </a:p>
        </p:txBody>
      </p:sp>
      <p:sp>
        <p:nvSpPr>
          <p:cNvPr id="12" name="Chip02"/>
          <p:cNvSpPr/>
          <p:nvPr/>
        </p:nvSpPr>
        <p:spPr>
          <a:xfrm>
            <a:off x="4480560" y="2350008"/>
            <a:ext cx="3200400" cy="475488"/>
          </a:xfrm>
          <a:prstGeom prst="roundRect">
            <a:avLst>
              <a:gd name="adj" fmla="val 16000"/>
            </a:avLst>
          </a:prstGeom>
          <a:solidFill>
            <a:srgbClr val="FDE68A"/>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none" lIns="128016" rIns="128016" tIns="0" bIns="0">
            <a:noAutofit/>
          </a:bodyPr>
          <a:lstStyle/>
          <a:p>
            <a:pPr algn="ctr">
              <a:lnSpc>
                <a:spcPct val="100000"/>
              </a:lnSpc>
              <a:spcBef>
                <a:spcPts val="0"/>
              </a:spcBef>
              <a:spcAft>
                <a:spcPts val="0"/>
              </a:spcAft>
            </a:pPr>
            <a:r>
              <a:rPr sz="1050" b="0" i="0" lang="fr-FR">
                <a:solidFill>
                  <a:srgbClr val="1B0F33"/>
                </a:solidFill>
                <a:latin typeface="Arial"/>
              </a:rPr>
              <a:t>02  Authentification défaillante</a:t>
            </a:r>
          </a:p>
        </p:txBody>
      </p:sp>
      <p:sp>
        <p:nvSpPr>
          <p:cNvPr id="13" name="Chip03"/>
          <p:cNvSpPr/>
          <p:nvPr/>
        </p:nvSpPr>
        <p:spPr>
          <a:xfrm>
            <a:off x="4480560" y="2916936"/>
            <a:ext cx="3200400" cy="475488"/>
          </a:xfrm>
          <a:prstGeom prst="roundRect">
            <a:avLst>
              <a:gd name="adj" fmla="val 16000"/>
            </a:avLst>
          </a:prstGeom>
          <a:solidFill>
            <a:srgbClr val="EDE9FE"/>
          </a:solidFill>
          <a:ln w="1270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wrap="none" lIns="128016" rIns="128016" tIns="0" bIns="0">
            <a:noAutofit/>
          </a:bodyPr>
          <a:lstStyle/>
          <a:p>
            <a:pPr algn="ctr">
              <a:lnSpc>
                <a:spcPct val="100000"/>
              </a:lnSpc>
              <a:spcBef>
                <a:spcPts val="0"/>
              </a:spcBef>
              <a:spcAft>
                <a:spcPts val="0"/>
              </a:spcAft>
            </a:pPr>
            <a:r>
              <a:rPr sz="1050" b="0" i="0" lang="fr-FR">
                <a:solidFill>
                  <a:srgbClr val="1B0F33"/>
                </a:solidFill>
                <a:latin typeface="Arial"/>
              </a:rPr>
              <a:t>03  BOPLA — propriété des données</a:t>
            </a:r>
          </a:p>
        </p:txBody>
      </p:sp>
      <p:sp>
        <p:nvSpPr>
          <p:cNvPr id="14" name="Chip04"/>
          <p:cNvSpPr/>
          <p:nvPr/>
        </p:nvSpPr>
        <p:spPr>
          <a:xfrm>
            <a:off x="4480560" y="3483863"/>
            <a:ext cx="3200400" cy="475488"/>
          </a:xfrm>
          <a:prstGeom prst="roundRect">
            <a:avLst>
              <a:gd name="adj" fmla="val 16000"/>
            </a:avLst>
          </a:prstGeom>
          <a:solidFill>
            <a:srgbClr val="F7F5FF"/>
          </a:solidFill>
          <a:ln w="12700">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wrap="none" lIns="128016" rIns="128016" tIns="0" bIns="0">
            <a:noAutofit/>
          </a:bodyPr>
          <a:lstStyle/>
          <a:p>
            <a:pPr algn="ctr">
              <a:lnSpc>
                <a:spcPct val="100000"/>
              </a:lnSpc>
              <a:spcBef>
                <a:spcPts val="0"/>
              </a:spcBef>
              <a:spcAft>
                <a:spcPts val="0"/>
              </a:spcAft>
            </a:pPr>
            <a:r>
              <a:rPr sz="1050" b="0" i="0" lang="fr-FR">
                <a:solidFill>
                  <a:srgbClr val="1B0F33"/>
                </a:solidFill>
                <a:latin typeface="Arial"/>
              </a:rPr>
              <a:t>04  Ressources non limitées</a:t>
            </a:r>
          </a:p>
        </p:txBody>
      </p:sp>
      <p:sp>
        <p:nvSpPr>
          <p:cNvPr id="15" name="Chip05"/>
          <p:cNvSpPr/>
          <p:nvPr/>
        </p:nvSpPr>
        <p:spPr>
          <a:xfrm>
            <a:off x="4480560" y="4050791"/>
            <a:ext cx="3200400" cy="475488"/>
          </a:xfrm>
          <a:prstGeom prst="roundRect">
            <a:avLst>
              <a:gd name="adj" fmla="val 16000"/>
            </a:avLst>
          </a:prstGeom>
          <a:solidFill>
            <a:srgbClr val="EDE9FE"/>
          </a:solidFill>
          <a:ln w="1270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wrap="none" lIns="128016" rIns="128016" tIns="0" bIns="0">
            <a:noAutofit/>
          </a:bodyPr>
          <a:lstStyle/>
          <a:p>
            <a:pPr algn="ctr">
              <a:lnSpc>
                <a:spcPct val="100000"/>
              </a:lnSpc>
              <a:spcBef>
                <a:spcPts val="0"/>
              </a:spcBef>
              <a:spcAft>
                <a:spcPts val="0"/>
              </a:spcAft>
            </a:pPr>
            <a:r>
              <a:rPr sz="1050" b="0" i="0" lang="fr-FR">
                <a:solidFill>
                  <a:srgbClr val="1B0F33"/>
                </a:solidFill>
                <a:latin typeface="Arial"/>
              </a:rPr>
              <a:t>05  BFLA — autorisation fonction</a:t>
            </a:r>
          </a:p>
        </p:txBody>
      </p:sp>
      <p:sp>
        <p:nvSpPr>
          <p:cNvPr id="16" name="Chip06"/>
          <p:cNvSpPr/>
          <p:nvPr/>
        </p:nvSpPr>
        <p:spPr>
          <a:xfrm>
            <a:off x="7955279" y="1783080"/>
            <a:ext cx="3200400" cy="475488"/>
          </a:xfrm>
          <a:prstGeom prst="roundRect">
            <a:avLst>
              <a:gd name="adj" fmla="val 16000"/>
            </a:avLst>
          </a:prstGeom>
          <a:solidFill>
            <a:srgbClr val="F7F5FF"/>
          </a:solidFill>
          <a:ln w="12700">
            <a:solidFill>
              <a:srgbClr val="6B7280"/>
            </a:solidFill>
          </a:ln>
        </p:spPr>
        <p:style>
          <a:lnRef idx="1">
            <a:schemeClr val="accent1"/>
          </a:lnRef>
          <a:fillRef idx="3">
            <a:schemeClr val="accent1"/>
          </a:fillRef>
          <a:effectRef idx="2">
            <a:schemeClr val="accent1"/>
          </a:effectRef>
          <a:fontRef idx="minor">
            <a:schemeClr val="lt1"/>
          </a:fontRef>
        </p:style>
        <p:txBody>
          <a:bodyPr rtlCol="0" anchor="ctr" wrap="none" lIns="128016" rIns="128016" tIns="0" bIns="0">
            <a:noAutofit/>
          </a:bodyPr>
          <a:lstStyle/>
          <a:p>
            <a:pPr algn="ctr">
              <a:lnSpc>
                <a:spcPct val="100000"/>
              </a:lnSpc>
              <a:spcBef>
                <a:spcPts val="0"/>
              </a:spcBef>
              <a:spcAft>
                <a:spcPts val="0"/>
              </a:spcAft>
            </a:pPr>
            <a:r>
              <a:rPr sz="1050" b="0" i="0" lang="fr-FR">
                <a:solidFill>
                  <a:srgbClr val="1B0F33"/>
                </a:solidFill>
                <a:latin typeface="Arial"/>
              </a:rPr>
              <a:t>06  Flux métier sensibles</a:t>
            </a:r>
          </a:p>
        </p:txBody>
      </p:sp>
      <p:sp>
        <p:nvSpPr>
          <p:cNvPr id="17" name="Chip07"/>
          <p:cNvSpPr/>
          <p:nvPr/>
        </p:nvSpPr>
        <p:spPr>
          <a:xfrm>
            <a:off x="7955279" y="2350008"/>
            <a:ext cx="3200400" cy="475488"/>
          </a:xfrm>
          <a:prstGeom prst="roundRect">
            <a:avLst>
              <a:gd name="adj" fmla="val 16000"/>
            </a:avLst>
          </a:prstGeom>
          <a:solidFill>
            <a:srgbClr val="F7F5FF"/>
          </a:solidFill>
          <a:ln w="12700">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wrap="none" lIns="128016" rIns="128016" tIns="0" bIns="0">
            <a:noAutofit/>
          </a:bodyPr>
          <a:lstStyle/>
          <a:p>
            <a:pPr algn="ctr">
              <a:lnSpc>
                <a:spcPct val="100000"/>
              </a:lnSpc>
              <a:spcBef>
                <a:spcPts val="0"/>
              </a:spcBef>
              <a:spcAft>
                <a:spcPts val="0"/>
              </a:spcAft>
            </a:pPr>
            <a:r>
              <a:rPr sz="1050" b="0" i="0" lang="fr-FR">
                <a:solidFill>
                  <a:srgbClr val="1B0F33"/>
                </a:solidFill>
                <a:latin typeface="Arial"/>
              </a:rPr>
              <a:t>07  SSRF</a:t>
            </a:r>
          </a:p>
        </p:txBody>
      </p:sp>
      <p:sp>
        <p:nvSpPr>
          <p:cNvPr id="18" name="Chip08"/>
          <p:cNvSpPr/>
          <p:nvPr/>
        </p:nvSpPr>
        <p:spPr>
          <a:xfrm>
            <a:off x="7955279" y="2916936"/>
            <a:ext cx="3200400" cy="475488"/>
          </a:xfrm>
          <a:prstGeom prst="roundRect">
            <a:avLst>
              <a:gd name="adj" fmla="val 16000"/>
            </a:avLst>
          </a:prstGeom>
          <a:solidFill>
            <a:srgbClr val="F7F5FF"/>
          </a:solidFill>
          <a:ln w="12700">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wrap="none" lIns="128016" rIns="128016" tIns="0" bIns="0">
            <a:noAutofit/>
          </a:bodyPr>
          <a:lstStyle/>
          <a:p>
            <a:pPr algn="ctr">
              <a:lnSpc>
                <a:spcPct val="100000"/>
              </a:lnSpc>
              <a:spcBef>
                <a:spcPts val="0"/>
              </a:spcBef>
              <a:spcAft>
                <a:spcPts val="0"/>
              </a:spcAft>
            </a:pPr>
            <a:r>
              <a:rPr sz="1050" b="0" i="0" lang="fr-FR">
                <a:solidFill>
                  <a:srgbClr val="1B0F33"/>
                </a:solidFill>
                <a:latin typeface="Arial"/>
              </a:rPr>
              <a:t>08  Mauvaise configuration</a:t>
            </a:r>
          </a:p>
        </p:txBody>
      </p:sp>
      <p:sp>
        <p:nvSpPr>
          <p:cNvPr id="19" name="Chip09"/>
          <p:cNvSpPr/>
          <p:nvPr/>
        </p:nvSpPr>
        <p:spPr>
          <a:xfrm>
            <a:off x="7955279" y="3483863"/>
            <a:ext cx="3200400" cy="475488"/>
          </a:xfrm>
          <a:prstGeom prst="roundRect">
            <a:avLst>
              <a:gd name="adj" fmla="val 16000"/>
            </a:avLst>
          </a:prstGeom>
          <a:solidFill>
            <a:srgbClr val="F7F5FF"/>
          </a:solidFill>
          <a:ln w="12700">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wrap="none" lIns="128016" rIns="128016" tIns="0" bIns="0">
            <a:noAutofit/>
          </a:bodyPr>
          <a:lstStyle/>
          <a:p>
            <a:pPr algn="ctr">
              <a:lnSpc>
                <a:spcPct val="100000"/>
              </a:lnSpc>
              <a:spcBef>
                <a:spcPts val="0"/>
              </a:spcBef>
              <a:spcAft>
                <a:spcPts val="0"/>
              </a:spcAft>
            </a:pPr>
            <a:r>
              <a:rPr sz="1050" b="0" i="0" lang="fr-FR">
                <a:solidFill>
                  <a:srgbClr val="1B0F33"/>
                </a:solidFill>
                <a:latin typeface="Arial"/>
              </a:rPr>
              <a:t>09  Inventaire défaillant</a:t>
            </a:r>
          </a:p>
        </p:txBody>
      </p:sp>
      <p:sp>
        <p:nvSpPr>
          <p:cNvPr id="20" name="Chip10"/>
          <p:cNvSpPr/>
          <p:nvPr/>
        </p:nvSpPr>
        <p:spPr>
          <a:xfrm>
            <a:off x="7955279" y="4050791"/>
            <a:ext cx="3200400" cy="475488"/>
          </a:xfrm>
          <a:prstGeom prst="roundRect">
            <a:avLst>
              <a:gd name="adj" fmla="val 16000"/>
            </a:avLst>
          </a:prstGeom>
          <a:solidFill>
            <a:srgbClr val="F7F5FF"/>
          </a:solidFill>
          <a:ln w="12700">
            <a:solidFill>
              <a:srgbClr val="6B7280"/>
            </a:solidFill>
          </a:ln>
        </p:spPr>
        <p:style>
          <a:lnRef idx="1">
            <a:schemeClr val="accent1"/>
          </a:lnRef>
          <a:fillRef idx="3">
            <a:schemeClr val="accent1"/>
          </a:fillRef>
          <a:effectRef idx="2">
            <a:schemeClr val="accent1"/>
          </a:effectRef>
          <a:fontRef idx="minor">
            <a:schemeClr val="lt1"/>
          </a:fontRef>
        </p:style>
        <p:txBody>
          <a:bodyPr rtlCol="0" anchor="ctr" wrap="none" lIns="128016" rIns="128016" tIns="0" bIns="0">
            <a:noAutofit/>
          </a:bodyPr>
          <a:lstStyle/>
          <a:p>
            <a:pPr algn="ctr">
              <a:lnSpc>
                <a:spcPct val="100000"/>
              </a:lnSpc>
              <a:spcBef>
                <a:spcPts val="0"/>
              </a:spcBef>
              <a:spcAft>
                <a:spcPts val="0"/>
              </a:spcAft>
            </a:pPr>
            <a:r>
              <a:rPr sz="1050" b="0" i="0" lang="fr-FR">
                <a:solidFill>
                  <a:srgbClr val="1B0F33"/>
                </a:solidFill>
                <a:latin typeface="Arial"/>
              </a:rPr>
              <a:t>10  API tierces non fiables</a:t>
            </a:r>
          </a:p>
        </p:txBody>
      </p:sp>
      <p:sp>
        <p:nvSpPr>
          <p:cNvPr id="21" name="TextBox 20"/>
          <p:cNvSpPr txBox="1"/>
          <p:nvPr/>
        </p:nvSpPr>
        <p:spPr>
          <a:xfrm>
            <a:off x="640080" y="5989320"/>
            <a:ext cx="10881360" cy="320040"/>
          </a:xfrm>
          <a:prstGeom prst="rect">
            <a:avLst/>
          </a:prstGeom>
          <a:noFill/>
        </p:spPr>
        <p:txBody>
          <a:bodyPr wrap="none" anchor="t" lIns="0" rIns="0" tIns="0" bIns="0">
            <a:noAutofit/>
          </a:bodyPr>
          <a:lstStyle/>
          <a:p>
            <a:pPr algn="l">
              <a:lnSpc>
                <a:spcPct val="105000"/>
              </a:lnSpc>
              <a:spcBef>
                <a:spcPts val="0"/>
              </a:spcBef>
              <a:spcAft>
                <a:spcPts val="0"/>
              </a:spcAft>
            </a:pPr>
            <a:r>
              <a:rPr sz="1400" b="1" i="0" lang="fr-FR">
                <a:solidFill>
                  <a:srgbClr val="6D28D9"/>
                </a:solidFill>
                <a:latin typeface="Arial"/>
              </a:rPr>
              <a:t>6 risques sur 10 relèvent de la configuration ou de la confiance.</a:t>
            </a:r>
          </a:p>
        </p:txBody>
      </p:sp>
      <p:sp>
        <p:nvSpPr>
          <p:cNvPr id="22" name="Source"/>
          <p:cNvSpPr txBox="1"/>
          <p:nvPr/>
        </p:nvSpPr>
        <p:spPr>
          <a:xfrm>
            <a:off x="640080" y="6382512"/>
            <a:ext cx="10271455" cy="219456"/>
          </a:xfrm>
          <a:prstGeom prst="rect">
            <a:avLst/>
          </a:prstGeom>
          <a:noFill/>
        </p:spPr>
        <p:txBody>
          <a:bodyPr wrap="none" anchor="t" lIns="0" rIns="0" tIns="0" bIns="0">
            <a:noAutofit/>
          </a:bodyPr>
          <a:lstStyle/>
          <a:p>
            <a:pPr algn="l">
              <a:lnSpc>
                <a:spcPct val="105000"/>
              </a:lnSpc>
              <a:spcBef>
                <a:spcPts val="0"/>
              </a:spcBef>
              <a:spcAft>
                <a:spcPts val="0"/>
              </a:spcAft>
            </a:pPr>
            <a:r>
              <a:rPr sz="850" b="0" i="0" lang="fr-FR">
                <a:solidFill>
                  <a:srgbClr val="5B5563"/>
                </a:solidFill>
                <a:latin typeface="Arial"/>
              </a:rPr>
              <a:t>OWASP API Security Top 10 (2023).</a:t>
            </a:r>
          </a:p>
        </p:txBody>
      </p:sp>
      <p:sp>
        <p:nvSpPr>
          <p:cNvPr id="23" name="Numero"/>
          <p:cNvSpPr txBox="1"/>
          <p:nvPr/>
        </p:nvSpPr>
        <p:spPr>
          <a:xfrm>
            <a:off x="10728655" y="6419088"/>
            <a:ext cx="822960" cy="201168"/>
          </a:xfrm>
          <a:prstGeom prst="rect">
            <a:avLst/>
          </a:prstGeom>
          <a:noFill/>
        </p:spPr>
        <p:txBody>
          <a:bodyPr wrap="none" anchor="t" lIns="0" rIns="0" tIns="0" bIns="0">
            <a:noAutofit/>
          </a:bodyPr>
          <a:lstStyle/>
          <a:p>
            <a:pPr algn="r">
              <a:lnSpc>
                <a:spcPct val="105000"/>
              </a:lnSpc>
              <a:spcBef>
                <a:spcPts val="0"/>
              </a:spcBef>
              <a:spcAft>
                <a:spcPts val="0"/>
              </a:spcAft>
            </a:pPr>
            <a:r>
              <a:rPr sz="850" b="1" i="0" lang="fr-FR">
                <a:solidFill>
                  <a:srgbClr val="6B7280"/>
                </a:solidFill>
                <a:latin typeface="Arial"/>
              </a:rPr>
              <a:t>12 / 16</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00" fill="hold">
                      <p:stCondLst>
                        <p:cond delay="indefinite"/>
                      </p:stCondLst>
                      <p:childTnLst>
                        <p:par>
                          <p:cTn id="101" fill="hold">
                            <p:stCondLst>
                              <p:cond delay="0"/>
                            </p:stCondLst>
                            <p:childTnLst>
                              <p:par>
                                <p:cTn id="110" presetID="10" presetClass="entr" presetSubtype="0" fill="hold" nodeType="clickEffect">
                                  <p:stCondLst>
                                    <p:cond delay="0"/>
                                  </p:stCondLst>
                                  <p:childTnLst>
                                    <p:set>
                                      <p:cBhvr>
                                        <p:cTn id="111" dur="1" fill="hold">
                                          <p:stCondLst>
                                            <p:cond delay="0"/>
                                          </p:stCondLst>
                                        </p:cTn>
                                        <p:tgtEl>
                                          <p:spTgt spid="6"/>
                                        </p:tgtEl>
                                        <p:attrNameLst>
                                          <p:attrName>style.visibility</p:attrName>
                                        </p:attrNameLst>
                                      </p:cBhvr>
                                      <p:to>
                                        <p:strVal val="visible"/>
                                      </p:to>
                                    </p:set>
                                    <p:animEffect transition="in" filter="fade">
                                      <p:cBhvr>
                                        <p:cTn id="112" dur="450"/>
                                        <p:tgtEl>
                                          <p:spTgt spid="6"/>
                                        </p:tgtEl>
                                      </p:cBhvr>
                                    </p:animEffect>
                                  </p:childTnLst>
                                </p:cTn>
                              </p:par>
                              <p:par>
                                <p:cTn id="115" presetID="10" presetClass="entr" presetSubtype="0" fill="hold" nodeType="clickEffect">
                                  <p:stCondLst>
                                    <p:cond delay="100"/>
                                  </p:stCondLst>
                                  <p:childTnLst>
                                    <p:set>
                                      <p:cBhvr>
                                        <p:cTn id="116" dur="1" fill="hold">
                                          <p:stCondLst>
                                            <p:cond delay="0"/>
                                          </p:stCondLst>
                                        </p:cTn>
                                        <p:tgtEl>
                                          <p:spTgt spid="7"/>
                                        </p:tgtEl>
                                        <p:attrNameLst>
                                          <p:attrName>style.visibility</p:attrName>
                                        </p:attrNameLst>
                                      </p:cBhvr>
                                      <p:to>
                                        <p:strVal val="visible"/>
                                      </p:to>
                                    </p:set>
                                    <p:animEffect transition="in" filter="fade">
                                      <p:cBhvr>
                                        <p:cTn id="117" dur="450"/>
                                        <p:tgtEl>
                                          <p:spTgt spid="7"/>
                                        </p:tgtEl>
                                      </p:cBhvr>
                                    </p:animEffect>
                                  </p:childTnLst>
                                </p:cTn>
                              </p:par>
                              <p:par>
                                <p:cTn id="120" presetID="10" presetClass="entr" presetSubtype="0" fill="hold" nodeType="clickEffect">
                                  <p:stCondLst>
                                    <p:cond delay="150"/>
                                  </p:stCondLst>
                                  <p:childTnLst>
                                    <p:set>
                                      <p:cBhvr>
                                        <p:cTn id="121" dur="1" fill="hold">
                                          <p:stCondLst>
                                            <p:cond delay="0"/>
                                          </p:stCondLst>
                                        </p:cTn>
                                        <p:tgtEl>
                                          <p:spTgt spid="8"/>
                                        </p:tgtEl>
                                        <p:attrNameLst>
                                          <p:attrName>style.visibility</p:attrName>
                                        </p:attrNameLst>
                                      </p:cBhvr>
                                      <p:to>
                                        <p:strVal val="visible"/>
                                      </p:to>
                                    </p:set>
                                    <p:animEffect transition="in" filter="fade">
                                      <p:cBhvr>
                                        <p:cTn id="122" dur="450"/>
                                        <p:tgtEl>
                                          <p:spTgt spid="8"/>
                                        </p:tgtEl>
                                      </p:cBhvr>
                                    </p:animEffect>
                                  </p:childTnLst>
                                </p:cTn>
                              </p:par>
                              <p:par>
                                <p:cTn id="125" presetID="10" presetClass="entr" presetSubtype="0" fill="hold" nodeType="clickEffect">
                                  <p:stCondLst>
                                    <p:cond delay="200"/>
                                  </p:stCondLst>
                                  <p:childTnLst>
                                    <p:set>
                                      <p:cBhvr>
                                        <p:cTn id="126" dur="1" fill="hold">
                                          <p:stCondLst>
                                            <p:cond delay="0"/>
                                          </p:stCondLst>
                                        </p:cTn>
                                        <p:tgtEl>
                                          <p:spTgt spid="9"/>
                                        </p:tgtEl>
                                        <p:attrNameLst>
                                          <p:attrName>style.visibility</p:attrName>
                                        </p:attrNameLst>
                                      </p:cBhvr>
                                      <p:to>
                                        <p:strVal val="visible"/>
                                      </p:to>
                                    </p:set>
                                    <p:animEffect transition="in" filter="fade">
                                      <p:cBhvr>
                                        <p:cTn id="127" dur="450"/>
                                        <p:tgtEl>
                                          <p:spTgt spid="9"/>
                                        </p:tgtEl>
                                      </p:cBhvr>
                                    </p:animEffect>
                                  </p:childTnLst>
                                </p:cTn>
                              </p:par>
                              <p:par>
                                <p:cTn id="130" presetID="10" presetClass="entr" presetSubtype="0" fill="hold" nodeType="clickEffect">
                                  <p:stCondLst>
                                    <p:cond delay="250"/>
                                  </p:stCondLst>
                                  <p:childTnLst>
                                    <p:set>
                                      <p:cBhvr>
                                        <p:cTn id="131" dur="1" fill="hold">
                                          <p:stCondLst>
                                            <p:cond delay="0"/>
                                          </p:stCondLst>
                                        </p:cTn>
                                        <p:tgtEl>
                                          <p:spTgt spid="10"/>
                                        </p:tgtEl>
                                        <p:attrNameLst>
                                          <p:attrName>style.visibility</p:attrName>
                                        </p:attrNameLst>
                                      </p:cBhvr>
                                      <p:to>
                                        <p:strVal val="visible"/>
                                      </p:to>
                                    </p:set>
                                    <p:animEffect transition="in" filter="fade">
                                      <p:cBhvr>
                                        <p:cTn id="132" dur="450"/>
                                        <p:tgtEl>
                                          <p:spTgt spid="10"/>
                                        </p:tgtEl>
                                      </p:cBhvr>
                                    </p:animEffect>
                                  </p:childTnLst>
                                </p:cTn>
                              </p:par>
                            </p:childTnLst>
                          </p:cTn>
                        </p:par>
                      </p:childTnLst>
                    </p:cTn>
                  </p:par>
                  <p:par>
                    <p:cTn id="135" fill="hold">
                      <p:stCondLst>
                        <p:cond delay="indefinite"/>
                      </p:stCondLst>
                      <p:childTnLst>
                        <p:par>
                          <p:cTn id="136" fill="hold">
                            <p:stCondLst>
                              <p:cond delay="0"/>
                            </p:stCondLst>
                            <p:childTnLst>
                              <p:par>
                                <p:cTn id="145" presetID="10" presetClass="entr" presetSubtype="0" fill="hold" nodeType="clickEffect">
                                  <p:stCondLst>
                                    <p:cond delay="0"/>
                                  </p:stCondLst>
                                  <p:childTnLst>
                                    <p:set>
                                      <p:cBhvr>
                                        <p:cTn id="146" dur="1" fill="hold">
                                          <p:stCondLst>
                                            <p:cond delay="0"/>
                                          </p:stCondLst>
                                        </p:cTn>
                                        <p:tgtEl>
                                          <p:spTgt spid="11"/>
                                        </p:tgtEl>
                                        <p:attrNameLst>
                                          <p:attrName>style.visibility</p:attrName>
                                        </p:attrNameLst>
                                      </p:cBhvr>
                                      <p:to>
                                        <p:strVal val="visible"/>
                                      </p:to>
                                    </p:set>
                                    <p:animEffect transition="in" filter="fade">
                                      <p:cBhvr>
                                        <p:cTn id="147" dur="400"/>
                                        <p:tgtEl>
                                          <p:spTgt spid="11"/>
                                        </p:tgtEl>
                                      </p:cBhvr>
                                    </p:animEffect>
                                  </p:childTnLst>
                                </p:cTn>
                              </p:par>
                              <p:par>
                                <p:cTn id="150" presetID="10" presetClass="entr" presetSubtype="0" fill="hold" nodeType="clickEffect">
                                  <p:stCondLst>
                                    <p:cond delay="80"/>
                                  </p:stCondLst>
                                  <p:childTnLst>
                                    <p:set>
                                      <p:cBhvr>
                                        <p:cTn id="151" dur="1" fill="hold">
                                          <p:stCondLst>
                                            <p:cond delay="0"/>
                                          </p:stCondLst>
                                        </p:cTn>
                                        <p:tgtEl>
                                          <p:spTgt spid="12"/>
                                        </p:tgtEl>
                                        <p:attrNameLst>
                                          <p:attrName>style.visibility</p:attrName>
                                        </p:attrNameLst>
                                      </p:cBhvr>
                                      <p:to>
                                        <p:strVal val="visible"/>
                                      </p:to>
                                    </p:set>
                                    <p:animEffect transition="in" filter="fade">
                                      <p:cBhvr>
                                        <p:cTn id="152" dur="400"/>
                                        <p:tgtEl>
                                          <p:spTgt spid="12"/>
                                        </p:tgtEl>
                                      </p:cBhvr>
                                    </p:animEffect>
                                  </p:childTnLst>
                                </p:cTn>
                              </p:par>
                              <p:par>
                                <p:cTn id="155" presetID="10" presetClass="entr" presetSubtype="0" fill="hold" nodeType="clickEffect">
                                  <p:stCondLst>
                                    <p:cond delay="160"/>
                                  </p:stCondLst>
                                  <p:childTnLst>
                                    <p:set>
                                      <p:cBhvr>
                                        <p:cTn id="156" dur="1" fill="hold">
                                          <p:stCondLst>
                                            <p:cond delay="0"/>
                                          </p:stCondLst>
                                        </p:cTn>
                                        <p:tgtEl>
                                          <p:spTgt spid="13"/>
                                        </p:tgtEl>
                                        <p:attrNameLst>
                                          <p:attrName>style.visibility</p:attrName>
                                        </p:attrNameLst>
                                      </p:cBhvr>
                                      <p:to>
                                        <p:strVal val="visible"/>
                                      </p:to>
                                    </p:set>
                                    <p:animEffect transition="in" filter="fade">
                                      <p:cBhvr>
                                        <p:cTn id="157" dur="400"/>
                                        <p:tgtEl>
                                          <p:spTgt spid="13"/>
                                        </p:tgtEl>
                                      </p:cBhvr>
                                    </p:animEffect>
                                  </p:childTnLst>
                                </p:cTn>
                              </p:par>
                              <p:par>
                                <p:cTn id="160" presetID="10" presetClass="entr" presetSubtype="0" fill="hold" nodeType="clickEffect">
                                  <p:stCondLst>
                                    <p:cond delay="240"/>
                                  </p:stCondLst>
                                  <p:childTnLst>
                                    <p:set>
                                      <p:cBhvr>
                                        <p:cTn id="161" dur="1" fill="hold">
                                          <p:stCondLst>
                                            <p:cond delay="0"/>
                                          </p:stCondLst>
                                        </p:cTn>
                                        <p:tgtEl>
                                          <p:spTgt spid="14"/>
                                        </p:tgtEl>
                                        <p:attrNameLst>
                                          <p:attrName>style.visibility</p:attrName>
                                        </p:attrNameLst>
                                      </p:cBhvr>
                                      <p:to>
                                        <p:strVal val="visible"/>
                                      </p:to>
                                    </p:set>
                                    <p:animEffect transition="in" filter="fade">
                                      <p:cBhvr>
                                        <p:cTn id="162" dur="400"/>
                                        <p:tgtEl>
                                          <p:spTgt spid="14"/>
                                        </p:tgtEl>
                                      </p:cBhvr>
                                    </p:animEffect>
                                  </p:childTnLst>
                                </p:cTn>
                              </p:par>
                              <p:par>
                                <p:cTn id="165" presetID="10" presetClass="entr" presetSubtype="0" fill="hold" nodeType="clickEffect">
                                  <p:stCondLst>
                                    <p:cond delay="320"/>
                                  </p:stCondLst>
                                  <p:childTnLst>
                                    <p:set>
                                      <p:cBhvr>
                                        <p:cTn id="166" dur="1" fill="hold">
                                          <p:stCondLst>
                                            <p:cond delay="0"/>
                                          </p:stCondLst>
                                        </p:cTn>
                                        <p:tgtEl>
                                          <p:spTgt spid="15"/>
                                        </p:tgtEl>
                                        <p:attrNameLst>
                                          <p:attrName>style.visibility</p:attrName>
                                        </p:attrNameLst>
                                      </p:cBhvr>
                                      <p:to>
                                        <p:strVal val="visible"/>
                                      </p:to>
                                    </p:set>
                                    <p:animEffect transition="in" filter="fade">
                                      <p:cBhvr>
                                        <p:cTn id="167" dur="400"/>
                                        <p:tgtEl>
                                          <p:spTgt spid="15"/>
                                        </p:tgtEl>
                                      </p:cBhvr>
                                    </p:animEffect>
                                  </p:childTnLst>
                                </p:cTn>
                              </p:par>
                            </p:childTnLst>
                          </p:cTn>
                        </p:par>
                      </p:childTnLst>
                    </p:cTn>
                  </p:par>
                  <p:par>
                    <p:cTn id="170" fill="hold">
                      <p:stCondLst>
                        <p:cond delay="indefinite"/>
                      </p:stCondLst>
                      <p:childTnLst>
                        <p:par>
                          <p:cTn id="171" fill="hold">
                            <p:stCondLst>
                              <p:cond delay="0"/>
                            </p:stCondLst>
                            <p:childTnLst>
                              <p:par>
                                <p:cTn id="180" presetID="10" presetClass="entr" presetSubtype="0" fill="hold" nodeType="clickEffect">
                                  <p:stCondLst>
                                    <p:cond delay="0"/>
                                  </p:stCondLst>
                                  <p:childTnLst>
                                    <p:set>
                                      <p:cBhvr>
                                        <p:cTn id="181" dur="1" fill="hold">
                                          <p:stCondLst>
                                            <p:cond delay="0"/>
                                          </p:stCondLst>
                                        </p:cTn>
                                        <p:tgtEl>
                                          <p:spTgt spid="16"/>
                                        </p:tgtEl>
                                        <p:attrNameLst>
                                          <p:attrName>style.visibility</p:attrName>
                                        </p:attrNameLst>
                                      </p:cBhvr>
                                      <p:to>
                                        <p:strVal val="visible"/>
                                      </p:to>
                                    </p:set>
                                    <p:animEffect transition="in" filter="fade">
                                      <p:cBhvr>
                                        <p:cTn id="182" dur="400"/>
                                        <p:tgtEl>
                                          <p:spTgt spid="16"/>
                                        </p:tgtEl>
                                      </p:cBhvr>
                                    </p:animEffect>
                                  </p:childTnLst>
                                </p:cTn>
                              </p:par>
                              <p:par>
                                <p:cTn id="185" presetID="10" presetClass="entr" presetSubtype="0" fill="hold" nodeType="clickEffect">
                                  <p:stCondLst>
                                    <p:cond delay="80"/>
                                  </p:stCondLst>
                                  <p:childTnLst>
                                    <p:set>
                                      <p:cBhvr>
                                        <p:cTn id="186" dur="1" fill="hold">
                                          <p:stCondLst>
                                            <p:cond delay="0"/>
                                          </p:stCondLst>
                                        </p:cTn>
                                        <p:tgtEl>
                                          <p:spTgt spid="17"/>
                                        </p:tgtEl>
                                        <p:attrNameLst>
                                          <p:attrName>style.visibility</p:attrName>
                                        </p:attrNameLst>
                                      </p:cBhvr>
                                      <p:to>
                                        <p:strVal val="visible"/>
                                      </p:to>
                                    </p:set>
                                    <p:animEffect transition="in" filter="fade">
                                      <p:cBhvr>
                                        <p:cTn id="187" dur="400"/>
                                        <p:tgtEl>
                                          <p:spTgt spid="17"/>
                                        </p:tgtEl>
                                      </p:cBhvr>
                                    </p:animEffect>
                                  </p:childTnLst>
                                </p:cTn>
                              </p:par>
                              <p:par>
                                <p:cTn id="190" presetID="10" presetClass="entr" presetSubtype="0" fill="hold" nodeType="clickEffect">
                                  <p:stCondLst>
                                    <p:cond delay="160"/>
                                  </p:stCondLst>
                                  <p:childTnLst>
                                    <p:set>
                                      <p:cBhvr>
                                        <p:cTn id="191" dur="1" fill="hold">
                                          <p:stCondLst>
                                            <p:cond delay="0"/>
                                          </p:stCondLst>
                                        </p:cTn>
                                        <p:tgtEl>
                                          <p:spTgt spid="18"/>
                                        </p:tgtEl>
                                        <p:attrNameLst>
                                          <p:attrName>style.visibility</p:attrName>
                                        </p:attrNameLst>
                                      </p:cBhvr>
                                      <p:to>
                                        <p:strVal val="visible"/>
                                      </p:to>
                                    </p:set>
                                    <p:animEffect transition="in" filter="fade">
                                      <p:cBhvr>
                                        <p:cTn id="192" dur="400"/>
                                        <p:tgtEl>
                                          <p:spTgt spid="18"/>
                                        </p:tgtEl>
                                      </p:cBhvr>
                                    </p:animEffect>
                                  </p:childTnLst>
                                </p:cTn>
                              </p:par>
                              <p:par>
                                <p:cTn id="195" presetID="10" presetClass="entr" presetSubtype="0" fill="hold" nodeType="clickEffect">
                                  <p:stCondLst>
                                    <p:cond delay="240"/>
                                  </p:stCondLst>
                                  <p:childTnLst>
                                    <p:set>
                                      <p:cBhvr>
                                        <p:cTn id="196" dur="1" fill="hold">
                                          <p:stCondLst>
                                            <p:cond delay="0"/>
                                          </p:stCondLst>
                                        </p:cTn>
                                        <p:tgtEl>
                                          <p:spTgt spid="19"/>
                                        </p:tgtEl>
                                        <p:attrNameLst>
                                          <p:attrName>style.visibility</p:attrName>
                                        </p:attrNameLst>
                                      </p:cBhvr>
                                      <p:to>
                                        <p:strVal val="visible"/>
                                      </p:to>
                                    </p:set>
                                    <p:animEffect transition="in" filter="fade">
                                      <p:cBhvr>
                                        <p:cTn id="197" dur="400"/>
                                        <p:tgtEl>
                                          <p:spTgt spid="19"/>
                                        </p:tgtEl>
                                      </p:cBhvr>
                                    </p:animEffect>
                                  </p:childTnLst>
                                </p:cTn>
                              </p:par>
                              <p:par>
                                <p:cTn id="200" presetID="10" presetClass="entr" presetSubtype="0" fill="hold" nodeType="clickEffect">
                                  <p:stCondLst>
                                    <p:cond delay="320"/>
                                  </p:stCondLst>
                                  <p:childTnLst>
                                    <p:set>
                                      <p:cBhvr>
                                        <p:cTn id="201" dur="1" fill="hold">
                                          <p:stCondLst>
                                            <p:cond delay="0"/>
                                          </p:stCondLst>
                                        </p:cTn>
                                        <p:tgtEl>
                                          <p:spTgt spid="20"/>
                                        </p:tgtEl>
                                        <p:attrNameLst>
                                          <p:attrName>style.visibility</p:attrName>
                                        </p:attrNameLst>
                                      </p:cBhvr>
                                      <p:to>
                                        <p:strVal val="visible"/>
                                      </p:to>
                                    </p:set>
                                    <p:animEffect transition="in" filter="fade">
                                      <p:cBhvr>
                                        <p:cTn id="202" dur="400"/>
                                        <p:tgtEl>
                                          <p:spTgt spid="20"/>
                                        </p:tgtEl>
                                      </p:cBhvr>
                                    </p:animEffect>
                                  </p:childTnLst>
                                </p:cTn>
                              </p:par>
                              <p:par>
                                <p:cTn id="205" presetID="10" presetClass="entr" presetSubtype="0" fill="hold" nodeType="clickEffect">
                                  <p:stCondLst>
                                    <p:cond delay="400"/>
                                  </p:stCondLst>
                                  <p:childTnLst>
                                    <p:set>
                                      <p:cBhvr>
                                        <p:cTn id="206" dur="1" fill="hold">
                                          <p:stCondLst>
                                            <p:cond delay="0"/>
                                          </p:stCondLst>
                                        </p:cTn>
                                        <p:tgtEl>
                                          <p:spTgt spid="21"/>
                                        </p:tgtEl>
                                        <p:attrNameLst>
                                          <p:attrName>style.visibility</p:attrName>
                                        </p:attrNameLst>
                                      </p:cBhvr>
                                      <p:to>
                                        <p:strVal val="visible"/>
                                      </p:to>
                                    </p:set>
                                    <p:animEffect transition="in" filter="fade">
                                      <p:cBhvr>
                                        <p:cTn id="207"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 name="Fond" descr="bg_light.jpg"/>
          <p:cNvPicPr>
            <a:picLocks noChangeAspect="1"/>
          </p:cNvPicPr>
          <p:nvPr/>
        </p:nvPicPr>
        <p:blipFill>
          <a:blip r:embed="rId2"/>
          <a:stretch>
            <a:fillRect/>
          </a:stretch>
        </p:blipFill>
        <p:spPr>
          <a:xfrm>
            <a:off x="0" y="0"/>
            <a:ext cx="12191695" cy="6858000"/>
          </a:xfrm>
          <a:prstGeom prst="rect">
            <a:avLst/>
          </a:prstGeom>
        </p:spPr>
      </p:pic>
      <p:sp>
        <p:nvSpPr>
          <p:cNvPr id="2" name="Section"/>
          <p:cNvSpPr txBox="1"/>
          <p:nvPr/>
        </p:nvSpPr>
        <p:spPr>
          <a:xfrm>
            <a:off x="640080" y="301752"/>
            <a:ext cx="3657600" cy="256032"/>
          </a:xfrm>
          <a:prstGeom prst="rect">
            <a:avLst/>
          </a:prstGeom>
          <a:noFill/>
        </p:spPr>
        <p:txBody>
          <a:bodyPr wrap="none" anchor="t" lIns="0" rIns="0" tIns="0" bIns="0">
            <a:noAutofit/>
          </a:bodyPr>
          <a:lstStyle/>
          <a:p>
            <a:pPr algn="l">
              <a:lnSpc>
                <a:spcPct val="105000"/>
              </a:lnSpc>
              <a:spcBef>
                <a:spcPts val="0"/>
              </a:spcBef>
              <a:spcAft>
                <a:spcPts val="0"/>
              </a:spcAft>
            </a:pPr>
            <a:r>
              <a:rPr sz="900" b="1" i="0" spc="140" lang="fr-FR">
                <a:solidFill>
                  <a:srgbClr val="6D28D9"/>
                </a:solidFill>
                <a:latin typeface="Arial"/>
              </a:rPr>
              <a:t>04 · API</a:t>
            </a:r>
          </a:p>
        </p:txBody>
      </p:sp>
      <p:sp>
        <p:nvSpPr>
          <p:cNvPr id="3" name="Monogramme"/>
          <p:cNvSpPr txBox="1"/>
          <p:nvPr/>
        </p:nvSpPr>
        <p:spPr>
          <a:xfrm>
            <a:off x="10454335" y="301752"/>
            <a:ext cx="1097280" cy="256032"/>
          </a:xfrm>
          <a:prstGeom prst="rect">
            <a:avLst/>
          </a:prstGeom>
          <a:noFill/>
        </p:spPr>
        <p:txBody>
          <a:bodyPr wrap="none" anchor="t" lIns="0" rIns="0" tIns="0" bIns="0">
            <a:noAutofit/>
          </a:bodyPr>
          <a:lstStyle/>
          <a:p>
            <a:pPr algn="r">
              <a:lnSpc>
                <a:spcPct val="105000"/>
              </a:lnSpc>
              <a:spcBef>
                <a:spcPts val="0"/>
              </a:spcBef>
              <a:spcAft>
                <a:spcPts val="0"/>
              </a:spcAft>
            </a:pPr>
            <a:r>
              <a:rPr sz="850" b="1" i="0" spc="120" lang="fr-FR">
                <a:solidFill>
                  <a:srgbClr val="7C6F8F"/>
                </a:solidFill>
                <a:latin typeface="Arial"/>
              </a:rPr>
              <a:t>SC · 2026</a:t>
            </a:r>
          </a:p>
        </p:txBody>
      </p:sp>
      <p:sp>
        <p:nvSpPr>
          <p:cNvPr id="4" name="AccentTitre"/>
          <p:cNvSpPr/>
          <p:nvPr/>
        </p:nvSpPr>
        <p:spPr>
          <a:xfrm>
            <a:off x="640080" y="877824"/>
            <a:ext cx="50292" cy="45720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itre"/>
          <p:cNvSpPr txBox="1"/>
          <p:nvPr/>
        </p:nvSpPr>
        <p:spPr>
          <a:xfrm>
            <a:off x="841247" y="822960"/>
            <a:ext cx="10710367" cy="914400"/>
          </a:xfrm>
          <a:prstGeom prst="rect">
            <a:avLst/>
          </a:prstGeom>
          <a:noFill/>
        </p:spPr>
        <p:txBody>
          <a:bodyPr wrap="none" anchor="t" lIns="0" rIns="0" tIns="0" bIns="0">
            <a:noAutofit/>
          </a:bodyPr>
          <a:lstStyle/>
          <a:p>
            <a:pPr algn="l">
              <a:lnSpc>
                <a:spcPct val="98000"/>
              </a:lnSpc>
              <a:spcBef>
                <a:spcPts val="0"/>
              </a:spcBef>
              <a:spcAft>
                <a:spcPts val="0"/>
              </a:spcAft>
            </a:pPr>
            <a:r>
              <a:rPr sz="2800" b="1" i="0" lang="fr-FR">
                <a:solidFill>
                  <a:srgbClr val="2E1065"/>
                </a:solidFill>
                <a:latin typeface="Arial"/>
              </a:rPr>
              <a:t>BOLA : l'erreur d'autorisation à grande échelle</a:t>
            </a:r>
          </a:p>
        </p:txBody>
      </p:sp>
      <p:sp>
        <p:nvSpPr>
          <p:cNvPr id="6" name="TextBox 5"/>
          <p:cNvSpPr txBox="1"/>
          <p:nvPr/>
        </p:nvSpPr>
        <p:spPr>
          <a:xfrm>
            <a:off x="640080" y="1481328"/>
            <a:ext cx="6400800" cy="320040"/>
          </a:xfrm>
          <a:prstGeom prst="rect">
            <a:avLst/>
          </a:prstGeom>
          <a:noFill/>
        </p:spPr>
        <p:txBody>
          <a:bodyPr wrap="none" anchor="t" lIns="0" rIns="0" tIns="0" bIns="0">
            <a:noAutofit/>
          </a:bodyPr>
          <a:lstStyle/>
          <a:p>
            <a:pPr algn="l">
              <a:lnSpc>
                <a:spcPct val="105000"/>
              </a:lnSpc>
              <a:spcBef>
                <a:spcPts val="0"/>
              </a:spcBef>
              <a:spcAft>
                <a:spcPts val="0"/>
              </a:spcAft>
            </a:pPr>
            <a:r>
              <a:rPr sz="1400" b="0" i="0" lang="fr-FR">
                <a:solidFill>
                  <a:srgbClr val="6B7280"/>
                </a:solidFill>
                <a:latin typeface="Arial"/>
              </a:rPr>
              <a:t>Un identifiant d'objet suffit à contourner l'autorisation.</a:t>
            </a:r>
          </a:p>
        </p:txBody>
      </p:sp>
      <p:sp>
        <p:nvSpPr>
          <p:cNvPr id="7" name="BolaStep1"/>
          <p:cNvSpPr/>
          <p:nvPr/>
        </p:nvSpPr>
        <p:spPr>
          <a:xfrm>
            <a:off x="640080" y="1920240"/>
            <a:ext cx="5669280" cy="822960"/>
          </a:xfrm>
          <a:prstGeom prst="roundRect">
            <a:avLst>
              <a:gd name="adj" fmla="val 6000"/>
            </a:avLst>
          </a:prstGeom>
          <a:solidFill>
            <a:srgbClr val="FFFFFF"/>
          </a:solidFill>
          <a:ln w="12700">
            <a:solidFill>
              <a:srgbClr val="C4B5FD"/>
            </a:solidFill>
          </a:ln>
          <a:effectLst>
            <a:outerShdw blurRad="177800" dist="38100" dir="5400000" algn="ctr" rotWithShape="0">
              <a:srgbClr val="1B0F33">
                <a:alpha val="18000"/>
              </a:srgbClr>
            </a:outerShdw>
          </a:effectLst>
        </p:spPr>
        <p:style>
          <a:lnRef idx="1">
            <a:schemeClr val="accent1"/>
          </a:lnRef>
          <a:fillRef idx="3">
            <a:schemeClr val="accent1"/>
          </a:fillRef>
          <a:effectRef idx="2">
            <a:schemeClr val="accent1"/>
          </a:effectRef>
          <a:fontRef idx="minor">
            <a:schemeClr val="lt1"/>
          </a:fontRef>
        </p:style>
        <p:txBody>
          <a:bodyPr rtlCol="0" anchor="t" wrap="none" lIns="146304" rIns="146304" tIns="91440" bIns="91440">
            <a:noAutofit/>
          </a:bodyPr>
          <a:lstStyle/>
          <a:p>
            <a:pPr>
              <a:lnSpc>
                <a:spcPct val="106000"/>
              </a:lnSpc>
              <a:spcBef>
                <a:spcPts val="0"/>
              </a:spcBef>
              <a:spcAft>
                <a:spcPts val="200"/>
              </a:spcAft>
            </a:pPr>
            <a:r>
              <a:rPr sz="900" b="1" i="0" spc="120" lang="fr-FR">
                <a:solidFill>
                  <a:srgbClr val="A78BFA"/>
                </a:solidFill>
                <a:latin typeface="Arial"/>
              </a:rPr>
              <a:t>01</a:t>
            </a:r>
          </a:p>
          <a:p>
            <a:pPr>
              <a:lnSpc>
                <a:spcPct val="106000"/>
              </a:lnSpc>
              <a:spcBef>
                <a:spcPts val="0"/>
              </a:spcBef>
              <a:spcAft>
                <a:spcPts val="200"/>
              </a:spcAft>
            </a:pPr>
            <a:r>
              <a:rPr sz="1300" b="1" i="0" lang="fr-FR">
                <a:solidFill>
                  <a:srgbClr val="2E1065"/>
                </a:solidFill>
                <a:latin typeface="Arial"/>
              </a:rPr>
              <a:t>Requête légitime</a:t>
            </a:r>
          </a:p>
          <a:p>
            <a:pPr>
              <a:lnSpc>
                <a:spcPct val="106000"/>
              </a:lnSpc>
              <a:spcBef>
                <a:spcPts val="0"/>
              </a:spcBef>
              <a:spcAft>
                <a:spcPts val="0"/>
              </a:spcAft>
            </a:pPr>
            <a:r>
              <a:rPr sz="1050" b="0" i="0" lang="fr-FR">
                <a:solidFill>
                  <a:srgbClr val="6B7280"/>
                </a:solidFill>
                <a:latin typeface="Arial"/>
              </a:rPr>
              <a:t>GET /commandes/1042 — jeton valide de A.</a:t>
            </a:r>
          </a:p>
        </p:txBody>
      </p:sp>
      <p:sp>
        <p:nvSpPr>
          <p:cNvPr id="8" name="BolaStep2"/>
          <p:cNvSpPr/>
          <p:nvPr/>
        </p:nvSpPr>
        <p:spPr>
          <a:xfrm>
            <a:off x="640080" y="2880360"/>
            <a:ext cx="5669280" cy="822960"/>
          </a:xfrm>
          <a:prstGeom prst="roundRect">
            <a:avLst>
              <a:gd name="adj" fmla="val 6000"/>
            </a:avLst>
          </a:prstGeom>
          <a:solidFill>
            <a:srgbClr val="FFFFFF"/>
          </a:solidFill>
          <a:ln w="12700">
            <a:solidFill>
              <a:srgbClr val="C4B5FD"/>
            </a:solidFill>
          </a:ln>
          <a:effectLst>
            <a:outerShdw blurRad="177800" dist="38100" dir="5400000" algn="ctr" rotWithShape="0">
              <a:srgbClr val="1B0F33">
                <a:alpha val="18000"/>
              </a:srgbClr>
            </a:outerShdw>
          </a:effectLst>
        </p:spPr>
        <p:style>
          <a:lnRef idx="1">
            <a:schemeClr val="accent1"/>
          </a:lnRef>
          <a:fillRef idx="3">
            <a:schemeClr val="accent1"/>
          </a:fillRef>
          <a:effectRef idx="2">
            <a:schemeClr val="accent1"/>
          </a:effectRef>
          <a:fontRef idx="minor">
            <a:schemeClr val="lt1"/>
          </a:fontRef>
        </p:style>
        <p:txBody>
          <a:bodyPr rtlCol="0" anchor="t" wrap="none" lIns="146304" rIns="146304" tIns="91440" bIns="91440">
            <a:noAutofit/>
          </a:bodyPr>
          <a:lstStyle/>
          <a:p>
            <a:pPr>
              <a:lnSpc>
                <a:spcPct val="106000"/>
              </a:lnSpc>
              <a:spcBef>
                <a:spcPts val="0"/>
              </a:spcBef>
              <a:spcAft>
                <a:spcPts val="200"/>
              </a:spcAft>
            </a:pPr>
            <a:r>
              <a:rPr sz="900" b="1" i="0" spc="120" lang="fr-FR">
                <a:solidFill>
                  <a:srgbClr val="A78BFA"/>
                </a:solidFill>
                <a:latin typeface="Arial"/>
              </a:rPr>
              <a:t>02</a:t>
            </a:r>
          </a:p>
          <a:p>
            <a:pPr>
              <a:lnSpc>
                <a:spcPct val="106000"/>
              </a:lnSpc>
              <a:spcBef>
                <a:spcPts val="0"/>
              </a:spcBef>
              <a:spcAft>
                <a:spcPts val="200"/>
              </a:spcAft>
            </a:pPr>
            <a:r>
              <a:rPr sz="1300" b="1" i="0" lang="fr-FR">
                <a:solidFill>
                  <a:srgbClr val="2E1065"/>
                </a:solidFill>
                <a:latin typeface="Arial"/>
              </a:rPr>
              <a:t>Vérification partielle</a:t>
            </a:r>
          </a:p>
          <a:p>
            <a:pPr>
              <a:lnSpc>
                <a:spcPct val="106000"/>
              </a:lnSpc>
              <a:spcBef>
                <a:spcPts val="0"/>
              </a:spcBef>
              <a:spcAft>
                <a:spcPts val="0"/>
              </a:spcAft>
            </a:pPr>
            <a:r>
              <a:rPr sz="1050" b="0" i="0" lang="fr-FR">
                <a:solidFill>
                  <a:srgbClr val="6B7280"/>
                </a:solidFill>
                <a:latin typeface="Arial"/>
              </a:rPr>
              <a:t>Le serveur valide le jeton, l'émetteur, l'expiration.</a:t>
            </a:r>
          </a:p>
        </p:txBody>
      </p:sp>
      <p:sp>
        <p:nvSpPr>
          <p:cNvPr id="9" name="BolaStep3"/>
          <p:cNvSpPr/>
          <p:nvPr/>
        </p:nvSpPr>
        <p:spPr>
          <a:xfrm>
            <a:off x="640080" y="3840480"/>
            <a:ext cx="5669280" cy="822960"/>
          </a:xfrm>
          <a:prstGeom prst="roundRect">
            <a:avLst>
              <a:gd name="adj" fmla="val 6000"/>
            </a:avLst>
          </a:prstGeom>
          <a:solidFill>
            <a:srgbClr val="FDE68A"/>
          </a:solidFill>
          <a:ln w="12700">
            <a:solidFill>
              <a:srgbClr val="F59E0B"/>
            </a:solidFill>
          </a:ln>
          <a:effectLst>
            <a:outerShdw blurRad="177800" dist="38100" dir="5400000" algn="ctr" rotWithShape="0">
              <a:srgbClr val="1B0F33">
                <a:alpha val="18000"/>
              </a:srgbClr>
            </a:outerShdw>
          </a:effectLst>
        </p:spPr>
        <p:style>
          <a:lnRef idx="1">
            <a:schemeClr val="accent1"/>
          </a:lnRef>
          <a:fillRef idx="3">
            <a:schemeClr val="accent1"/>
          </a:fillRef>
          <a:effectRef idx="2">
            <a:schemeClr val="accent1"/>
          </a:effectRef>
          <a:fontRef idx="minor">
            <a:schemeClr val="lt1"/>
          </a:fontRef>
        </p:style>
        <p:txBody>
          <a:bodyPr rtlCol="0" anchor="t" wrap="none" lIns="146304" rIns="146304" tIns="91440" bIns="91440">
            <a:noAutofit/>
          </a:bodyPr>
          <a:lstStyle/>
          <a:p>
            <a:pPr>
              <a:lnSpc>
                <a:spcPct val="106000"/>
              </a:lnSpc>
              <a:spcBef>
                <a:spcPts val="0"/>
              </a:spcBef>
              <a:spcAft>
                <a:spcPts val="200"/>
              </a:spcAft>
            </a:pPr>
            <a:r>
              <a:rPr sz="900" b="1" i="0" spc="120" lang="fr-FR">
                <a:solidFill>
                  <a:srgbClr val="B45309"/>
                </a:solidFill>
                <a:latin typeface="Arial"/>
              </a:rPr>
              <a:t>03</a:t>
            </a:r>
          </a:p>
          <a:p>
            <a:pPr>
              <a:lnSpc>
                <a:spcPct val="106000"/>
              </a:lnSpc>
              <a:spcBef>
                <a:spcPts val="0"/>
              </a:spcBef>
              <a:spcAft>
                <a:spcPts val="200"/>
              </a:spcAft>
            </a:pPr>
            <a:r>
              <a:rPr sz="1300" b="1" i="0" lang="fr-FR">
                <a:solidFill>
                  <a:srgbClr val="B45309"/>
                </a:solidFill>
                <a:latin typeface="Arial"/>
              </a:rPr>
              <a:t>Angle mort</a:t>
            </a:r>
          </a:p>
          <a:p>
            <a:pPr>
              <a:lnSpc>
                <a:spcPct val="106000"/>
              </a:lnSpc>
              <a:spcBef>
                <a:spcPts val="0"/>
              </a:spcBef>
              <a:spcAft>
                <a:spcPts val="0"/>
              </a:spcAft>
            </a:pPr>
            <a:r>
              <a:rPr sz="1050" b="1" i="0" lang="fr-FR">
                <a:solidFill>
                  <a:srgbClr val="B45309"/>
                </a:solidFill>
                <a:latin typeface="Arial"/>
              </a:rPr>
              <a:t>…mais ne vérifie pas que l'objet 1042 appartient à A.</a:t>
            </a:r>
          </a:p>
        </p:txBody>
      </p:sp>
      <p:sp>
        <p:nvSpPr>
          <p:cNvPr id="10" name="BolaStep4"/>
          <p:cNvSpPr/>
          <p:nvPr/>
        </p:nvSpPr>
        <p:spPr>
          <a:xfrm>
            <a:off x="640080" y="4800600"/>
            <a:ext cx="5669280" cy="822960"/>
          </a:xfrm>
          <a:prstGeom prst="roundRect">
            <a:avLst>
              <a:gd name="adj" fmla="val 6000"/>
            </a:avLst>
          </a:prstGeom>
          <a:solidFill>
            <a:srgbClr val="2E1065"/>
          </a:solidFill>
          <a:ln>
            <a:noFill/>
          </a:ln>
          <a:effectLst>
            <a:outerShdw blurRad="177800" dist="38100" dir="5400000" algn="ctr" rotWithShape="0">
              <a:srgbClr val="1B0F33">
                <a:alpha val="18000"/>
              </a:srgbClr>
            </a:outerShdw>
          </a:effectLst>
        </p:spPr>
        <p:style>
          <a:lnRef idx="1">
            <a:schemeClr val="accent1"/>
          </a:lnRef>
          <a:fillRef idx="3">
            <a:schemeClr val="accent1"/>
          </a:fillRef>
          <a:effectRef idx="2">
            <a:schemeClr val="accent1"/>
          </a:effectRef>
          <a:fontRef idx="minor">
            <a:schemeClr val="lt1"/>
          </a:fontRef>
        </p:style>
        <p:txBody>
          <a:bodyPr rtlCol="0" anchor="t" wrap="none" lIns="146304" rIns="146304" tIns="91440" bIns="91440">
            <a:noAutofit/>
          </a:bodyPr>
          <a:lstStyle/>
          <a:p>
            <a:pPr>
              <a:lnSpc>
                <a:spcPct val="106000"/>
              </a:lnSpc>
              <a:spcBef>
                <a:spcPts val="0"/>
              </a:spcBef>
              <a:spcAft>
                <a:spcPts val="200"/>
              </a:spcAft>
            </a:pPr>
            <a:r>
              <a:rPr sz="900" b="1" i="0" spc="120" lang="fr-FR">
                <a:solidFill>
                  <a:srgbClr val="F59E0B"/>
                </a:solidFill>
                <a:latin typeface="Arial"/>
              </a:rPr>
              <a:t>04</a:t>
            </a:r>
          </a:p>
          <a:p>
            <a:pPr>
              <a:lnSpc>
                <a:spcPct val="106000"/>
              </a:lnSpc>
              <a:spcBef>
                <a:spcPts val="0"/>
              </a:spcBef>
              <a:spcAft>
                <a:spcPts val="200"/>
              </a:spcAft>
            </a:pPr>
            <a:r>
              <a:rPr sz="1300" b="1" i="0" lang="fr-FR">
                <a:solidFill>
                  <a:srgbClr val="FFFFFF"/>
                </a:solidFill>
                <a:latin typeface="Arial"/>
              </a:rPr>
              <a:t>Conséquence</a:t>
            </a:r>
          </a:p>
          <a:p>
            <a:pPr>
              <a:lnSpc>
                <a:spcPct val="106000"/>
              </a:lnSpc>
              <a:spcBef>
                <a:spcPts val="0"/>
              </a:spcBef>
              <a:spcAft>
                <a:spcPts val="0"/>
              </a:spcAft>
            </a:pPr>
            <a:r>
              <a:rPr sz="1050" b="0" i="0" lang="fr-FR">
                <a:solidFill>
                  <a:srgbClr val="EDE9FE"/>
                </a:solidFill>
                <a:latin typeface="Arial"/>
              </a:rPr>
              <a:t>A lit, modifie ou supprime les données de B.</a:t>
            </a:r>
          </a:p>
        </p:txBody>
      </p:sp>
      <p:sp>
        <p:nvSpPr>
          <p:cNvPr id="11" name="CodeCard"/>
          <p:cNvSpPr/>
          <p:nvPr/>
        </p:nvSpPr>
        <p:spPr>
          <a:xfrm>
            <a:off x="6766560" y="1920240"/>
            <a:ext cx="4754880" cy="3474720"/>
          </a:xfrm>
          <a:prstGeom prst="roundRect">
            <a:avLst>
              <a:gd name="adj" fmla="val 8000"/>
            </a:avLst>
          </a:prstGeom>
          <a:solidFill>
            <a:srgbClr val="1B0F33"/>
          </a:solidFill>
          <a:ln>
            <a:noFill/>
          </a:ln>
          <a:effectLst>
            <a:outerShdw blurRad="177800" dist="38100" dir="5400000" algn="ctr" rotWithShape="0">
              <a:srgbClr val="1B0F33">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95160" y="2103120"/>
            <a:ext cx="2743200" cy="228600"/>
          </a:xfrm>
          <a:prstGeom prst="rect">
            <a:avLst/>
          </a:prstGeom>
          <a:noFill/>
        </p:spPr>
        <p:txBody>
          <a:bodyPr wrap="none" anchor="t" lIns="0" rIns="0" tIns="0" bIns="0">
            <a:noAutofit/>
          </a:bodyPr>
          <a:lstStyle/>
          <a:p>
            <a:pPr algn="l">
              <a:lnSpc>
                <a:spcPct val="105000"/>
              </a:lnSpc>
              <a:spcBef>
                <a:spcPts val="0"/>
              </a:spcBef>
              <a:spcAft>
                <a:spcPts val="0"/>
              </a:spcAft>
            </a:pPr>
            <a:r>
              <a:rPr sz="850" b="1" i="0" spc="120" lang="fr-FR">
                <a:solidFill>
                  <a:srgbClr val="C4B5FD"/>
                </a:solidFill>
                <a:latin typeface="Arial"/>
              </a:rPr>
              <a:t>REQUÊTE</a:t>
            </a:r>
          </a:p>
        </p:txBody>
      </p:sp>
      <p:sp>
        <p:nvSpPr>
          <p:cNvPr id="13" name="TextBox 12"/>
          <p:cNvSpPr txBox="1"/>
          <p:nvPr/>
        </p:nvSpPr>
        <p:spPr>
          <a:xfrm>
            <a:off x="6995160" y="2423160"/>
            <a:ext cx="4297680" cy="2331720"/>
          </a:xfrm>
          <a:prstGeom prst="rect">
            <a:avLst/>
          </a:prstGeom>
          <a:noFill/>
        </p:spPr>
        <p:txBody>
          <a:bodyPr wrap="none" anchor="t" lIns="0" rIns="0" tIns="0" bIns="0">
            <a:noAutofit/>
          </a:bodyPr>
          <a:lstStyle/>
          <a:p>
            <a:pPr algn="l">
              <a:lnSpc>
                <a:spcPct val="108000"/>
              </a:lnSpc>
              <a:spcBef>
                <a:spcPts val="0"/>
              </a:spcBef>
              <a:spcAft>
                <a:spcPts val="0"/>
              </a:spcAft>
            </a:pPr>
            <a:r>
              <a:rPr sz="1050" b="0" i="0" lang="fr-FR">
                <a:solidFill>
                  <a:srgbClr val="EDE9FE"/>
                </a:solidFill>
                <a:latin typeface="Courier New"/>
              </a:rPr>
              <a:t>GET /commandes/1042</a:t>
            </a:r>
          </a:p>
          <a:p>
            <a:pPr algn="l">
              <a:lnSpc>
                <a:spcPct val="108000"/>
              </a:lnSpc>
              <a:spcBef>
                <a:spcPts val="0"/>
              </a:spcBef>
              <a:spcAft>
                <a:spcPts val="0"/>
              </a:spcAft>
            </a:pPr>
            <a:r>
              <a:rPr sz="1050" b="0" i="0" lang="fr-FR">
                <a:solidFill>
                  <a:srgbClr val="EDE9FE"/>
                </a:solidFill>
                <a:latin typeface="Courier New"/>
              </a:rPr>
              <a:t>Authorization: Bearer &lt;jeton A&gt;</a:t>
            </a:r>
          </a:p>
          <a:p>
            <a:pPr algn="l">
              <a:lnSpc>
                <a:spcPct val="108000"/>
              </a:lnSpc>
              <a:spcBef>
                <a:spcPts val="0"/>
              </a:spcBef>
              <a:spcAft>
                <a:spcPts val="0"/>
              </a:spcAft>
            </a:pPr>
            <a:r>
              <a:rPr sz="1050" b="0" i="0" lang="fr-FR">
                <a:solidFill>
                  <a:srgbClr val="EDE9FE"/>
                </a:solidFill>
                <a:latin typeface="Courier New"/>
              </a:rPr>
              <a:t/>
            </a:r>
          </a:p>
          <a:p>
            <a:pPr algn="l">
              <a:lnSpc>
                <a:spcPct val="108000"/>
              </a:lnSpc>
              <a:spcBef>
                <a:spcPts val="0"/>
              </a:spcBef>
              <a:spcAft>
                <a:spcPts val="0"/>
              </a:spcAft>
            </a:pPr>
            <a:r>
              <a:rPr sz="1050" b="0" i="0" lang="fr-FR">
                <a:solidFill>
                  <a:srgbClr val="EDE9FE"/>
                </a:solidFill>
                <a:latin typeface="Courier New"/>
              </a:rPr>
              <a:t>→ 200 OK</a:t>
            </a:r>
          </a:p>
          <a:p>
            <a:pPr algn="l">
              <a:lnSpc>
                <a:spcPct val="108000"/>
              </a:lnSpc>
              <a:spcBef>
                <a:spcPts val="0"/>
              </a:spcBef>
              <a:spcAft>
                <a:spcPts val="0"/>
              </a:spcAft>
            </a:pPr>
            <a:r>
              <a:rPr sz="1050" b="0" i="0" lang="fr-FR">
                <a:solidFill>
                  <a:srgbClr val="EDE9FE"/>
                </a:solidFill>
                <a:latin typeface="Courier New"/>
              </a:rPr>
              <a:t>{</a:t>
            </a:r>
          </a:p>
          <a:p>
            <a:pPr algn="l">
              <a:lnSpc>
                <a:spcPct val="108000"/>
              </a:lnSpc>
              <a:spcBef>
                <a:spcPts val="0"/>
              </a:spcBef>
              <a:spcAft>
                <a:spcPts val="0"/>
              </a:spcAft>
            </a:pPr>
            <a:r>
              <a:rPr sz="1050" b="0" i="0" lang="fr-FR">
                <a:solidFill>
                  <a:srgbClr val="EDE9FE"/>
                </a:solidFill>
                <a:latin typeface="Courier New"/>
              </a:rPr>
              <a:t>"client": "B",</a:t>
            </a:r>
          </a:p>
          <a:p>
            <a:pPr algn="l">
              <a:lnSpc>
                <a:spcPct val="108000"/>
              </a:lnSpc>
              <a:spcBef>
                <a:spcPts val="0"/>
              </a:spcBef>
              <a:spcAft>
                <a:spcPts val="0"/>
              </a:spcAft>
            </a:pPr>
            <a:r>
              <a:rPr sz="1050" b="0" i="0" lang="fr-FR">
                <a:solidFill>
                  <a:srgbClr val="EDE9FE"/>
                </a:solidFill>
                <a:latin typeface="Courier New"/>
              </a:rPr>
              <a:t>"montant": "…"</a:t>
            </a:r>
          </a:p>
          <a:p>
            <a:pPr algn="l">
              <a:lnSpc>
                <a:spcPct val="108000"/>
              </a:lnSpc>
              <a:spcBef>
                <a:spcPts val="0"/>
              </a:spcBef>
              <a:spcAft>
                <a:spcPts val="0"/>
              </a:spcAft>
            </a:pPr>
            <a:r>
              <a:rPr sz="1050" b="0" i="0" lang="fr-FR">
                <a:solidFill>
                  <a:srgbClr val="EDE9FE"/>
                </a:solidFill>
                <a:latin typeface="Courier New"/>
              </a:rPr>
              <a:t>}</a:t>
            </a:r>
          </a:p>
        </p:txBody>
      </p:sp>
      <p:sp>
        <p:nvSpPr>
          <p:cNvPr id="14" name="TextBox 13"/>
          <p:cNvSpPr txBox="1"/>
          <p:nvPr/>
        </p:nvSpPr>
        <p:spPr>
          <a:xfrm>
            <a:off x="6995160" y="4892040"/>
            <a:ext cx="4297680" cy="274320"/>
          </a:xfrm>
          <a:prstGeom prst="rect">
            <a:avLst/>
          </a:prstGeom>
          <a:noFill/>
        </p:spPr>
        <p:txBody>
          <a:bodyPr wrap="none" anchor="t" lIns="0" rIns="0" tIns="0" bIns="0">
            <a:noAutofit/>
          </a:bodyPr>
          <a:lstStyle/>
          <a:p>
            <a:pPr algn="l">
              <a:lnSpc>
                <a:spcPct val="105000"/>
              </a:lnSpc>
              <a:spcBef>
                <a:spcPts val="0"/>
              </a:spcBef>
              <a:spcAft>
                <a:spcPts val="0"/>
              </a:spcAft>
            </a:pPr>
            <a:r>
              <a:rPr sz="1050" b="0" i="0" lang="fr-FR">
                <a:solidFill>
                  <a:srgbClr val="F59E0B"/>
                </a:solidFill>
                <a:latin typeface="Courier New"/>
              </a:rPr>
              <a:t>// pas de contrôle de propriété</a:t>
            </a:r>
          </a:p>
        </p:txBody>
      </p:sp>
      <p:sp>
        <p:nvSpPr>
          <p:cNvPr id="15" name="TextBox 14"/>
          <p:cNvSpPr txBox="1"/>
          <p:nvPr/>
        </p:nvSpPr>
        <p:spPr>
          <a:xfrm>
            <a:off x="640080" y="5742432"/>
            <a:ext cx="10881360" cy="365760"/>
          </a:xfrm>
          <a:prstGeom prst="rect">
            <a:avLst/>
          </a:prstGeom>
          <a:noFill/>
        </p:spPr>
        <p:txBody>
          <a:bodyPr wrap="none" anchor="t" lIns="0" rIns="0" tIns="0" bIns="0">
            <a:noAutofit/>
          </a:bodyPr>
          <a:lstStyle/>
          <a:p>
            <a:pPr algn="l">
              <a:lnSpc>
                <a:spcPct val="105000"/>
              </a:lnSpc>
              <a:spcBef>
                <a:spcPts val="0"/>
              </a:spcBef>
              <a:spcAft>
                <a:spcPts val="0"/>
              </a:spcAft>
            </a:pPr>
            <a:r>
              <a:rPr sz="1500" b="1" i="0" lang="fr-FR">
                <a:solidFill>
                  <a:srgbClr val="6D28D9"/>
                </a:solidFill>
                <a:latin typeface="Arial"/>
              </a:rPr>
              <a:t>Parade : vérifier la propriété côté serveur, avec l'identité authentifiée.</a:t>
            </a:r>
          </a:p>
        </p:txBody>
      </p:sp>
      <p:sp>
        <p:nvSpPr>
          <p:cNvPr id="16" name="Source"/>
          <p:cNvSpPr txBox="1"/>
          <p:nvPr/>
        </p:nvSpPr>
        <p:spPr>
          <a:xfrm>
            <a:off x="640080" y="6382512"/>
            <a:ext cx="10271455" cy="219456"/>
          </a:xfrm>
          <a:prstGeom prst="rect">
            <a:avLst/>
          </a:prstGeom>
          <a:noFill/>
        </p:spPr>
        <p:txBody>
          <a:bodyPr wrap="none" anchor="t" lIns="0" rIns="0" tIns="0" bIns="0">
            <a:noAutofit/>
          </a:bodyPr>
          <a:lstStyle/>
          <a:p>
            <a:pPr algn="l">
              <a:lnSpc>
                <a:spcPct val="105000"/>
              </a:lnSpc>
              <a:spcBef>
                <a:spcPts val="0"/>
              </a:spcBef>
              <a:spcAft>
                <a:spcPts val="0"/>
              </a:spcAft>
            </a:pPr>
            <a:r>
              <a:rPr sz="850" b="0" i="0" lang="fr-FR">
                <a:solidFill>
                  <a:srgbClr val="5B5563"/>
                </a:solidFill>
                <a:latin typeface="Arial"/>
              </a:rPr>
              <a:t>OWASP API1:2023 — Broken Object Level Authorization.</a:t>
            </a:r>
          </a:p>
        </p:txBody>
      </p:sp>
      <p:sp>
        <p:nvSpPr>
          <p:cNvPr id="17" name="Numero"/>
          <p:cNvSpPr txBox="1"/>
          <p:nvPr/>
        </p:nvSpPr>
        <p:spPr>
          <a:xfrm>
            <a:off x="10728655" y="6419088"/>
            <a:ext cx="822960" cy="201168"/>
          </a:xfrm>
          <a:prstGeom prst="rect">
            <a:avLst/>
          </a:prstGeom>
          <a:noFill/>
        </p:spPr>
        <p:txBody>
          <a:bodyPr wrap="none" anchor="t" lIns="0" rIns="0" tIns="0" bIns="0">
            <a:noAutofit/>
          </a:bodyPr>
          <a:lstStyle/>
          <a:p>
            <a:pPr algn="r">
              <a:lnSpc>
                <a:spcPct val="105000"/>
              </a:lnSpc>
              <a:spcBef>
                <a:spcPts val="0"/>
              </a:spcBef>
              <a:spcAft>
                <a:spcPts val="0"/>
              </a:spcAft>
            </a:pPr>
            <a:r>
              <a:rPr sz="850" b="1" i="0" lang="fr-FR">
                <a:solidFill>
                  <a:srgbClr val="6B7280"/>
                </a:solidFill>
                <a:latin typeface="Arial"/>
              </a:rPr>
              <a:t>13 / 16</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00" fill="hold">
                      <p:stCondLst>
                        <p:cond delay="indefinite"/>
                      </p:stCondLst>
                      <p:childTnLst>
                        <p:par>
                          <p:cTn id="101" fill="hold">
                            <p:stCondLst>
                              <p:cond delay="0"/>
                            </p:stCondLst>
                            <p:childTnLst>
                              <p:par>
                                <p:cTn id="110" presetID="10" presetClass="entr" presetSubtype="0" fill="hold" nodeType="clickEffect">
                                  <p:stCondLst>
                                    <p:cond delay="0"/>
                                  </p:stCondLst>
                                  <p:childTnLst>
                                    <p:set>
                                      <p:cBhvr>
                                        <p:cTn id="111" dur="1" fill="hold">
                                          <p:stCondLst>
                                            <p:cond delay="0"/>
                                          </p:stCondLst>
                                        </p:cTn>
                                        <p:tgtEl>
                                          <p:spTgt spid="7"/>
                                        </p:tgtEl>
                                        <p:attrNameLst>
                                          <p:attrName>style.visibility</p:attrName>
                                        </p:attrNameLst>
                                      </p:cBhvr>
                                      <p:to>
                                        <p:strVal val="visible"/>
                                      </p:to>
                                    </p:set>
                                    <p:animEffect transition="in" filter="fade">
                                      <p:cBhvr>
                                        <p:cTn id="112" dur="450"/>
                                        <p:tgtEl>
                                          <p:spTgt spid="7"/>
                                        </p:tgtEl>
                                      </p:cBhvr>
                                    </p:animEffect>
                                  </p:childTnLst>
                                </p:cTn>
                              </p:par>
                              <p:par>
                                <p:cTn id="115" presetID="10" presetClass="entr" presetSubtype="0" fill="hold" nodeType="clickEffect">
                                  <p:stCondLst>
                                    <p:cond delay="100"/>
                                  </p:stCondLst>
                                  <p:childTnLst>
                                    <p:set>
                                      <p:cBhvr>
                                        <p:cTn id="116" dur="1" fill="hold">
                                          <p:stCondLst>
                                            <p:cond delay="0"/>
                                          </p:stCondLst>
                                        </p:cTn>
                                        <p:tgtEl>
                                          <p:spTgt spid="8"/>
                                        </p:tgtEl>
                                        <p:attrNameLst>
                                          <p:attrName>style.visibility</p:attrName>
                                        </p:attrNameLst>
                                      </p:cBhvr>
                                      <p:to>
                                        <p:strVal val="visible"/>
                                      </p:to>
                                    </p:set>
                                    <p:animEffect transition="in" filter="fade">
                                      <p:cBhvr>
                                        <p:cTn id="117" dur="450"/>
                                        <p:tgtEl>
                                          <p:spTgt spid="8"/>
                                        </p:tgtEl>
                                      </p:cBhvr>
                                    </p:animEffect>
                                  </p:childTnLst>
                                </p:cTn>
                              </p:par>
                            </p:childTnLst>
                          </p:cTn>
                        </p:par>
                      </p:childTnLst>
                    </p:cTn>
                  </p:par>
                  <p:par>
                    <p:cTn id="120" fill="hold">
                      <p:stCondLst>
                        <p:cond delay="indefinite"/>
                      </p:stCondLst>
                      <p:childTnLst>
                        <p:par>
                          <p:cTn id="121" fill="hold">
                            <p:stCondLst>
                              <p:cond delay="0"/>
                            </p:stCondLst>
                            <p:childTnLst>
                              <p:par>
                                <p:cTn id="130" presetID="23" presetClass="entr" presetSubtype="0" fill="hold" nodeType="clickEffect">
                                  <p:stCondLst>
                                    <p:cond delay="0"/>
                                  </p:stCondLst>
                                  <p:childTnLst>
                                    <p:set>
                                      <p:cBhvr>
                                        <p:cTn id="131" dur="1" fill="hold">
                                          <p:stCondLst>
                                            <p:cond delay="0"/>
                                          </p:stCondLst>
                                        </p:cTn>
                                        <p:tgtEl>
                                          <p:spTgt spid="9"/>
                                        </p:tgtEl>
                                        <p:attrNameLst>
                                          <p:attrName>style.visibility</p:attrName>
                                        </p:attrNameLst>
                                      </p:cBhvr>
                                      <p:to>
                                        <p:strVal val="visible"/>
                                      </p:to>
                                    </p:set>
                                    <p:animEffect transition="in" filter="zoom">
                                      <p:cBhvr>
                                        <p:cTn id="132" dur="600"/>
                                        <p:tgtEl>
                                          <p:spTgt spid="9"/>
                                        </p:tgtEl>
                                      </p:cBhvr>
                                    </p:animEffect>
                                  </p:childTnLst>
                                </p:cTn>
                              </p:par>
                            </p:childTnLst>
                          </p:cTn>
                        </p:par>
                      </p:childTnLst>
                    </p:cTn>
                  </p:par>
                  <p:par>
                    <p:cTn id="135" fill="hold">
                      <p:stCondLst>
                        <p:cond delay="indefinite"/>
                      </p:stCondLst>
                      <p:childTnLst>
                        <p:par>
                          <p:cTn id="136" fill="hold">
                            <p:stCondLst>
                              <p:cond delay="0"/>
                            </p:stCondLst>
                            <p:childTnLst>
                              <p:par>
                                <p:cTn id="145" presetID="10" presetClass="entr" presetSubtype="0" fill="hold" nodeType="clickEffect">
                                  <p:stCondLst>
                                    <p:cond delay="0"/>
                                  </p:stCondLst>
                                  <p:childTnLst>
                                    <p:set>
                                      <p:cBhvr>
                                        <p:cTn id="146" dur="1" fill="hold">
                                          <p:stCondLst>
                                            <p:cond delay="0"/>
                                          </p:stCondLst>
                                        </p:cTn>
                                        <p:tgtEl>
                                          <p:spTgt spid="10"/>
                                        </p:tgtEl>
                                        <p:attrNameLst>
                                          <p:attrName>style.visibility</p:attrName>
                                        </p:attrNameLst>
                                      </p:cBhvr>
                                      <p:to>
                                        <p:strVal val="visible"/>
                                      </p:to>
                                    </p:set>
                                    <p:animEffect transition="in" filter="fade">
                                      <p:cBhvr>
                                        <p:cTn id="147" dur="450"/>
                                        <p:tgtEl>
                                          <p:spTgt spid="10"/>
                                        </p:tgtEl>
                                      </p:cBhvr>
                                    </p:animEffect>
                                  </p:childTnLst>
                                </p:cTn>
                              </p:par>
                              <p:par>
                                <p:cTn id="150" presetID="10" presetClass="entr" presetSubtype="0" fill="hold" nodeType="clickEffect">
                                  <p:stCondLst>
                                    <p:cond delay="100"/>
                                  </p:stCondLst>
                                  <p:childTnLst>
                                    <p:set>
                                      <p:cBhvr>
                                        <p:cTn id="151" dur="1" fill="hold">
                                          <p:stCondLst>
                                            <p:cond delay="0"/>
                                          </p:stCondLst>
                                        </p:cTn>
                                        <p:tgtEl>
                                          <p:spTgt spid="11"/>
                                        </p:tgtEl>
                                        <p:attrNameLst>
                                          <p:attrName>style.visibility</p:attrName>
                                        </p:attrNameLst>
                                      </p:cBhvr>
                                      <p:to>
                                        <p:strVal val="visible"/>
                                      </p:to>
                                    </p:set>
                                    <p:animEffect transition="in" filter="fade">
                                      <p:cBhvr>
                                        <p:cTn id="152" dur="450"/>
                                        <p:tgtEl>
                                          <p:spTgt spid="11"/>
                                        </p:tgtEl>
                                      </p:cBhvr>
                                    </p:animEffect>
                                  </p:childTnLst>
                                </p:cTn>
                              </p:par>
                            </p:childTnLst>
                          </p:cTn>
                        </p:par>
                      </p:childTnLst>
                    </p:cTn>
                  </p:par>
                  <p:par>
                    <p:cTn id="155" fill="hold">
                      <p:stCondLst>
                        <p:cond delay="indefinite"/>
                      </p:stCondLst>
                      <p:childTnLst>
                        <p:par>
                          <p:cTn id="156" fill="hold">
                            <p:stCondLst>
                              <p:cond delay="0"/>
                            </p:stCondLst>
                            <p:childTnLst>
                              <p:par>
                                <p:cTn id="165" presetID="10" presetClass="entr" presetSubtype="0" fill="hold" nodeType="clickEffect">
                                  <p:stCondLst>
                                    <p:cond delay="0"/>
                                  </p:stCondLst>
                                  <p:childTnLst>
                                    <p:set>
                                      <p:cBhvr>
                                        <p:cTn id="166" dur="1" fill="hold">
                                          <p:stCondLst>
                                            <p:cond delay="0"/>
                                          </p:stCondLst>
                                        </p:cTn>
                                        <p:tgtEl>
                                          <p:spTgt spid="15"/>
                                        </p:tgtEl>
                                        <p:attrNameLst>
                                          <p:attrName>style.visibility</p:attrName>
                                        </p:attrNameLst>
                                      </p:cBhvr>
                                      <p:to>
                                        <p:strVal val="visible"/>
                                      </p:to>
                                    </p:set>
                                    <p:animEffect transition="in" filter="fade">
                                      <p:cBhvr>
                                        <p:cTn id="167" dur="4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 name="Fond" descr="bg_light.jpg"/>
          <p:cNvPicPr>
            <a:picLocks noChangeAspect="1"/>
          </p:cNvPicPr>
          <p:nvPr/>
        </p:nvPicPr>
        <p:blipFill>
          <a:blip r:embed="rId2"/>
          <a:stretch>
            <a:fillRect/>
          </a:stretch>
        </p:blipFill>
        <p:spPr>
          <a:xfrm>
            <a:off x="0" y="0"/>
            <a:ext cx="12191695" cy="6858000"/>
          </a:xfrm>
          <a:prstGeom prst="rect">
            <a:avLst/>
          </a:prstGeom>
        </p:spPr>
      </p:pic>
      <p:sp>
        <p:nvSpPr>
          <p:cNvPr id="2" name="Section"/>
          <p:cNvSpPr txBox="1"/>
          <p:nvPr/>
        </p:nvSpPr>
        <p:spPr>
          <a:xfrm>
            <a:off x="640080" y="301752"/>
            <a:ext cx="3657600" cy="256032"/>
          </a:xfrm>
          <a:prstGeom prst="rect">
            <a:avLst/>
          </a:prstGeom>
          <a:noFill/>
        </p:spPr>
        <p:txBody>
          <a:bodyPr wrap="none" anchor="t" lIns="0" rIns="0" tIns="0" bIns="0">
            <a:noAutofit/>
          </a:bodyPr>
          <a:lstStyle/>
          <a:p>
            <a:pPr algn="l">
              <a:lnSpc>
                <a:spcPct val="105000"/>
              </a:lnSpc>
              <a:spcBef>
                <a:spcPts val="0"/>
              </a:spcBef>
              <a:spcAft>
                <a:spcPts val="0"/>
              </a:spcAft>
            </a:pPr>
            <a:r>
              <a:rPr sz="900" b="1" i="0" spc="140" lang="fr-FR">
                <a:solidFill>
                  <a:srgbClr val="6D28D9"/>
                </a:solidFill>
                <a:latin typeface="Arial"/>
              </a:rPr>
              <a:t>04 · API</a:t>
            </a:r>
          </a:p>
        </p:txBody>
      </p:sp>
      <p:sp>
        <p:nvSpPr>
          <p:cNvPr id="3" name="Monogramme"/>
          <p:cNvSpPr txBox="1"/>
          <p:nvPr/>
        </p:nvSpPr>
        <p:spPr>
          <a:xfrm>
            <a:off x="10454335" y="301752"/>
            <a:ext cx="1097280" cy="256032"/>
          </a:xfrm>
          <a:prstGeom prst="rect">
            <a:avLst/>
          </a:prstGeom>
          <a:noFill/>
        </p:spPr>
        <p:txBody>
          <a:bodyPr wrap="none" anchor="t" lIns="0" rIns="0" tIns="0" bIns="0">
            <a:noAutofit/>
          </a:bodyPr>
          <a:lstStyle/>
          <a:p>
            <a:pPr algn="r">
              <a:lnSpc>
                <a:spcPct val="105000"/>
              </a:lnSpc>
              <a:spcBef>
                <a:spcPts val="0"/>
              </a:spcBef>
              <a:spcAft>
                <a:spcPts val="0"/>
              </a:spcAft>
            </a:pPr>
            <a:r>
              <a:rPr sz="850" b="1" i="0" spc="120" lang="fr-FR">
                <a:solidFill>
                  <a:srgbClr val="7C6F8F"/>
                </a:solidFill>
                <a:latin typeface="Arial"/>
              </a:rPr>
              <a:t>SC · 2026</a:t>
            </a:r>
          </a:p>
        </p:txBody>
      </p:sp>
      <p:sp>
        <p:nvSpPr>
          <p:cNvPr id="4" name="AccentTitre"/>
          <p:cNvSpPr/>
          <p:nvPr/>
        </p:nvSpPr>
        <p:spPr>
          <a:xfrm>
            <a:off x="640080" y="877824"/>
            <a:ext cx="50292" cy="45720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itre"/>
          <p:cNvSpPr txBox="1"/>
          <p:nvPr/>
        </p:nvSpPr>
        <p:spPr>
          <a:xfrm>
            <a:off x="841247" y="822960"/>
            <a:ext cx="10710367" cy="914400"/>
          </a:xfrm>
          <a:prstGeom prst="rect">
            <a:avLst/>
          </a:prstGeom>
          <a:noFill/>
        </p:spPr>
        <p:txBody>
          <a:bodyPr wrap="none" anchor="t" lIns="0" rIns="0" tIns="0" bIns="0">
            <a:noAutofit/>
          </a:bodyPr>
          <a:lstStyle/>
          <a:p>
            <a:pPr algn="l">
              <a:lnSpc>
                <a:spcPct val="98000"/>
              </a:lnSpc>
              <a:spcBef>
                <a:spcPts val="0"/>
              </a:spcBef>
              <a:spcAft>
                <a:spcPts val="0"/>
              </a:spcAft>
            </a:pPr>
            <a:r>
              <a:rPr sz="2800" b="1" i="0" lang="fr-FR">
                <a:solidFill>
                  <a:srgbClr val="2E1065"/>
                </a:solidFill>
                <a:latin typeface="Arial"/>
              </a:rPr>
              <a:t>Défense en profondeur : de la gateway au code</a:t>
            </a:r>
          </a:p>
        </p:txBody>
      </p:sp>
      <p:sp>
        <p:nvSpPr>
          <p:cNvPr id="6" name="Def1"/>
          <p:cNvSpPr/>
          <p:nvPr/>
        </p:nvSpPr>
        <p:spPr>
          <a:xfrm>
            <a:off x="640080" y="2011680"/>
            <a:ext cx="2011680" cy="3200400"/>
          </a:xfrm>
          <a:prstGeom prst="roundRect">
            <a:avLst>
              <a:gd name="adj" fmla="val 6000"/>
            </a:avLst>
          </a:prstGeom>
          <a:solidFill>
            <a:srgbClr val="FFFFFF"/>
          </a:solidFill>
          <a:ln w="12700">
            <a:solidFill>
              <a:srgbClr val="C4B5FD"/>
            </a:solidFill>
          </a:ln>
          <a:effectLst>
            <a:outerShdw blurRad="177800" dist="38100" dir="5400000" algn="ctr" rotWithShape="0">
              <a:srgbClr val="1B0F33">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182880" rIns="182880" tIns="146304" bIns="146304">
            <a:noAutofit/>
          </a:bodyPr>
          <a:lstStyle/>
          <a:p>
            <a:pPr>
              <a:lnSpc>
                <a:spcPct val="106000"/>
              </a:lnSpc>
              <a:spcBef>
                <a:spcPts val="0"/>
              </a:spcBef>
              <a:spcAft>
                <a:spcPts val="400"/>
              </a:spcAft>
            </a:pPr>
            <a:r>
              <a:rPr sz="1000" b="1" i="0" spc="120" lang="fr-FR">
                <a:solidFill>
                  <a:srgbClr val="B45309"/>
                </a:solidFill>
                <a:latin typeface="Arial"/>
              </a:rPr>
              <a:t>GW</a:t>
            </a:r>
          </a:p>
          <a:p>
            <a:pPr>
              <a:lnSpc>
                <a:spcPct val="106000"/>
              </a:lnSpc>
              <a:spcBef>
                <a:spcPts val="0"/>
              </a:spcBef>
              <a:spcAft>
                <a:spcPts val="800"/>
              </a:spcAft>
            </a:pPr>
            <a:r>
              <a:rPr sz="1600" b="1" i="0" lang="fr-FR">
                <a:solidFill>
                  <a:srgbClr val="2E1065"/>
                </a:solidFill>
                <a:latin typeface="Arial"/>
              </a:rPr>
              <a:t>Gateway</a:t>
            </a:r>
          </a:p>
          <a:p>
            <a:pPr>
              <a:lnSpc>
                <a:spcPct val="106000"/>
              </a:lnSpc>
              <a:spcBef>
                <a:spcPts val="0"/>
              </a:spcBef>
              <a:spcAft>
                <a:spcPts val="300"/>
              </a:spcAft>
            </a:pPr>
            <a:r>
              <a:rPr sz="1050" b="0" i="0" lang="fr-FR">
                <a:solidFill>
                  <a:srgbClr val="6B7280"/>
                </a:solidFill>
                <a:latin typeface="Arial"/>
              </a:rPr>
              <a:t>quotas</a:t>
            </a:r>
          </a:p>
          <a:p>
            <a:pPr>
              <a:lnSpc>
                <a:spcPct val="106000"/>
              </a:lnSpc>
              <a:spcBef>
                <a:spcPts val="0"/>
              </a:spcBef>
              <a:spcAft>
                <a:spcPts val="300"/>
              </a:spcAft>
            </a:pPr>
            <a:r>
              <a:rPr sz="1050" b="0" i="0" lang="fr-FR">
                <a:solidFill>
                  <a:srgbClr val="6B7280"/>
                </a:solidFill>
                <a:latin typeface="Arial"/>
              </a:rPr>
              <a:t>WAF</a:t>
            </a:r>
          </a:p>
          <a:p>
            <a:pPr>
              <a:lnSpc>
                <a:spcPct val="106000"/>
              </a:lnSpc>
              <a:spcBef>
                <a:spcPts val="0"/>
              </a:spcBef>
              <a:spcAft>
                <a:spcPts val="0"/>
              </a:spcAft>
            </a:pPr>
            <a:r>
              <a:rPr sz="1050" b="0" i="0" lang="fr-FR">
                <a:solidFill>
                  <a:srgbClr val="6B7280"/>
                </a:solidFill>
                <a:latin typeface="Arial"/>
              </a:rPr>
              <a:t>journalisation</a:t>
            </a:r>
          </a:p>
        </p:txBody>
      </p:sp>
      <p:sp>
        <p:nvSpPr>
          <p:cNvPr id="7" name="Def2"/>
          <p:cNvSpPr/>
          <p:nvPr/>
        </p:nvSpPr>
        <p:spPr>
          <a:xfrm>
            <a:off x="2834639" y="2011680"/>
            <a:ext cx="2011680" cy="3200400"/>
          </a:xfrm>
          <a:prstGeom prst="roundRect">
            <a:avLst>
              <a:gd name="adj" fmla="val 6000"/>
            </a:avLst>
          </a:prstGeom>
          <a:solidFill>
            <a:srgbClr val="FFFFFF"/>
          </a:solidFill>
          <a:ln w="12700">
            <a:solidFill>
              <a:srgbClr val="C4B5FD"/>
            </a:solidFill>
          </a:ln>
          <a:effectLst>
            <a:outerShdw blurRad="177800" dist="38100" dir="5400000" algn="ctr" rotWithShape="0">
              <a:srgbClr val="1B0F33">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182880" rIns="182880" tIns="146304" bIns="146304">
            <a:noAutofit/>
          </a:bodyPr>
          <a:lstStyle/>
          <a:p>
            <a:pPr>
              <a:lnSpc>
                <a:spcPct val="106000"/>
              </a:lnSpc>
              <a:spcBef>
                <a:spcPts val="0"/>
              </a:spcBef>
              <a:spcAft>
                <a:spcPts val="400"/>
              </a:spcAft>
            </a:pPr>
            <a:r>
              <a:rPr sz="1000" b="1" i="0" spc="120" lang="fr-FR">
                <a:solidFill>
                  <a:srgbClr val="6D28D9"/>
                </a:solidFill>
                <a:latin typeface="Arial"/>
              </a:rPr>
              <a:t>ID</a:t>
            </a:r>
          </a:p>
          <a:p>
            <a:pPr>
              <a:lnSpc>
                <a:spcPct val="106000"/>
              </a:lnSpc>
              <a:spcBef>
                <a:spcPts val="0"/>
              </a:spcBef>
              <a:spcAft>
                <a:spcPts val="800"/>
              </a:spcAft>
            </a:pPr>
            <a:r>
              <a:rPr sz="1600" b="1" i="0" lang="fr-FR">
                <a:solidFill>
                  <a:srgbClr val="2E1065"/>
                </a:solidFill>
                <a:latin typeface="Arial"/>
              </a:rPr>
              <a:t>Identité</a:t>
            </a:r>
          </a:p>
          <a:p>
            <a:pPr>
              <a:lnSpc>
                <a:spcPct val="106000"/>
              </a:lnSpc>
              <a:spcBef>
                <a:spcPts val="0"/>
              </a:spcBef>
              <a:spcAft>
                <a:spcPts val="300"/>
              </a:spcAft>
            </a:pPr>
            <a:r>
              <a:rPr sz="1050" b="0" i="0" lang="fr-FR">
                <a:solidFill>
                  <a:srgbClr val="6B7280"/>
                </a:solidFill>
                <a:latin typeface="Arial"/>
              </a:rPr>
              <a:t>OAuth2 / OIDC</a:t>
            </a:r>
          </a:p>
          <a:p>
            <a:pPr>
              <a:lnSpc>
                <a:spcPct val="106000"/>
              </a:lnSpc>
              <a:spcBef>
                <a:spcPts val="0"/>
              </a:spcBef>
              <a:spcAft>
                <a:spcPts val="300"/>
              </a:spcAft>
            </a:pPr>
            <a:r>
              <a:rPr sz="1050" b="0" i="0" lang="fr-FR">
                <a:solidFill>
                  <a:srgbClr val="6B7280"/>
                </a:solidFill>
                <a:latin typeface="Arial"/>
              </a:rPr>
              <a:t>mTLS</a:t>
            </a:r>
          </a:p>
          <a:p>
            <a:pPr>
              <a:lnSpc>
                <a:spcPct val="106000"/>
              </a:lnSpc>
              <a:spcBef>
                <a:spcPts val="0"/>
              </a:spcBef>
              <a:spcAft>
                <a:spcPts val="0"/>
              </a:spcAft>
            </a:pPr>
            <a:r>
              <a:rPr sz="1050" b="0" i="0" lang="fr-FR">
                <a:solidFill>
                  <a:srgbClr val="6B7280"/>
                </a:solidFill>
                <a:latin typeface="Arial"/>
              </a:rPr>
              <a:t>secrets</a:t>
            </a:r>
          </a:p>
        </p:txBody>
      </p:sp>
      <p:sp>
        <p:nvSpPr>
          <p:cNvPr id="8" name="Def3"/>
          <p:cNvSpPr/>
          <p:nvPr/>
        </p:nvSpPr>
        <p:spPr>
          <a:xfrm>
            <a:off x="5029200" y="2011680"/>
            <a:ext cx="2011680" cy="3200400"/>
          </a:xfrm>
          <a:prstGeom prst="roundRect">
            <a:avLst>
              <a:gd name="adj" fmla="val 6000"/>
            </a:avLst>
          </a:prstGeom>
          <a:solidFill>
            <a:srgbClr val="EDE9FE"/>
          </a:solidFill>
          <a:ln w="12700">
            <a:solidFill>
              <a:srgbClr val="6D28D9"/>
            </a:solidFill>
          </a:ln>
          <a:effectLst>
            <a:outerShdw blurRad="177800" dist="38100" dir="5400000" algn="ctr" rotWithShape="0">
              <a:srgbClr val="1B0F33">
                <a:alpha val="18000"/>
              </a:srgbClr>
            </a:outerShdw>
          </a:effectLst>
        </p:spPr>
        <p:style>
          <a:lnRef idx="1">
            <a:schemeClr val="accent1"/>
          </a:lnRef>
          <a:fillRef idx="3">
            <a:schemeClr val="accent1"/>
          </a:fillRef>
          <a:effectRef idx="2">
            <a:schemeClr val="accent1"/>
          </a:effectRef>
          <a:fontRef idx="minor">
            <a:schemeClr val="lt1"/>
          </a:fontRef>
        </p:style>
        <p:txBody>
          <a:bodyPr rtlCol="0" anchor="t" wrap="none" lIns="182880" rIns="182880" tIns="146304" bIns="146304">
            <a:noAutofit/>
          </a:bodyPr>
          <a:lstStyle/>
          <a:p>
            <a:pPr>
              <a:lnSpc>
                <a:spcPct val="106000"/>
              </a:lnSpc>
              <a:spcBef>
                <a:spcPts val="0"/>
              </a:spcBef>
              <a:spcAft>
                <a:spcPts val="400"/>
              </a:spcAft>
            </a:pPr>
            <a:r>
              <a:rPr sz="1000" b="1" i="0" spc="120" lang="fr-FR">
                <a:solidFill>
                  <a:srgbClr val="6D28D9"/>
                </a:solidFill>
                <a:latin typeface="Arial"/>
              </a:rPr>
              <a:t>AZ</a:t>
            </a:r>
          </a:p>
          <a:p>
            <a:pPr>
              <a:lnSpc>
                <a:spcPct val="106000"/>
              </a:lnSpc>
              <a:spcBef>
                <a:spcPts val="0"/>
              </a:spcBef>
              <a:spcAft>
                <a:spcPts val="800"/>
              </a:spcAft>
            </a:pPr>
            <a:r>
              <a:rPr sz="1600" b="1" i="0" lang="fr-FR">
                <a:solidFill>
                  <a:srgbClr val="2E1065"/>
                </a:solidFill>
                <a:latin typeface="Arial"/>
              </a:rPr>
              <a:t>Autorisation</a:t>
            </a:r>
          </a:p>
          <a:p>
            <a:pPr>
              <a:lnSpc>
                <a:spcPct val="106000"/>
              </a:lnSpc>
              <a:spcBef>
                <a:spcPts val="0"/>
              </a:spcBef>
              <a:spcAft>
                <a:spcPts val="300"/>
              </a:spcAft>
            </a:pPr>
            <a:r>
              <a:rPr sz="1050" b="0" i="0" lang="fr-FR">
                <a:solidFill>
                  <a:srgbClr val="6B7280"/>
                </a:solidFill>
                <a:latin typeface="Arial"/>
              </a:rPr>
              <a:t>objet + fonction</a:t>
            </a:r>
          </a:p>
          <a:p>
            <a:pPr>
              <a:lnSpc>
                <a:spcPct val="106000"/>
              </a:lnSpc>
              <a:spcBef>
                <a:spcPts val="0"/>
              </a:spcBef>
              <a:spcAft>
                <a:spcPts val="300"/>
              </a:spcAft>
            </a:pPr>
            <a:r>
              <a:rPr sz="1050" b="0" i="0" lang="fr-FR">
                <a:solidFill>
                  <a:srgbClr val="6B7280"/>
                </a:solidFill>
                <a:latin typeface="Arial"/>
              </a:rPr>
              <a:t>moindre privilège</a:t>
            </a:r>
          </a:p>
          <a:p>
            <a:pPr>
              <a:lnSpc>
                <a:spcPct val="106000"/>
              </a:lnSpc>
              <a:spcBef>
                <a:spcPts val="0"/>
              </a:spcBef>
              <a:spcAft>
                <a:spcPts val="0"/>
              </a:spcAft>
            </a:pPr>
            <a:r>
              <a:rPr sz="1050" b="0" i="0" lang="fr-FR">
                <a:solidFill>
                  <a:srgbClr val="6B7280"/>
                </a:solidFill>
                <a:latin typeface="Arial"/>
              </a:rPr>
              <a:t>tests</a:t>
            </a:r>
          </a:p>
        </p:txBody>
      </p:sp>
      <p:sp>
        <p:nvSpPr>
          <p:cNvPr id="9" name="Def4"/>
          <p:cNvSpPr/>
          <p:nvPr/>
        </p:nvSpPr>
        <p:spPr>
          <a:xfrm>
            <a:off x="7223759" y="2011680"/>
            <a:ext cx="2011680" cy="3200400"/>
          </a:xfrm>
          <a:prstGeom prst="roundRect">
            <a:avLst>
              <a:gd name="adj" fmla="val 6000"/>
            </a:avLst>
          </a:prstGeom>
          <a:solidFill>
            <a:srgbClr val="FFFFFF"/>
          </a:solidFill>
          <a:ln w="12700">
            <a:solidFill>
              <a:srgbClr val="C4B5FD"/>
            </a:solidFill>
          </a:ln>
          <a:effectLst>
            <a:outerShdw blurRad="177800" dist="38100" dir="5400000" algn="ctr" rotWithShape="0">
              <a:srgbClr val="1B0F33">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182880" rIns="182880" tIns="146304" bIns="146304">
            <a:noAutofit/>
          </a:bodyPr>
          <a:lstStyle/>
          <a:p>
            <a:pPr>
              <a:lnSpc>
                <a:spcPct val="106000"/>
              </a:lnSpc>
              <a:spcBef>
                <a:spcPts val="0"/>
              </a:spcBef>
              <a:spcAft>
                <a:spcPts val="400"/>
              </a:spcAft>
            </a:pPr>
            <a:r>
              <a:rPr sz="1000" b="1" i="0" spc="120" lang="fr-FR">
                <a:solidFill>
                  <a:srgbClr val="A78BFA"/>
                </a:solidFill>
                <a:latin typeface="Arial"/>
              </a:rPr>
              <a:t>DATA</a:t>
            </a:r>
          </a:p>
          <a:p>
            <a:pPr>
              <a:lnSpc>
                <a:spcPct val="106000"/>
              </a:lnSpc>
              <a:spcBef>
                <a:spcPts val="0"/>
              </a:spcBef>
              <a:spcAft>
                <a:spcPts val="800"/>
              </a:spcAft>
            </a:pPr>
            <a:r>
              <a:rPr sz="1600" b="1" i="0" lang="fr-FR">
                <a:solidFill>
                  <a:srgbClr val="2E1065"/>
                </a:solidFill>
                <a:latin typeface="Arial"/>
              </a:rPr>
              <a:t>Données</a:t>
            </a:r>
          </a:p>
          <a:p>
            <a:pPr>
              <a:lnSpc>
                <a:spcPct val="106000"/>
              </a:lnSpc>
              <a:spcBef>
                <a:spcPts val="0"/>
              </a:spcBef>
              <a:spcAft>
                <a:spcPts val="300"/>
              </a:spcAft>
            </a:pPr>
            <a:r>
              <a:rPr sz="1050" b="0" i="0" lang="fr-FR">
                <a:solidFill>
                  <a:srgbClr val="6B7280"/>
                </a:solidFill>
                <a:latin typeface="Arial"/>
              </a:rPr>
              <a:t>schémas</a:t>
            </a:r>
          </a:p>
          <a:p>
            <a:pPr>
              <a:lnSpc>
                <a:spcPct val="106000"/>
              </a:lnSpc>
              <a:spcBef>
                <a:spcPts val="0"/>
              </a:spcBef>
              <a:spcAft>
                <a:spcPts val="300"/>
              </a:spcAft>
            </a:pPr>
            <a:r>
              <a:rPr sz="1050" b="0" i="0" lang="fr-FR">
                <a:solidFill>
                  <a:srgbClr val="6B7280"/>
                </a:solidFill>
                <a:latin typeface="Arial"/>
              </a:rPr>
              <a:t>chiffrement</a:t>
            </a:r>
          </a:p>
          <a:p>
            <a:pPr>
              <a:lnSpc>
                <a:spcPct val="106000"/>
              </a:lnSpc>
              <a:spcBef>
                <a:spcPts val="0"/>
              </a:spcBef>
              <a:spcAft>
                <a:spcPts val="0"/>
              </a:spcAft>
            </a:pPr>
            <a:r>
              <a:rPr sz="1050" b="0" i="0" lang="fr-FR">
                <a:solidFill>
                  <a:srgbClr val="6B7280"/>
                </a:solidFill>
                <a:latin typeface="Arial"/>
              </a:rPr>
              <a:t>minimisation</a:t>
            </a:r>
          </a:p>
        </p:txBody>
      </p:sp>
      <p:sp>
        <p:nvSpPr>
          <p:cNvPr id="10" name="Def5"/>
          <p:cNvSpPr/>
          <p:nvPr/>
        </p:nvSpPr>
        <p:spPr>
          <a:xfrm>
            <a:off x="9418319" y="2011680"/>
            <a:ext cx="2011680" cy="3200400"/>
          </a:xfrm>
          <a:prstGeom prst="roundRect">
            <a:avLst>
              <a:gd name="adj" fmla="val 6000"/>
            </a:avLst>
          </a:prstGeom>
          <a:solidFill>
            <a:srgbClr val="FFFFFF"/>
          </a:solidFill>
          <a:ln w="12700">
            <a:solidFill>
              <a:srgbClr val="C4B5FD"/>
            </a:solidFill>
          </a:ln>
          <a:effectLst>
            <a:outerShdw blurRad="177800" dist="38100" dir="5400000" algn="ctr" rotWithShape="0">
              <a:srgbClr val="1B0F33">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182880" rIns="182880" tIns="146304" bIns="146304">
            <a:noAutofit/>
          </a:bodyPr>
          <a:lstStyle/>
          <a:p>
            <a:pPr>
              <a:lnSpc>
                <a:spcPct val="106000"/>
              </a:lnSpc>
              <a:spcBef>
                <a:spcPts val="0"/>
              </a:spcBef>
              <a:spcAft>
                <a:spcPts val="400"/>
              </a:spcAft>
            </a:pPr>
            <a:r>
              <a:rPr sz="1000" b="1" i="0" spc="120" lang="fr-FR">
                <a:solidFill>
                  <a:srgbClr val="6B7280"/>
                </a:solidFill>
                <a:latin typeface="Arial"/>
              </a:rPr>
              <a:t>OBS</a:t>
            </a:r>
          </a:p>
          <a:p>
            <a:pPr>
              <a:lnSpc>
                <a:spcPct val="106000"/>
              </a:lnSpc>
              <a:spcBef>
                <a:spcPts val="0"/>
              </a:spcBef>
              <a:spcAft>
                <a:spcPts val="800"/>
              </a:spcAft>
            </a:pPr>
            <a:r>
              <a:rPr sz="1600" b="1" i="0" lang="fr-FR">
                <a:solidFill>
                  <a:srgbClr val="2E1065"/>
                </a:solidFill>
                <a:latin typeface="Arial"/>
              </a:rPr>
              <a:t>Observabilité</a:t>
            </a:r>
          </a:p>
          <a:p>
            <a:pPr>
              <a:lnSpc>
                <a:spcPct val="106000"/>
              </a:lnSpc>
              <a:spcBef>
                <a:spcPts val="0"/>
              </a:spcBef>
              <a:spcAft>
                <a:spcPts val="300"/>
              </a:spcAft>
            </a:pPr>
            <a:r>
              <a:rPr sz="1050" b="0" i="0" lang="fr-FR">
                <a:solidFill>
                  <a:srgbClr val="6B7280"/>
                </a:solidFill>
                <a:latin typeface="Arial"/>
              </a:rPr>
              <a:t>logs</a:t>
            </a:r>
          </a:p>
          <a:p>
            <a:pPr>
              <a:lnSpc>
                <a:spcPct val="106000"/>
              </a:lnSpc>
              <a:spcBef>
                <a:spcPts val="0"/>
              </a:spcBef>
              <a:spcAft>
                <a:spcPts val="300"/>
              </a:spcAft>
            </a:pPr>
            <a:r>
              <a:rPr sz="1050" b="0" i="0" lang="fr-FR">
                <a:solidFill>
                  <a:srgbClr val="6B7280"/>
                </a:solidFill>
                <a:latin typeface="Arial"/>
              </a:rPr>
              <a:t>anomalies</a:t>
            </a:r>
          </a:p>
          <a:p>
            <a:pPr>
              <a:lnSpc>
                <a:spcPct val="106000"/>
              </a:lnSpc>
              <a:spcBef>
                <a:spcPts val="0"/>
              </a:spcBef>
              <a:spcAft>
                <a:spcPts val="0"/>
              </a:spcAft>
            </a:pPr>
            <a:r>
              <a:rPr sz="1050" b="0" i="0" lang="fr-FR">
                <a:solidFill>
                  <a:srgbClr val="6B7280"/>
                </a:solidFill>
                <a:latin typeface="Arial"/>
              </a:rPr>
              <a:t>inventaire</a:t>
            </a:r>
          </a:p>
        </p:txBody>
      </p:sp>
      <p:cxnSp>
        <p:nvCxnSpPr>
          <p:cNvPr id="11" name="Connector 10"/>
          <p:cNvCxnSpPr/>
          <p:nvPr/>
        </p:nvCxnSpPr>
        <p:spPr>
          <a:xfrm>
            <a:off x="2651760" y="3474720"/>
            <a:ext cx="182880" cy="0"/>
          </a:xfrm>
          <a:prstGeom prst="line">
            <a:avLst/>
          </a:prstGeom>
          <a:ln w="19050">
            <a:solidFill>
              <a:srgbClr val="6D28D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4846320" y="3474720"/>
            <a:ext cx="182880" cy="0"/>
          </a:xfrm>
          <a:prstGeom prst="line">
            <a:avLst/>
          </a:prstGeom>
          <a:ln w="19050">
            <a:solidFill>
              <a:srgbClr val="6D28D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040880" y="3474720"/>
            <a:ext cx="182880" cy="0"/>
          </a:xfrm>
          <a:prstGeom prst="line">
            <a:avLst/>
          </a:prstGeom>
          <a:ln w="19050">
            <a:solidFill>
              <a:srgbClr val="6D28D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235440" y="3474720"/>
            <a:ext cx="182880" cy="0"/>
          </a:xfrm>
          <a:prstGeom prst="line">
            <a:avLst/>
          </a:prstGeom>
          <a:ln w="19050">
            <a:solidFill>
              <a:srgbClr val="6D28D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40080" y="5852160"/>
            <a:ext cx="10881360" cy="320040"/>
          </a:xfrm>
          <a:prstGeom prst="rect">
            <a:avLst/>
          </a:prstGeom>
          <a:noFill/>
        </p:spPr>
        <p:txBody>
          <a:bodyPr wrap="none" anchor="t" lIns="0" rIns="0" tIns="0" bIns="0">
            <a:noAutofit/>
          </a:bodyPr>
          <a:lstStyle/>
          <a:p>
            <a:pPr algn="l">
              <a:lnSpc>
                <a:spcPct val="105000"/>
              </a:lnSpc>
              <a:spcBef>
                <a:spcPts val="0"/>
              </a:spcBef>
              <a:spcAft>
                <a:spcPts val="0"/>
              </a:spcAft>
            </a:pPr>
            <a:r>
              <a:rPr sz="1400" b="1" i="0" lang="fr-FR">
                <a:solidFill>
                  <a:srgbClr val="6D28D9"/>
                </a:solidFill>
                <a:latin typeface="Arial"/>
              </a:rPr>
              <a:t>Le refus par défaut à chaque étage ; la journalisation comme preuve.</a:t>
            </a:r>
          </a:p>
        </p:txBody>
      </p:sp>
      <p:sp>
        <p:nvSpPr>
          <p:cNvPr id="16" name="Source"/>
          <p:cNvSpPr txBox="1"/>
          <p:nvPr/>
        </p:nvSpPr>
        <p:spPr>
          <a:xfrm>
            <a:off x="640080" y="6382512"/>
            <a:ext cx="10271455" cy="219456"/>
          </a:xfrm>
          <a:prstGeom prst="rect">
            <a:avLst/>
          </a:prstGeom>
          <a:noFill/>
        </p:spPr>
        <p:txBody>
          <a:bodyPr wrap="none" anchor="t" lIns="0" rIns="0" tIns="0" bIns="0">
            <a:noAutofit/>
          </a:bodyPr>
          <a:lstStyle/>
          <a:p>
            <a:pPr algn="l">
              <a:lnSpc>
                <a:spcPct val="105000"/>
              </a:lnSpc>
              <a:spcBef>
                <a:spcPts val="0"/>
              </a:spcBef>
              <a:spcAft>
                <a:spcPts val="0"/>
              </a:spcAft>
            </a:pPr>
            <a:r>
              <a:rPr sz="850" b="0" i="0" lang="fr-FR">
                <a:solidFill>
                  <a:srgbClr val="5B5563"/>
                </a:solidFill>
                <a:latin typeface="Arial"/>
              </a:rPr>
              <a:t>NIST SP 800-95 ; OWASP ASVS ; CSA.</a:t>
            </a:r>
          </a:p>
        </p:txBody>
      </p:sp>
      <p:sp>
        <p:nvSpPr>
          <p:cNvPr id="17" name="Numero"/>
          <p:cNvSpPr txBox="1"/>
          <p:nvPr/>
        </p:nvSpPr>
        <p:spPr>
          <a:xfrm>
            <a:off x="10728655" y="6419088"/>
            <a:ext cx="822960" cy="201168"/>
          </a:xfrm>
          <a:prstGeom prst="rect">
            <a:avLst/>
          </a:prstGeom>
          <a:noFill/>
        </p:spPr>
        <p:txBody>
          <a:bodyPr wrap="none" anchor="t" lIns="0" rIns="0" tIns="0" bIns="0">
            <a:noAutofit/>
          </a:bodyPr>
          <a:lstStyle/>
          <a:p>
            <a:pPr algn="r">
              <a:lnSpc>
                <a:spcPct val="105000"/>
              </a:lnSpc>
              <a:spcBef>
                <a:spcPts val="0"/>
              </a:spcBef>
              <a:spcAft>
                <a:spcPts val="0"/>
              </a:spcAft>
            </a:pPr>
            <a:r>
              <a:rPr sz="850" b="1" i="0" lang="fr-FR">
                <a:solidFill>
                  <a:srgbClr val="6B7280"/>
                </a:solidFill>
                <a:latin typeface="Arial"/>
              </a:rPr>
              <a:t>14 / 16</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00" fill="hold">
                      <p:stCondLst>
                        <p:cond delay="indefinite"/>
                      </p:stCondLst>
                      <p:childTnLst>
                        <p:par>
                          <p:cTn id="101" fill="hold">
                            <p:stCondLst>
                              <p:cond delay="0"/>
                            </p:stCondLst>
                            <p:childTnLst>
                              <p:par>
                                <p:cTn id="110" presetID="10" presetClass="entr" presetSubtype="0" fill="hold" nodeType="clickEffect">
                                  <p:stCondLst>
                                    <p:cond delay="0"/>
                                  </p:stCondLst>
                                  <p:childTnLst>
                                    <p:set>
                                      <p:cBhvr>
                                        <p:cTn id="111" dur="1" fill="hold">
                                          <p:stCondLst>
                                            <p:cond delay="0"/>
                                          </p:stCondLst>
                                        </p:cTn>
                                        <p:tgtEl>
                                          <p:spTgt spid="6"/>
                                        </p:tgtEl>
                                        <p:attrNameLst>
                                          <p:attrName>style.visibility</p:attrName>
                                        </p:attrNameLst>
                                      </p:cBhvr>
                                      <p:to>
                                        <p:strVal val="visible"/>
                                      </p:to>
                                    </p:set>
                                    <p:animEffect transition="in" filter="fade">
                                      <p:cBhvr>
                                        <p:cTn id="112" dur="450"/>
                                        <p:tgtEl>
                                          <p:spTgt spid="6"/>
                                        </p:tgtEl>
                                      </p:cBhvr>
                                    </p:animEffect>
                                  </p:childTnLst>
                                </p:cTn>
                              </p:par>
                              <p:par>
                                <p:cTn id="115" presetID="10" presetClass="entr" presetSubtype="0" fill="hold" nodeType="clickEffect">
                                  <p:stCondLst>
                                    <p:cond delay="100"/>
                                  </p:stCondLst>
                                  <p:childTnLst>
                                    <p:set>
                                      <p:cBhvr>
                                        <p:cTn id="116" dur="1" fill="hold">
                                          <p:stCondLst>
                                            <p:cond delay="0"/>
                                          </p:stCondLst>
                                        </p:cTn>
                                        <p:tgtEl>
                                          <p:spTgt spid="7"/>
                                        </p:tgtEl>
                                        <p:attrNameLst>
                                          <p:attrName>style.visibility</p:attrName>
                                        </p:attrNameLst>
                                      </p:cBhvr>
                                      <p:to>
                                        <p:strVal val="visible"/>
                                      </p:to>
                                    </p:set>
                                    <p:animEffect transition="in" filter="fade">
                                      <p:cBhvr>
                                        <p:cTn id="117" dur="450"/>
                                        <p:tgtEl>
                                          <p:spTgt spid="7"/>
                                        </p:tgtEl>
                                      </p:cBhvr>
                                    </p:animEffect>
                                  </p:childTnLst>
                                </p:cTn>
                              </p:par>
                              <p:par>
                                <p:cTn id="120" presetID="10" presetClass="entr" presetSubtype="0" fill="hold" nodeType="clickEffect">
                                  <p:stCondLst>
                                    <p:cond delay="0"/>
                                  </p:stCondLst>
                                  <p:childTnLst>
                                    <p:set>
                                      <p:cBhvr>
                                        <p:cTn id="121" dur="1" fill="hold">
                                          <p:stCondLst>
                                            <p:cond delay="0"/>
                                          </p:stCondLst>
                                        </p:cTn>
                                        <p:tgtEl>
                                          <p:spTgt spid="11"/>
                                        </p:tgtEl>
                                        <p:attrNameLst>
                                          <p:attrName>style.visibility</p:attrName>
                                        </p:attrNameLst>
                                      </p:cBhvr>
                                      <p:to>
                                        <p:strVal val="visible"/>
                                      </p:to>
                                    </p:set>
                                    <p:animEffect transition="in" filter="fade">
                                      <p:cBhvr>
                                        <p:cTn id="122" dur="450"/>
                                        <p:tgtEl>
                                          <p:spTgt spid="11"/>
                                        </p:tgtEl>
                                      </p:cBhvr>
                                    </p:animEffect>
                                  </p:childTnLst>
                                </p:cTn>
                              </p:par>
                            </p:childTnLst>
                          </p:cTn>
                        </p:par>
                      </p:childTnLst>
                    </p:cTn>
                  </p:par>
                  <p:par>
                    <p:cTn id="125" fill="hold">
                      <p:stCondLst>
                        <p:cond delay="indefinite"/>
                      </p:stCondLst>
                      <p:childTnLst>
                        <p:par>
                          <p:cTn id="126" fill="hold">
                            <p:stCondLst>
                              <p:cond delay="0"/>
                            </p:stCondLst>
                            <p:childTnLst>
                              <p:par>
                                <p:cTn id="135" presetID="10" presetClass="entr" presetSubtype="0" fill="hold" nodeType="clickEffect">
                                  <p:stCondLst>
                                    <p:cond delay="0"/>
                                  </p:stCondLst>
                                  <p:childTnLst>
                                    <p:set>
                                      <p:cBhvr>
                                        <p:cTn id="136" dur="1" fill="hold">
                                          <p:stCondLst>
                                            <p:cond delay="0"/>
                                          </p:stCondLst>
                                        </p:cTn>
                                        <p:tgtEl>
                                          <p:spTgt spid="8"/>
                                        </p:tgtEl>
                                        <p:attrNameLst>
                                          <p:attrName>style.visibility</p:attrName>
                                        </p:attrNameLst>
                                      </p:cBhvr>
                                      <p:to>
                                        <p:strVal val="visible"/>
                                      </p:to>
                                    </p:set>
                                    <p:animEffect transition="in" filter="fade">
                                      <p:cBhvr>
                                        <p:cTn id="137" dur="450"/>
                                        <p:tgtEl>
                                          <p:spTgt spid="8"/>
                                        </p:tgtEl>
                                      </p:cBhvr>
                                    </p:animEffect>
                                  </p:childTnLst>
                                </p:cTn>
                              </p:par>
                              <p:par>
                                <p:cTn id="140" presetID="10" presetClass="entr" presetSubtype="0" fill="hold" nodeType="clickEffect">
                                  <p:stCondLst>
                                    <p:cond delay="100"/>
                                  </p:stCondLst>
                                  <p:childTnLst>
                                    <p:set>
                                      <p:cBhvr>
                                        <p:cTn id="141" dur="1" fill="hold">
                                          <p:stCondLst>
                                            <p:cond delay="0"/>
                                          </p:stCondLst>
                                        </p:cTn>
                                        <p:tgtEl>
                                          <p:spTgt spid="9"/>
                                        </p:tgtEl>
                                        <p:attrNameLst>
                                          <p:attrName>style.visibility</p:attrName>
                                        </p:attrNameLst>
                                      </p:cBhvr>
                                      <p:to>
                                        <p:strVal val="visible"/>
                                      </p:to>
                                    </p:set>
                                    <p:animEffect transition="in" filter="fade">
                                      <p:cBhvr>
                                        <p:cTn id="142" dur="450"/>
                                        <p:tgtEl>
                                          <p:spTgt spid="9"/>
                                        </p:tgtEl>
                                      </p:cBhvr>
                                    </p:animEffect>
                                  </p:childTnLst>
                                </p:cTn>
                              </p:par>
                              <p:par>
                                <p:cTn id="145" presetID="10" presetClass="entr" presetSubtype="0" fill="hold" nodeType="clickEffect">
                                  <p:stCondLst>
                                    <p:cond delay="200"/>
                                  </p:stCondLst>
                                  <p:childTnLst>
                                    <p:set>
                                      <p:cBhvr>
                                        <p:cTn id="146" dur="1" fill="hold">
                                          <p:stCondLst>
                                            <p:cond delay="0"/>
                                          </p:stCondLst>
                                        </p:cTn>
                                        <p:tgtEl>
                                          <p:spTgt spid="10"/>
                                        </p:tgtEl>
                                        <p:attrNameLst>
                                          <p:attrName>style.visibility</p:attrName>
                                        </p:attrNameLst>
                                      </p:cBhvr>
                                      <p:to>
                                        <p:strVal val="visible"/>
                                      </p:to>
                                    </p:set>
                                    <p:animEffect transition="in" filter="fade">
                                      <p:cBhvr>
                                        <p:cTn id="147" dur="450"/>
                                        <p:tgtEl>
                                          <p:spTgt spid="10"/>
                                        </p:tgtEl>
                                      </p:cBhvr>
                                    </p:animEffect>
                                  </p:childTnLst>
                                </p:cTn>
                              </p:par>
                              <p:par>
                                <p:cTn id="150" presetID="10" presetClass="entr" presetSubtype="0" fill="hold" nodeType="clickEffect">
                                  <p:stCondLst>
                                    <p:cond delay="0"/>
                                  </p:stCondLst>
                                  <p:childTnLst>
                                    <p:set>
                                      <p:cBhvr>
                                        <p:cTn id="151" dur="1" fill="hold">
                                          <p:stCondLst>
                                            <p:cond delay="0"/>
                                          </p:stCondLst>
                                        </p:cTn>
                                        <p:tgtEl>
                                          <p:spTgt spid="12"/>
                                        </p:tgtEl>
                                        <p:attrNameLst>
                                          <p:attrName>style.visibility</p:attrName>
                                        </p:attrNameLst>
                                      </p:cBhvr>
                                      <p:to>
                                        <p:strVal val="visible"/>
                                      </p:to>
                                    </p:set>
                                    <p:animEffect transition="in" filter="fade">
                                      <p:cBhvr>
                                        <p:cTn id="152" dur="450"/>
                                        <p:tgtEl>
                                          <p:spTgt spid="12"/>
                                        </p:tgtEl>
                                      </p:cBhvr>
                                    </p:animEffect>
                                  </p:childTnLst>
                                </p:cTn>
                              </p:par>
                              <p:par>
                                <p:cTn id="155" presetID="10" presetClass="entr" presetSubtype="0" fill="hold" nodeType="clickEffect">
                                  <p:stCondLst>
                                    <p:cond delay="100"/>
                                  </p:stCondLst>
                                  <p:childTnLst>
                                    <p:set>
                                      <p:cBhvr>
                                        <p:cTn id="156" dur="1" fill="hold">
                                          <p:stCondLst>
                                            <p:cond delay="0"/>
                                          </p:stCondLst>
                                        </p:cTn>
                                        <p:tgtEl>
                                          <p:spTgt spid="13"/>
                                        </p:tgtEl>
                                        <p:attrNameLst>
                                          <p:attrName>style.visibility</p:attrName>
                                        </p:attrNameLst>
                                      </p:cBhvr>
                                      <p:to>
                                        <p:strVal val="visible"/>
                                      </p:to>
                                    </p:set>
                                    <p:animEffect transition="in" filter="fade">
                                      <p:cBhvr>
                                        <p:cTn id="157" dur="450"/>
                                        <p:tgtEl>
                                          <p:spTgt spid="13"/>
                                        </p:tgtEl>
                                      </p:cBhvr>
                                    </p:animEffect>
                                  </p:childTnLst>
                                </p:cTn>
                              </p:par>
                              <p:par>
                                <p:cTn id="160" presetID="10" presetClass="entr" presetSubtype="0" fill="hold" nodeType="clickEffect">
                                  <p:stCondLst>
                                    <p:cond delay="200"/>
                                  </p:stCondLst>
                                  <p:childTnLst>
                                    <p:set>
                                      <p:cBhvr>
                                        <p:cTn id="161" dur="1" fill="hold">
                                          <p:stCondLst>
                                            <p:cond delay="0"/>
                                          </p:stCondLst>
                                        </p:cTn>
                                        <p:tgtEl>
                                          <p:spTgt spid="14"/>
                                        </p:tgtEl>
                                        <p:attrNameLst>
                                          <p:attrName>style.visibility</p:attrName>
                                        </p:attrNameLst>
                                      </p:cBhvr>
                                      <p:to>
                                        <p:strVal val="visible"/>
                                      </p:to>
                                    </p:set>
                                    <p:animEffect transition="in" filter="fade">
                                      <p:cBhvr>
                                        <p:cTn id="162" dur="450"/>
                                        <p:tgtEl>
                                          <p:spTgt spid="14"/>
                                        </p:tgtEl>
                                      </p:cBhvr>
                                    </p:animEffect>
                                  </p:childTnLst>
                                </p:cTn>
                              </p:par>
                            </p:childTnLst>
                          </p:cTn>
                        </p:par>
                      </p:childTnLst>
                    </p:cTn>
                  </p:par>
                  <p:par>
                    <p:cTn id="165" fill="hold">
                      <p:stCondLst>
                        <p:cond delay="indefinite"/>
                      </p:stCondLst>
                      <p:childTnLst>
                        <p:par>
                          <p:cTn id="166" fill="hold">
                            <p:stCondLst>
                              <p:cond delay="0"/>
                            </p:stCondLst>
                            <p:childTnLst>
                              <p:par>
                                <p:cTn id="175" presetID="10" presetClass="entr" presetSubtype="0" fill="hold" nodeType="clickEffect">
                                  <p:stCondLst>
                                    <p:cond delay="0"/>
                                  </p:stCondLst>
                                  <p:childTnLst>
                                    <p:set>
                                      <p:cBhvr>
                                        <p:cTn id="176" dur="1" fill="hold">
                                          <p:stCondLst>
                                            <p:cond delay="0"/>
                                          </p:stCondLst>
                                        </p:cTn>
                                        <p:tgtEl>
                                          <p:spTgt spid="15"/>
                                        </p:tgtEl>
                                        <p:attrNameLst>
                                          <p:attrName>style.visibility</p:attrName>
                                        </p:attrNameLst>
                                      </p:cBhvr>
                                      <p:to>
                                        <p:strVal val="visible"/>
                                      </p:to>
                                    </p:set>
                                    <p:animEffect transition="in" filter="fade">
                                      <p:cBhvr>
                                        <p:cTn id="177" dur="4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 name="Fond" descr="bg_end.jpg"/>
          <p:cNvPicPr>
            <a:picLocks noChangeAspect="1"/>
          </p:cNvPicPr>
          <p:nvPr/>
        </p:nvPicPr>
        <p:blipFill>
          <a:blip r:embed="rId2"/>
          <a:stretch>
            <a:fillRect/>
          </a:stretch>
        </p:blipFill>
        <p:spPr>
          <a:xfrm>
            <a:off x="0" y="0"/>
            <a:ext cx="12191695" cy="6858000"/>
          </a:xfrm>
          <a:prstGeom prst="rect">
            <a:avLst/>
          </a:prstGeom>
        </p:spPr>
      </p:pic>
      <p:sp>
        <p:nvSpPr>
          <p:cNvPr id="2" name="Section"/>
          <p:cNvSpPr txBox="1"/>
          <p:nvPr/>
        </p:nvSpPr>
        <p:spPr>
          <a:xfrm>
            <a:off x="640080" y="301752"/>
            <a:ext cx="3657600" cy="256032"/>
          </a:xfrm>
          <a:prstGeom prst="rect">
            <a:avLst/>
          </a:prstGeom>
          <a:noFill/>
        </p:spPr>
        <p:txBody>
          <a:bodyPr wrap="none" anchor="t" lIns="0" rIns="0" tIns="0" bIns="0">
            <a:noAutofit/>
          </a:bodyPr>
          <a:lstStyle/>
          <a:p>
            <a:pPr algn="l">
              <a:lnSpc>
                <a:spcPct val="105000"/>
              </a:lnSpc>
              <a:spcBef>
                <a:spcPts val="0"/>
              </a:spcBef>
              <a:spcAft>
                <a:spcPts val="0"/>
              </a:spcAft>
            </a:pPr>
            <a:r>
              <a:rPr sz="900" b="1" i="0" spc="140" lang="fr-FR">
                <a:solidFill>
                  <a:srgbClr val="C4B5FD"/>
                </a:solidFill>
                <a:latin typeface="Arial"/>
              </a:rPr>
              <a:t>CONCLUSION</a:t>
            </a:r>
          </a:p>
        </p:txBody>
      </p:sp>
      <p:sp>
        <p:nvSpPr>
          <p:cNvPr id="3" name="Monogramme"/>
          <p:cNvSpPr txBox="1"/>
          <p:nvPr/>
        </p:nvSpPr>
        <p:spPr>
          <a:xfrm>
            <a:off x="10454335" y="301752"/>
            <a:ext cx="1097280" cy="256032"/>
          </a:xfrm>
          <a:prstGeom prst="rect">
            <a:avLst/>
          </a:prstGeom>
          <a:noFill/>
        </p:spPr>
        <p:txBody>
          <a:bodyPr wrap="none" anchor="t" lIns="0" rIns="0" tIns="0" bIns="0">
            <a:noAutofit/>
          </a:bodyPr>
          <a:lstStyle/>
          <a:p>
            <a:pPr algn="r">
              <a:lnSpc>
                <a:spcPct val="105000"/>
              </a:lnSpc>
              <a:spcBef>
                <a:spcPts val="0"/>
              </a:spcBef>
              <a:spcAft>
                <a:spcPts val="0"/>
              </a:spcAft>
            </a:pPr>
            <a:r>
              <a:rPr sz="850" b="1" i="0" spc="120" lang="fr-FR">
                <a:solidFill>
                  <a:srgbClr val="C4B5FD"/>
                </a:solidFill>
                <a:latin typeface="Arial"/>
              </a:rPr>
              <a:t>SC · 2026</a:t>
            </a:r>
          </a:p>
        </p:txBody>
      </p:sp>
      <p:sp>
        <p:nvSpPr>
          <p:cNvPr id="4" name="AccentTitre"/>
          <p:cNvSpPr/>
          <p:nvPr/>
        </p:nvSpPr>
        <p:spPr>
          <a:xfrm>
            <a:off x="640080" y="1014984"/>
            <a:ext cx="50292" cy="4572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itre"/>
          <p:cNvSpPr txBox="1"/>
          <p:nvPr/>
        </p:nvSpPr>
        <p:spPr>
          <a:xfrm>
            <a:off x="841247" y="960120"/>
            <a:ext cx="10710367" cy="822960"/>
          </a:xfrm>
          <a:prstGeom prst="rect">
            <a:avLst/>
          </a:prstGeom>
          <a:noFill/>
        </p:spPr>
        <p:txBody>
          <a:bodyPr wrap="none" anchor="t" lIns="0" rIns="0" tIns="0" bIns="0">
            <a:noAutofit/>
          </a:bodyPr>
          <a:lstStyle/>
          <a:p>
            <a:pPr algn="l">
              <a:lnSpc>
                <a:spcPct val="98000"/>
              </a:lnSpc>
              <a:spcBef>
                <a:spcPts val="0"/>
              </a:spcBef>
              <a:spcAft>
                <a:spcPts val="0"/>
              </a:spcAft>
            </a:pPr>
            <a:r>
              <a:rPr sz="3600" b="1" i="0" lang="fr-FR">
                <a:solidFill>
                  <a:srgbClr val="FFFFFF"/>
                </a:solidFill>
                <a:latin typeface="Arial"/>
              </a:rPr>
              <a:t>Ce qu'il faut retenir</a:t>
            </a:r>
          </a:p>
        </p:txBody>
      </p:sp>
      <p:sp>
        <p:nvSpPr>
          <p:cNvPr id="6" name="Oval 5"/>
          <p:cNvSpPr/>
          <p:nvPr/>
        </p:nvSpPr>
        <p:spPr>
          <a:xfrm>
            <a:off x="822960" y="2057400"/>
            <a:ext cx="502920" cy="50292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ct val="100000"/>
              </a:lnSpc>
              <a:spcBef>
                <a:spcPts val="0"/>
              </a:spcBef>
              <a:spcAft>
                <a:spcPts val="0"/>
              </a:spcAft>
            </a:pPr>
            <a:r>
              <a:rPr sz="1400" b="1" i="0" lang="fr-FR">
                <a:solidFill>
                  <a:srgbClr val="1B0F33"/>
                </a:solidFill>
                <a:latin typeface="Arial"/>
              </a:rPr>
              <a:t>1</a:t>
            </a:r>
          </a:p>
        </p:txBody>
      </p:sp>
      <p:sp>
        <p:nvSpPr>
          <p:cNvPr id="7" name="TextBox 6"/>
          <p:cNvSpPr txBox="1"/>
          <p:nvPr/>
        </p:nvSpPr>
        <p:spPr>
          <a:xfrm>
            <a:off x="1600200" y="2011680"/>
            <a:ext cx="9601200" cy="685800"/>
          </a:xfrm>
          <a:prstGeom prst="rect">
            <a:avLst/>
          </a:prstGeom>
          <a:noFill/>
        </p:spPr>
        <p:txBody>
          <a:bodyPr wrap="none" anchor="ctr" lIns="0" rIns="0" tIns="0" bIns="0">
            <a:noAutofit/>
          </a:bodyPr>
          <a:lstStyle/>
          <a:p>
            <a:pPr algn="l">
              <a:lnSpc>
                <a:spcPct val="105000"/>
              </a:lnSpc>
              <a:spcBef>
                <a:spcPts val="0"/>
              </a:spcBef>
              <a:spcAft>
                <a:spcPts val="0"/>
              </a:spcAft>
            </a:pPr>
            <a:r>
              <a:rPr sz="2400" b="0" i="0" lang="fr-FR">
                <a:solidFill>
                  <a:srgbClr val="FFFFFF"/>
                </a:solidFill>
                <a:latin typeface="Arial"/>
              </a:rPr>
              <a:t>Le cloud déplace le risque ; il ne le supprime pas.</a:t>
            </a:r>
          </a:p>
        </p:txBody>
      </p:sp>
      <p:sp>
        <p:nvSpPr>
          <p:cNvPr id="8" name="Oval 7"/>
          <p:cNvSpPr/>
          <p:nvPr/>
        </p:nvSpPr>
        <p:spPr>
          <a:xfrm>
            <a:off x="822960" y="3154680"/>
            <a:ext cx="502920" cy="50292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ct val="100000"/>
              </a:lnSpc>
              <a:spcBef>
                <a:spcPts val="0"/>
              </a:spcBef>
              <a:spcAft>
                <a:spcPts val="0"/>
              </a:spcAft>
            </a:pPr>
            <a:r>
              <a:rPr sz="1400" b="1" i="0" lang="fr-FR">
                <a:solidFill>
                  <a:srgbClr val="1B0F33"/>
                </a:solidFill>
                <a:latin typeface="Arial"/>
              </a:rPr>
              <a:t>2</a:t>
            </a:r>
          </a:p>
        </p:txBody>
      </p:sp>
      <p:sp>
        <p:nvSpPr>
          <p:cNvPr id="9" name="TextBox 8"/>
          <p:cNvSpPr txBox="1"/>
          <p:nvPr/>
        </p:nvSpPr>
        <p:spPr>
          <a:xfrm>
            <a:off x="1600200" y="3108960"/>
            <a:ext cx="9601200" cy="685800"/>
          </a:xfrm>
          <a:prstGeom prst="rect">
            <a:avLst/>
          </a:prstGeom>
          <a:noFill/>
        </p:spPr>
        <p:txBody>
          <a:bodyPr wrap="none" anchor="ctr" lIns="0" rIns="0" tIns="0" bIns="0">
            <a:noAutofit/>
          </a:bodyPr>
          <a:lstStyle/>
          <a:p>
            <a:pPr algn="l">
              <a:lnSpc>
                <a:spcPct val="105000"/>
              </a:lnSpc>
              <a:spcBef>
                <a:spcPts val="0"/>
              </a:spcBef>
              <a:spcAft>
                <a:spcPts val="0"/>
              </a:spcAft>
            </a:pPr>
            <a:r>
              <a:rPr sz="2400" b="0" i="0" lang="fr-FR">
                <a:solidFill>
                  <a:srgbClr val="FFFFFF"/>
                </a:solidFill>
                <a:latin typeface="Arial"/>
              </a:rPr>
              <a:t>Trois leviers : authentifier, autoriser, configurer.</a:t>
            </a:r>
          </a:p>
        </p:txBody>
      </p:sp>
      <p:sp>
        <p:nvSpPr>
          <p:cNvPr id="10" name="Oval 9"/>
          <p:cNvSpPr/>
          <p:nvPr/>
        </p:nvSpPr>
        <p:spPr>
          <a:xfrm>
            <a:off x="822960" y="4251960"/>
            <a:ext cx="502920" cy="50292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noAutofit/>
          </a:bodyPr>
          <a:lstStyle/>
          <a:p>
            <a:pPr algn="ctr">
              <a:lnSpc>
                <a:spcPct val="100000"/>
              </a:lnSpc>
              <a:spcBef>
                <a:spcPts val="0"/>
              </a:spcBef>
              <a:spcAft>
                <a:spcPts val="0"/>
              </a:spcAft>
            </a:pPr>
            <a:r>
              <a:rPr sz="1400" b="1" i="0" lang="fr-FR">
                <a:solidFill>
                  <a:srgbClr val="1B0F33"/>
                </a:solidFill>
                <a:latin typeface="Arial"/>
              </a:rPr>
              <a:t>3</a:t>
            </a:r>
          </a:p>
        </p:txBody>
      </p:sp>
      <p:sp>
        <p:nvSpPr>
          <p:cNvPr id="11" name="TextBox 10"/>
          <p:cNvSpPr txBox="1"/>
          <p:nvPr/>
        </p:nvSpPr>
        <p:spPr>
          <a:xfrm>
            <a:off x="1600200" y="4206240"/>
            <a:ext cx="9601200" cy="685800"/>
          </a:xfrm>
          <a:prstGeom prst="rect">
            <a:avLst/>
          </a:prstGeom>
          <a:noFill/>
        </p:spPr>
        <p:txBody>
          <a:bodyPr wrap="none" anchor="ctr" lIns="0" rIns="0" tIns="0" bIns="0">
            <a:noAutofit/>
          </a:bodyPr>
          <a:lstStyle/>
          <a:p>
            <a:pPr algn="l">
              <a:lnSpc>
                <a:spcPct val="105000"/>
              </a:lnSpc>
              <a:spcBef>
                <a:spcPts val="0"/>
              </a:spcBef>
              <a:spcAft>
                <a:spcPts val="0"/>
              </a:spcAft>
            </a:pPr>
            <a:r>
              <a:rPr sz="2400" b="0" i="0" lang="fr-FR">
                <a:solidFill>
                  <a:srgbClr val="FFFFFF"/>
                </a:solidFill>
                <a:latin typeface="Arial"/>
              </a:rPr>
              <a:t>L'API est le point d'application de la sécurité du cloud.</a:t>
            </a:r>
          </a:p>
        </p:txBody>
      </p:sp>
      <p:sp>
        <p:nvSpPr>
          <p:cNvPr id="12" name="TextBox 11"/>
          <p:cNvSpPr txBox="1"/>
          <p:nvPr/>
        </p:nvSpPr>
        <p:spPr>
          <a:xfrm>
            <a:off x="822960" y="5532120"/>
            <a:ext cx="10515600" cy="411480"/>
          </a:xfrm>
          <a:prstGeom prst="rect">
            <a:avLst/>
          </a:prstGeom>
          <a:noFill/>
        </p:spPr>
        <p:txBody>
          <a:bodyPr wrap="none" anchor="t" lIns="0" rIns="0" tIns="0" bIns="0">
            <a:noAutofit/>
          </a:bodyPr>
          <a:lstStyle/>
          <a:p>
            <a:pPr algn="l">
              <a:lnSpc>
                <a:spcPct val="105000"/>
              </a:lnSpc>
              <a:spcBef>
                <a:spcPts val="0"/>
              </a:spcBef>
              <a:spcAft>
                <a:spcPts val="0"/>
              </a:spcAft>
            </a:pPr>
            <a:r>
              <a:rPr sz="1900" b="1" i="0" lang="fr-FR">
                <a:solidFill>
                  <a:srgbClr val="F59E0B"/>
                </a:solidFill>
                <a:latin typeface="Arial"/>
              </a:rPr>
              <a:t>Le cloud est sécurisé par conception, jamais par défaut.</a:t>
            </a:r>
          </a:p>
        </p:txBody>
      </p:sp>
      <p:sp>
        <p:nvSpPr>
          <p:cNvPr id="13" name="Numero"/>
          <p:cNvSpPr txBox="1"/>
          <p:nvPr/>
        </p:nvSpPr>
        <p:spPr>
          <a:xfrm>
            <a:off x="10728655" y="6419088"/>
            <a:ext cx="822960" cy="201168"/>
          </a:xfrm>
          <a:prstGeom prst="rect">
            <a:avLst/>
          </a:prstGeom>
          <a:noFill/>
        </p:spPr>
        <p:txBody>
          <a:bodyPr wrap="none" anchor="t" lIns="0" rIns="0" tIns="0" bIns="0">
            <a:noAutofit/>
          </a:bodyPr>
          <a:lstStyle/>
          <a:p>
            <a:pPr algn="r">
              <a:lnSpc>
                <a:spcPct val="105000"/>
              </a:lnSpc>
              <a:spcBef>
                <a:spcPts val="0"/>
              </a:spcBef>
              <a:spcAft>
                <a:spcPts val="0"/>
              </a:spcAft>
            </a:pPr>
            <a:r>
              <a:rPr sz="850" b="1" i="0" lang="fr-FR">
                <a:solidFill>
                  <a:srgbClr val="C4B5FD"/>
                </a:solidFill>
                <a:latin typeface="Arial"/>
              </a:rPr>
              <a:t>15 / 16</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00" fill="hold">
                      <p:stCondLst>
                        <p:cond delay="indefinite"/>
                      </p:stCondLst>
                      <p:childTnLst>
                        <p:par>
                          <p:cTn id="101" fill="hold">
                            <p:stCondLst>
                              <p:cond delay="0"/>
                            </p:stCondLst>
                            <p:childTnLst>
                              <p:par>
                                <p:cTn id="110" presetID="10" presetClass="entr" presetSubtype="0" fill="hold" nodeType="clickEffect">
                                  <p:stCondLst>
                                    <p:cond delay="0"/>
                                  </p:stCondLst>
                                  <p:childTnLst>
                                    <p:set>
                                      <p:cBhvr>
                                        <p:cTn id="111" dur="1" fill="hold">
                                          <p:stCondLst>
                                            <p:cond delay="0"/>
                                          </p:stCondLst>
                                        </p:cTn>
                                        <p:tgtEl>
                                          <p:spTgt spid="6"/>
                                        </p:tgtEl>
                                        <p:attrNameLst>
                                          <p:attrName>style.visibility</p:attrName>
                                        </p:attrNameLst>
                                      </p:cBhvr>
                                      <p:to>
                                        <p:strVal val="visible"/>
                                      </p:to>
                                    </p:set>
                                    <p:animEffect transition="in" filter="fade">
                                      <p:cBhvr>
                                        <p:cTn id="112" dur="450"/>
                                        <p:tgtEl>
                                          <p:spTgt spid="6"/>
                                        </p:tgtEl>
                                      </p:cBhvr>
                                    </p:animEffect>
                                  </p:childTnLst>
                                </p:cTn>
                              </p:par>
                              <p:par>
                                <p:cTn id="115" presetID="10" presetClass="entr" presetSubtype="0" fill="hold" nodeType="clickEffect">
                                  <p:stCondLst>
                                    <p:cond delay="80"/>
                                  </p:stCondLst>
                                  <p:childTnLst>
                                    <p:set>
                                      <p:cBhvr>
                                        <p:cTn id="116" dur="1" fill="hold">
                                          <p:stCondLst>
                                            <p:cond delay="0"/>
                                          </p:stCondLst>
                                        </p:cTn>
                                        <p:tgtEl>
                                          <p:spTgt spid="7"/>
                                        </p:tgtEl>
                                        <p:attrNameLst>
                                          <p:attrName>style.visibility</p:attrName>
                                        </p:attrNameLst>
                                      </p:cBhvr>
                                      <p:to>
                                        <p:strVal val="visible"/>
                                      </p:to>
                                    </p:set>
                                    <p:animEffect transition="in" filter="fade">
                                      <p:cBhvr>
                                        <p:cTn id="117" dur="450"/>
                                        <p:tgtEl>
                                          <p:spTgt spid="7"/>
                                        </p:tgtEl>
                                      </p:cBhvr>
                                    </p:animEffect>
                                  </p:childTnLst>
                                </p:cTn>
                              </p:par>
                            </p:childTnLst>
                          </p:cTn>
                        </p:par>
                      </p:childTnLst>
                    </p:cTn>
                  </p:par>
                  <p:par>
                    <p:cTn id="120" fill="hold">
                      <p:stCondLst>
                        <p:cond delay="indefinite"/>
                      </p:stCondLst>
                      <p:childTnLst>
                        <p:par>
                          <p:cTn id="121" fill="hold">
                            <p:stCondLst>
                              <p:cond delay="0"/>
                            </p:stCondLst>
                            <p:childTnLst>
                              <p:par>
                                <p:cTn id="130" presetID="10" presetClass="entr" presetSubtype="0" fill="hold" nodeType="clickEffect">
                                  <p:stCondLst>
                                    <p:cond delay="0"/>
                                  </p:stCondLst>
                                  <p:childTnLst>
                                    <p:set>
                                      <p:cBhvr>
                                        <p:cTn id="131" dur="1" fill="hold">
                                          <p:stCondLst>
                                            <p:cond delay="0"/>
                                          </p:stCondLst>
                                        </p:cTn>
                                        <p:tgtEl>
                                          <p:spTgt spid="8"/>
                                        </p:tgtEl>
                                        <p:attrNameLst>
                                          <p:attrName>style.visibility</p:attrName>
                                        </p:attrNameLst>
                                      </p:cBhvr>
                                      <p:to>
                                        <p:strVal val="visible"/>
                                      </p:to>
                                    </p:set>
                                    <p:animEffect transition="in" filter="fade">
                                      <p:cBhvr>
                                        <p:cTn id="132" dur="450"/>
                                        <p:tgtEl>
                                          <p:spTgt spid="8"/>
                                        </p:tgtEl>
                                      </p:cBhvr>
                                    </p:animEffect>
                                  </p:childTnLst>
                                </p:cTn>
                              </p:par>
                              <p:par>
                                <p:cTn id="135" presetID="10" presetClass="entr" presetSubtype="0" fill="hold" nodeType="clickEffect">
                                  <p:stCondLst>
                                    <p:cond delay="80"/>
                                  </p:stCondLst>
                                  <p:childTnLst>
                                    <p:set>
                                      <p:cBhvr>
                                        <p:cTn id="136" dur="1" fill="hold">
                                          <p:stCondLst>
                                            <p:cond delay="0"/>
                                          </p:stCondLst>
                                        </p:cTn>
                                        <p:tgtEl>
                                          <p:spTgt spid="9"/>
                                        </p:tgtEl>
                                        <p:attrNameLst>
                                          <p:attrName>style.visibility</p:attrName>
                                        </p:attrNameLst>
                                      </p:cBhvr>
                                      <p:to>
                                        <p:strVal val="visible"/>
                                      </p:to>
                                    </p:set>
                                    <p:animEffect transition="in" filter="fade">
                                      <p:cBhvr>
                                        <p:cTn id="137" dur="450"/>
                                        <p:tgtEl>
                                          <p:spTgt spid="9"/>
                                        </p:tgtEl>
                                      </p:cBhvr>
                                    </p:animEffect>
                                  </p:childTnLst>
                                </p:cTn>
                              </p:par>
                            </p:childTnLst>
                          </p:cTn>
                        </p:par>
                      </p:childTnLst>
                    </p:cTn>
                  </p:par>
                  <p:par>
                    <p:cTn id="140" fill="hold">
                      <p:stCondLst>
                        <p:cond delay="indefinite"/>
                      </p:stCondLst>
                      <p:childTnLst>
                        <p:par>
                          <p:cTn id="141" fill="hold">
                            <p:stCondLst>
                              <p:cond delay="0"/>
                            </p:stCondLst>
                            <p:childTnLst>
                              <p:par>
                                <p:cTn id="150" presetID="10" presetClass="entr" presetSubtype="0" fill="hold" nodeType="clickEffect">
                                  <p:stCondLst>
                                    <p:cond delay="0"/>
                                  </p:stCondLst>
                                  <p:childTnLst>
                                    <p:set>
                                      <p:cBhvr>
                                        <p:cTn id="151" dur="1" fill="hold">
                                          <p:stCondLst>
                                            <p:cond delay="0"/>
                                          </p:stCondLst>
                                        </p:cTn>
                                        <p:tgtEl>
                                          <p:spTgt spid="10"/>
                                        </p:tgtEl>
                                        <p:attrNameLst>
                                          <p:attrName>style.visibility</p:attrName>
                                        </p:attrNameLst>
                                      </p:cBhvr>
                                      <p:to>
                                        <p:strVal val="visible"/>
                                      </p:to>
                                    </p:set>
                                    <p:animEffect transition="in" filter="fade">
                                      <p:cBhvr>
                                        <p:cTn id="152" dur="450"/>
                                        <p:tgtEl>
                                          <p:spTgt spid="10"/>
                                        </p:tgtEl>
                                      </p:cBhvr>
                                    </p:animEffect>
                                  </p:childTnLst>
                                </p:cTn>
                              </p:par>
                              <p:par>
                                <p:cTn id="155" presetID="10" presetClass="entr" presetSubtype="0" fill="hold" nodeType="clickEffect">
                                  <p:stCondLst>
                                    <p:cond delay="80"/>
                                  </p:stCondLst>
                                  <p:childTnLst>
                                    <p:set>
                                      <p:cBhvr>
                                        <p:cTn id="156" dur="1" fill="hold">
                                          <p:stCondLst>
                                            <p:cond delay="0"/>
                                          </p:stCondLst>
                                        </p:cTn>
                                        <p:tgtEl>
                                          <p:spTgt spid="11"/>
                                        </p:tgtEl>
                                        <p:attrNameLst>
                                          <p:attrName>style.visibility</p:attrName>
                                        </p:attrNameLst>
                                      </p:cBhvr>
                                      <p:to>
                                        <p:strVal val="visible"/>
                                      </p:to>
                                    </p:set>
                                    <p:animEffect transition="in" filter="fade">
                                      <p:cBhvr>
                                        <p:cTn id="157" dur="450"/>
                                        <p:tgtEl>
                                          <p:spTgt spid="11"/>
                                        </p:tgtEl>
                                      </p:cBhvr>
                                    </p:animEffect>
                                  </p:childTnLst>
                                </p:cTn>
                              </p:par>
                            </p:childTnLst>
                          </p:cTn>
                        </p:par>
                      </p:childTnLst>
                    </p:cTn>
                  </p:par>
                  <p:par>
                    <p:cTn id="160" fill="hold">
                      <p:stCondLst>
                        <p:cond delay="indefinite"/>
                      </p:stCondLst>
                      <p:childTnLst>
                        <p:par>
                          <p:cTn id="161" fill="hold">
                            <p:stCondLst>
                              <p:cond delay="0"/>
                            </p:stCondLst>
                            <p:childTnLst>
                              <p:par>
                                <p:cTn id="170" presetID="10" presetClass="entr" presetSubtype="0" fill="hold" nodeType="clickEffect">
                                  <p:stCondLst>
                                    <p:cond delay="0"/>
                                  </p:stCondLst>
                                  <p:childTnLst>
                                    <p:set>
                                      <p:cBhvr>
                                        <p:cTn id="171" dur="1" fill="hold">
                                          <p:stCondLst>
                                            <p:cond delay="0"/>
                                          </p:stCondLst>
                                        </p:cTn>
                                        <p:tgtEl>
                                          <p:spTgt spid="12"/>
                                        </p:tgtEl>
                                        <p:attrNameLst>
                                          <p:attrName>style.visibility</p:attrName>
                                        </p:attrNameLst>
                                      </p:cBhvr>
                                      <p:to>
                                        <p:strVal val="visible"/>
                                      </p:to>
                                    </p:set>
                                    <p:animEffect transition="in" filter="fade">
                                      <p:cBhvr>
                                        <p:cTn id="17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 name="Fond" descr="bg_end.jpg"/>
          <p:cNvPicPr>
            <a:picLocks noChangeAspect="1"/>
          </p:cNvPicPr>
          <p:nvPr/>
        </p:nvPicPr>
        <p:blipFill>
          <a:blip r:embed="rId2"/>
          <a:stretch>
            <a:fillRect/>
          </a:stretch>
        </p:blipFill>
        <p:spPr>
          <a:xfrm>
            <a:off x="0" y="0"/>
            <a:ext cx="12191695" cy="6858000"/>
          </a:xfrm>
          <a:prstGeom prst="rect">
            <a:avLst/>
          </a:prstGeom>
        </p:spPr>
      </p:pic>
      <p:sp>
        <p:nvSpPr>
          <p:cNvPr id="2" name="Section"/>
          <p:cNvSpPr txBox="1"/>
          <p:nvPr/>
        </p:nvSpPr>
        <p:spPr>
          <a:xfrm>
            <a:off x="640080" y="301752"/>
            <a:ext cx="3657600" cy="256032"/>
          </a:xfrm>
          <a:prstGeom prst="rect">
            <a:avLst/>
          </a:prstGeom>
          <a:noFill/>
        </p:spPr>
        <p:txBody>
          <a:bodyPr wrap="none" anchor="t" lIns="0" rIns="0" tIns="0" bIns="0">
            <a:noAutofit/>
          </a:bodyPr>
          <a:lstStyle/>
          <a:p>
            <a:pPr algn="l">
              <a:lnSpc>
                <a:spcPct val="105000"/>
              </a:lnSpc>
              <a:spcBef>
                <a:spcPts val="0"/>
              </a:spcBef>
              <a:spcAft>
                <a:spcPts val="0"/>
              </a:spcAft>
            </a:pPr>
            <a:r>
              <a:rPr sz="900" b="1" i="0" spc="140" lang="fr-FR">
                <a:solidFill>
                  <a:srgbClr val="C4B5FD"/>
                </a:solidFill>
                <a:latin typeface="Arial"/>
              </a:rPr>
              <a:t>MERCI</a:t>
            </a:r>
          </a:p>
        </p:txBody>
      </p:sp>
      <p:sp>
        <p:nvSpPr>
          <p:cNvPr id="3" name="Monogramme"/>
          <p:cNvSpPr txBox="1"/>
          <p:nvPr/>
        </p:nvSpPr>
        <p:spPr>
          <a:xfrm>
            <a:off x="10454335" y="301752"/>
            <a:ext cx="1097280" cy="256032"/>
          </a:xfrm>
          <a:prstGeom prst="rect">
            <a:avLst/>
          </a:prstGeom>
          <a:noFill/>
        </p:spPr>
        <p:txBody>
          <a:bodyPr wrap="none" anchor="t" lIns="0" rIns="0" tIns="0" bIns="0">
            <a:noAutofit/>
          </a:bodyPr>
          <a:lstStyle/>
          <a:p>
            <a:pPr algn="r">
              <a:lnSpc>
                <a:spcPct val="105000"/>
              </a:lnSpc>
              <a:spcBef>
                <a:spcPts val="0"/>
              </a:spcBef>
              <a:spcAft>
                <a:spcPts val="0"/>
              </a:spcAft>
            </a:pPr>
            <a:r>
              <a:rPr sz="850" b="1" i="0" spc="120" lang="fr-FR">
                <a:solidFill>
                  <a:srgbClr val="C4B5FD"/>
                </a:solidFill>
                <a:latin typeface="Arial"/>
              </a:rPr>
              <a:t>SC · 2026</a:t>
            </a:r>
          </a:p>
        </p:txBody>
      </p:sp>
      <p:sp>
        <p:nvSpPr>
          <p:cNvPr id="4" name="TextBox 3"/>
          <p:cNvSpPr txBox="1"/>
          <p:nvPr/>
        </p:nvSpPr>
        <p:spPr>
          <a:xfrm>
            <a:off x="822960" y="1188720"/>
            <a:ext cx="6400800" cy="1005840"/>
          </a:xfrm>
          <a:prstGeom prst="rect">
            <a:avLst/>
          </a:prstGeom>
          <a:noFill/>
        </p:spPr>
        <p:txBody>
          <a:bodyPr wrap="none" anchor="t" lIns="0" rIns="0" tIns="0" bIns="0">
            <a:noAutofit/>
          </a:bodyPr>
          <a:lstStyle/>
          <a:p>
            <a:pPr algn="l">
              <a:lnSpc>
                <a:spcPct val="105000"/>
              </a:lnSpc>
              <a:spcBef>
                <a:spcPts val="0"/>
              </a:spcBef>
              <a:spcAft>
                <a:spcPts val="0"/>
              </a:spcAft>
            </a:pPr>
            <a:r>
              <a:rPr sz="6000" b="1" i="0" lang="fr-FR">
                <a:solidFill>
                  <a:srgbClr val="FFFFFF"/>
                </a:solidFill>
                <a:latin typeface="Arial"/>
              </a:rPr>
              <a:t>Merci</a:t>
            </a:r>
          </a:p>
        </p:txBody>
      </p:sp>
      <p:sp>
        <p:nvSpPr>
          <p:cNvPr id="5" name="TextBox 4"/>
          <p:cNvSpPr txBox="1"/>
          <p:nvPr/>
        </p:nvSpPr>
        <p:spPr>
          <a:xfrm>
            <a:off x="822960" y="2331720"/>
            <a:ext cx="5486400" cy="457200"/>
          </a:xfrm>
          <a:prstGeom prst="rect">
            <a:avLst/>
          </a:prstGeom>
          <a:noFill/>
        </p:spPr>
        <p:txBody>
          <a:bodyPr wrap="none" anchor="t" lIns="0" rIns="0" tIns="0" bIns="0">
            <a:noAutofit/>
          </a:bodyPr>
          <a:lstStyle/>
          <a:p>
            <a:pPr algn="l">
              <a:lnSpc>
                <a:spcPct val="105000"/>
              </a:lnSpc>
              <a:spcBef>
                <a:spcPts val="0"/>
              </a:spcBef>
              <a:spcAft>
                <a:spcPts val="0"/>
              </a:spcAft>
            </a:pPr>
            <a:r>
              <a:rPr sz="2200" b="0" i="0" lang="fr-FR">
                <a:solidFill>
                  <a:srgbClr val="C4B5FD"/>
                </a:solidFill>
                <a:latin typeface="Arial"/>
              </a:rPr>
              <a:t>Questions</a:t>
            </a:r>
          </a:p>
        </p:txBody>
      </p:sp>
      <p:sp>
        <p:nvSpPr>
          <p:cNvPr id="6" name="Rectangle 5"/>
          <p:cNvSpPr/>
          <p:nvPr/>
        </p:nvSpPr>
        <p:spPr>
          <a:xfrm>
            <a:off x="822960" y="3063240"/>
            <a:ext cx="1188720"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QaRing"/>
          <p:cNvSpPr/>
          <p:nvPr/>
        </p:nvSpPr>
        <p:spPr>
          <a:xfrm>
            <a:off x="9098280" y="1325880"/>
            <a:ext cx="2331720" cy="2331720"/>
          </a:xfrm>
          <a:prstGeom prst="ellipse">
            <a:avLst/>
          </a:prstGeom>
          <a:solidFill>
            <a:srgbClr val="2E1065">
              <a:alpha val="45000"/>
            </a:srgbClr>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98280" y="1325880"/>
            <a:ext cx="2331720" cy="2331720"/>
          </a:xfrm>
          <a:prstGeom prst="rect">
            <a:avLst/>
          </a:prstGeom>
          <a:noFill/>
        </p:spPr>
        <p:txBody>
          <a:bodyPr wrap="none" anchor="ctr" lIns="0" rIns="0" tIns="0" bIns="0">
            <a:noAutofit/>
          </a:bodyPr>
          <a:lstStyle/>
          <a:p>
            <a:pPr algn="ctr">
              <a:lnSpc>
                <a:spcPct val="105000"/>
              </a:lnSpc>
              <a:spcBef>
                <a:spcPts val="0"/>
              </a:spcBef>
              <a:spcAft>
                <a:spcPts val="0"/>
              </a:spcAft>
            </a:pPr>
            <a:r>
              <a:rPr sz="9600" b="1" i="0" lang="fr-FR">
                <a:solidFill>
                  <a:srgbClr val="F59E0B"/>
                </a:solidFill>
                <a:latin typeface="Arial"/>
              </a:rPr>
              <a:t>?</a:t>
            </a:r>
          </a:p>
        </p:txBody>
      </p:sp>
      <p:sp>
        <p:nvSpPr>
          <p:cNvPr id="9" name="TextBox 8"/>
          <p:cNvSpPr txBox="1"/>
          <p:nvPr/>
        </p:nvSpPr>
        <p:spPr>
          <a:xfrm>
            <a:off x="822960" y="4069080"/>
            <a:ext cx="6400800" cy="256032"/>
          </a:xfrm>
          <a:prstGeom prst="rect">
            <a:avLst/>
          </a:prstGeom>
          <a:noFill/>
        </p:spPr>
        <p:txBody>
          <a:bodyPr wrap="none" anchor="t" lIns="0" rIns="0" tIns="0" bIns="0">
            <a:noAutofit/>
          </a:bodyPr>
          <a:lstStyle/>
          <a:p>
            <a:pPr algn="l">
              <a:lnSpc>
                <a:spcPct val="105000"/>
              </a:lnSpc>
              <a:spcBef>
                <a:spcPts val="0"/>
              </a:spcBef>
              <a:spcAft>
                <a:spcPts val="0"/>
              </a:spcAft>
            </a:pPr>
            <a:r>
              <a:rPr sz="900" b="1" i="0" spc="140" lang="fr-FR">
                <a:solidFill>
                  <a:srgbClr val="C4B5FD"/>
                </a:solidFill>
                <a:latin typeface="Arial"/>
              </a:rPr>
              <a:t>SOURCES PRINCIPALES</a:t>
            </a:r>
          </a:p>
        </p:txBody>
      </p:sp>
      <p:sp>
        <p:nvSpPr>
          <p:cNvPr id="10" name="TextBox 9"/>
          <p:cNvSpPr txBox="1"/>
          <p:nvPr/>
        </p:nvSpPr>
        <p:spPr>
          <a:xfrm>
            <a:off x="822960" y="4389120"/>
            <a:ext cx="7680960" cy="1097280"/>
          </a:xfrm>
          <a:prstGeom prst="rect">
            <a:avLst/>
          </a:prstGeom>
          <a:noFill/>
        </p:spPr>
        <p:txBody>
          <a:bodyPr wrap="none" anchor="t" lIns="0" rIns="0" tIns="0" bIns="0">
            <a:noAutofit/>
          </a:bodyPr>
          <a:lstStyle/>
          <a:p>
            <a:pPr algn="l">
              <a:lnSpc>
                <a:spcPct val="135000"/>
              </a:lnSpc>
              <a:spcBef>
                <a:spcPts val="0"/>
              </a:spcBef>
              <a:spcAft>
                <a:spcPts val="0"/>
              </a:spcAft>
            </a:pPr>
            <a:r>
              <a:rPr sz="1050" b="0" i="0" lang="fr-FR">
                <a:solidFill>
                  <a:srgbClr val="EDE9FE"/>
                </a:solidFill>
                <a:latin typeface="Arial"/>
              </a:rPr>
              <a:t>NIST SP 800-145 · SP 800-63B · SP 800-162 · SP 800-95</a:t>
            </a:r>
          </a:p>
          <a:p>
            <a:pPr algn="l">
              <a:lnSpc>
                <a:spcPct val="135000"/>
              </a:lnSpc>
              <a:spcBef>
                <a:spcPts val="0"/>
              </a:spcBef>
              <a:spcAft>
                <a:spcPts val="0"/>
              </a:spcAft>
            </a:pPr>
            <a:r>
              <a:rPr sz="1050" b="0" i="0" lang="fr-FR">
                <a:solidFill>
                  <a:srgbClr val="EDE9FE"/>
                </a:solidFill>
                <a:latin typeface="Arial"/>
              </a:rPr>
              <a:t>ISO/IEC 27017 · ISO/IEC 27001 · CSA Top Threats</a:t>
            </a:r>
          </a:p>
          <a:p>
            <a:pPr algn="l">
              <a:lnSpc>
                <a:spcPct val="135000"/>
              </a:lnSpc>
              <a:spcBef>
                <a:spcPts val="0"/>
              </a:spcBef>
              <a:spcAft>
                <a:spcPts val="0"/>
              </a:spcAft>
            </a:pPr>
            <a:r>
              <a:rPr sz="1050" b="0" i="0" lang="fr-FR">
                <a:solidFill>
                  <a:srgbClr val="EDE9FE"/>
                </a:solidFill>
                <a:latin typeface="Arial"/>
              </a:rPr>
              <a:t>OWASP API Security Top 10 (2023)</a:t>
            </a:r>
          </a:p>
        </p:txBody>
      </p:sp>
      <p:sp>
        <p:nvSpPr>
          <p:cNvPr id="11" name="TextBox 10"/>
          <p:cNvSpPr txBox="1"/>
          <p:nvPr/>
        </p:nvSpPr>
        <p:spPr>
          <a:xfrm>
            <a:off x="822960" y="5623560"/>
            <a:ext cx="7315200" cy="274320"/>
          </a:xfrm>
          <a:prstGeom prst="rect">
            <a:avLst/>
          </a:prstGeom>
          <a:noFill/>
        </p:spPr>
        <p:txBody>
          <a:bodyPr wrap="none" anchor="t" lIns="0" rIns="0" tIns="0" bIns="0">
            <a:noAutofit/>
          </a:bodyPr>
          <a:lstStyle/>
          <a:p>
            <a:pPr algn="l">
              <a:lnSpc>
                <a:spcPct val="105000"/>
              </a:lnSpc>
              <a:spcBef>
                <a:spcPts val="0"/>
              </a:spcBef>
              <a:spcAft>
                <a:spcPts val="0"/>
              </a:spcAft>
            </a:pPr>
            <a:r>
              <a:rPr sz="1100" b="0" i="0" lang="fr-FR">
                <a:solidFill>
                  <a:srgbClr val="C4B5FD"/>
                </a:solidFill>
                <a:latin typeface="Arial"/>
              </a:rPr>
              <a:t>Présenté par : ……………………………………</a:t>
            </a:r>
          </a:p>
        </p:txBody>
      </p:sp>
      <p:sp>
        <p:nvSpPr>
          <p:cNvPr id="12" name="TextBox 11"/>
          <p:cNvSpPr txBox="1"/>
          <p:nvPr/>
        </p:nvSpPr>
        <p:spPr>
          <a:xfrm>
            <a:off x="822960" y="5943600"/>
            <a:ext cx="7315200" cy="274320"/>
          </a:xfrm>
          <a:prstGeom prst="rect">
            <a:avLst/>
          </a:prstGeom>
          <a:noFill/>
        </p:spPr>
        <p:txBody>
          <a:bodyPr wrap="none" anchor="t" lIns="0" rIns="0" tIns="0" bIns="0">
            <a:noAutofit/>
          </a:bodyPr>
          <a:lstStyle/>
          <a:p>
            <a:pPr algn="l">
              <a:lnSpc>
                <a:spcPct val="105000"/>
              </a:lnSpc>
              <a:spcBef>
                <a:spcPts val="0"/>
              </a:spcBef>
              <a:spcAft>
                <a:spcPts val="0"/>
              </a:spcAft>
            </a:pPr>
            <a:r>
              <a:rPr sz="1100" b="0" i="0" lang="fr-FR">
                <a:solidFill>
                  <a:srgbClr val="C4B5FD"/>
                </a:solidFill>
                <a:latin typeface="Arial"/>
              </a:rPr>
              <a:t>2026 – 2027</a:t>
            </a:r>
          </a:p>
        </p:txBody>
      </p:sp>
      <p:sp>
        <p:nvSpPr>
          <p:cNvPr id="13" name="Numero"/>
          <p:cNvSpPr txBox="1"/>
          <p:nvPr/>
        </p:nvSpPr>
        <p:spPr>
          <a:xfrm>
            <a:off x="10728655" y="6419088"/>
            <a:ext cx="822960" cy="201168"/>
          </a:xfrm>
          <a:prstGeom prst="rect">
            <a:avLst/>
          </a:prstGeom>
          <a:noFill/>
        </p:spPr>
        <p:txBody>
          <a:bodyPr wrap="none" anchor="t" lIns="0" rIns="0" tIns="0" bIns="0">
            <a:noAutofit/>
          </a:bodyPr>
          <a:lstStyle/>
          <a:p>
            <a:pPr algn="r">
              <a:lnSpc>
                <a:spcPct val="105000"/>
              </a:lnSpc>
              <a:spcBef>
                <a:spcPts val="0"/>
              </a:spcBef>
              <a:spcAft>
                <a:spcPts val="0"/>
              </a:spcAft>
            </a:pPr>
            <a:r>
              <a:rPr sz="850" b="1" i="0" lang="fr-FR">
                <a:solidFill>
                  <a:srgbClr val="C4B5FD"/>
                </a:solidFill>
                <a:latin typeface="Arial"/>
              </a:rPr>
              <a:t>16 / 16</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00" fill="hold">
                      <p:stCondLst>
                        <p:cond delay="indefinite"/>
                      </p:stCondLst>
                      <p:childTnLst>
                        <p:par>
                          <p:cTn id="101" fill="hold">
                            <p:stCondLst>
                              <p:cond delay="0"/>
                            </p:stCondLst>
                            <p:childTnLst>
                              <p:par>
                                <p:cTn id="110" presetID="10" presetClass="entr" presetSubtype="0" fill="hold" nodeType="clickEffect">
                                  <p:stCondLst>
                                    <p:cond delay="0"/>
                                  </p:stCondLst>
                                  <p:childTnLst>
                                    <p:set>
                                      <p:cBhvr>
                                        <p:cTn id="111" dur="1" fill="hold">
                                          <p:stCondLst>
                                            <p:cond delay="0"/>
                                          </p:stCondLst>
                                        </p:cTn>
                                        <p:tgtEl>
                                          <p:spTgt spid="4"/>
                                        </p:tgtEl>
                                        <p:attrNameLst>
                                          <p:attrName>style.visibility</p:attrName>
                                        </p:attrNameLst>
                                      </p:cBhvr>
                                      <p:to>
                                        <p:strVal val="visible"/>
                                      </p:to>
                                    </p:set>
                                    <p:animEffect transition="in" filter="fade">
                                      <p:cBhvr>
                                        <p:cTn id="112" dur="500"/>
                                        <p:tgtEl>
                                          <p:spTgt spid="4"/>
                                        </p:tgtEl>
                                      </p:cBhvr>
                                    </p:animEffect>
                                  </p:childTnLst>
                                </p:cTn>
                              </p:par>
                              <p:par>
                                <p:cTn id="115" presetID="10" presetClass="entr" presetSubtype="0" fill="hold" nodeType="clickEffect">
                                  <p:stCondLst>
                                    <p:cond delay="120"/>
                                  </p:stCondLst>
                                  <p:childTnLst>
                                    <p:set>
                                      <p:cBhvr>
                                        <p:cTn id="116" dur="1" fill="hold">
                                          <p:stCondLst>
                                            <p:cond delay="0"/>
                                          </p:stCondLst>
                                        </p:cTn>
                                        <p:tgtEl>
                                          <p:spTgt spid="5"/>
                                        </p:tgtEl>
                                        <p:attrNameLst>
                                          <p:attrName>style.visibility</p:attrName>
                                        </p:attrNameLst>
                                      </p:cBhvr>
                                      <p:to>
                                        <p:strVal val="visible"/>
                                      </p:to>
                                    </p:set>
                                    <p:animEffect transition="in" filter="fade">
                                      <p:cBhvr>
                                        <p:cTn id="117" dur="500"/>
                                        <p:tgtEl>
                                          <p:spTgt spid="5"/>
                                        </p:tgtEl>
                                      </p:cBhvr>
                                    </p:animEffect>
                                  </p:childTnLst>
                                </p:cTn>
                              </p:par>
                            </p:childTnLst>
                          </p:cTn>
                        </p:par>
                      </p:childTnLst>
                    </p:cTn>
                  </p:par>
                  <p:par>
                    <p:cTn id="120" fill="hold">
                      <p:stCondLst>
                        <p:cond delay="indefinite"/>
                      </p:stCondLst>
                      <p:childTnLst>
                        <p:par>
                          <p:cTn id="121" fill="hold">
                            <p:stCondLst>
                              <p:cond delay="0"/>
                            </p:stCondLst>
                            <p:childTnLst>
                              <p:par>
                                <p:cTn id="130" presetID="23" presetClass="entr" presetSubtype="0" fill="hold" nodeType="clickEffect">
                                  <p:stCondLst>
                                    <p:cond delay="0"/>
                                  </p:stCondLst>
                                  <p:childTnLst>
                                    <p:set>
                                      <p:cBhvr>
                                        <p:cTn id="131" dur="1" fill="hold">
                                          <p:stCondLst>
                                            <p:cond delay="0"/>
                                          </p:stCondLst>
                                        </p:cTn>
                                        <p:tgtEl>
                                          <p:spTgt spid="7"/>
                                        </p:tgtEl>
                                        <p:attrNameLst>
                                          <p:attrName>style.visibility</p:attrName>
                                        </p:attrNameLst>
                                      </p:cBhvr>
                                      <p:to>
                                        <p:strVal val="visible"/>
                                      </p:to>
                                    </p:set>
                                    <p:animEffect transition="in" filter="zoom">
                                      <p:cBhvr>
                                        <p:cTn id="132" dur="6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 sécurité du cloud computing — de la maîtrise des accès à la sécurisation des API</dc:title>
  <dc:subject>Exposé de 20 minutes — sécurité du cloud et des API</dc:subject>
  <dc:creator/>
  <cp:keywords>cloud computing, virtualisation, sécurité, API, OWASP, NIST, ISO 27017</cp:keywords>
  <dc:description>Diaporama de soutenance — thème violet</dc:description>
  <cp:lastModifiedBy>Steve Canny</cp:lastModifiedBy>
  <cp:revision>1</cp:revision>
  <dcterms:created xsi:type="dcterms:W3CDTF">2013-01-27T09:14:16Z</dcterms:created>
  <dcterms:modified xsi:type="dcterms:W3CDTF">2013-01-27T09:15:58Z</dcterms:modified>
  <cp:category/>
  <dc:language>fr-FR</dc:language>
</cp:coreProperties>
</file>